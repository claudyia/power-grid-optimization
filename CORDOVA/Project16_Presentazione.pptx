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76" r:id="rId4"/>
    <p:sldId id="283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81" r:id="rId18"/>
    <p:sldId id="282" r:id="rId19"/>
    <p:sldId id="272" r:id="rId20"/>
    <p:sldId id="273" r:id="rId21"/>
    <p:sldId id="285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65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20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oglio_di_lavoro_di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Gurobi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0303D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· Baseline</c:v>
                </c:pt>
                <c:pt idx="1">
                  <c:v>B · Vuoto</c:v>
                </c:pt>
                <c:pt idx="2">
                  <c:v>C · Pieno</c:v>
                </c:pt>
                <c:pt idx="3">
                  <c:v>D · Penalità bassa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9.6761400000000002</c:v>
                </c:pt>
                <c:pt idx="1">
                  <c:v>9.6799900000000001</c:v>
                </c:pt>
                <c:pt idx="2">
                  <c:v>9.6724700000000006</c:v>
                </c:pt>
                <c:pt idx="3">
                  <c:v>9.67258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96-D94F-A989-64AD61FF7F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HiGHS</c:v>
                </c:pt>
              </c:strCache>
            </c:strRef>
          </c:tx>
          <c:spPr>
            <a:solidFill>
              <a:srgbClr val="FFB10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0303D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· Baseline</c:v>
                </c:pt>
                <c:pt idx="1">
                  <c:v>B · Vuoto</c:v>
                </c:pt>
                <c:pt idx="2">
                  <c:v>C · Pieno</c:v>
                </c:pt>
                <c:pt idx="3">
                  <c:v>D · Penalità bassa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9.6762999999999995</c:v>
                </c:pt>
                <c:pt idx="1">
                  <c:v>9.6800599999999992</c:v>
                </c:pt>
                <c:pt idx="2">
                  <c:v>9.6725300000000001</c:v>
                </c:pt>
                <c:pt idx="3">
                  <c:v>9.6725100000000008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96-D94F-A989-64AD61FF7F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30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.69"/>
          <c:min val="9.66"/>
        </c:scaling>
        <c:delete val="0"/>
        <c:axPos val="l"/>
        <c:majorGridlines>
          <c:spPr>
            <a:ln w="12700" cap="flat">
              <a:solidFill>
                <a:srgbClr val="E5EB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A85"/>
                    </a:solidFill>
                    <a:latin typeface="Arial"/>
                  </a:defRPr>
                </a:pPr>
                <a:r>
                  <a:rPr lang="it-IT" sz="1100" b="0" i="0" u="none" strike="noStrike" noProof="0" dirty="0">
                    <a:solidFill>
                      <a:srgbClr val="6B7A85"/>
                    </a:solidFill>
                    <a:latin typeface="Arial"/>
                  </a:rPr>
                  <a:t>EUR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030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925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9A865-DDAE-98C3-96B5-825CD684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8D066-0C0D-3875-47AB-BF1AF0225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87FED-566D-6CC5-C88D-7E74FE39B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28D7E-BB76-8109-A373-2C103641BD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74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FDCFC-010A-0A65-457D-FB803A6BB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D38E1-22BE-7D0D-F3D8-A17EBD3D6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E5C5D-C9D3-CE6F-A691-A2FF648D2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28E76-997E-EB66-E810-E0FC213BF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0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16731-0F31-8E17-7250-80C27AF7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E20F5-DE36-00EC-1CA2-F80DB5CCD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034BB-7536-D56B-54D5-A11BD0D0E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3BE16-192A-867B-5163-E382D1B50C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32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8E446-711F-7057-9421-564AFDAD8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129E3-F142-D9EB-6D4E-80C9552EF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266A29-A9B0-AE6D-AB03-06620B022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7621-CCBA-F5F0-1CCB-785F75A8B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528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07DB7-5F52-6A48-A956-448A729E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312F8-A68E-F47F-D2E0-914A84FBB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0A9EB-D7D9-BD7E-7581-193FA88F0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5FA77-4186-3162-2E36-2B5AE60F92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187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082B4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3" name="Shape 1"/>
          <p:cNvSpPr/>
          <p:nvPr/>
        </p:nvSpPr>
        <p:spPr>
          <a:xfrm>
            <a:off x="10271455" y="402336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095928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it-IT" sz="4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Controllo MPC di un sistema</a:t>
            </a:r>
            <a:endParaRPr lang="it-IT" sz="4200" noProof="0" dirty="0"/>
          </a:p>
          <a:p>
            <a:pPr marL="0" indent="0">
              <a:lnSpc>
                <a:spcPct val="105000"/>
              </a:lnSpc>
              <a:buNone/>
            </a:pPr>
            <a:r>
              <a:rPr lang="it-IT" sz="4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energetico industriale</a:t>
            </a:r>
            <a:endParaRPr lang="it-IT" sz="42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383328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it-IT" sz="1600" noProof="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Rinnovabili, batteria e idrogeno gestiti ora per ora con un modello</a:t>
            </a:r>
            <a:endParaRPr lang="it-IT" sz="16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it-IT" sz="1600" noProof="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ottimizzazione (MILP) risolto con </a:t>
            </a:r>
            <a:r>
              <a:rPr lang="it-IT" sz="1600" noProof="0" dirty="0" err="1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Pyomo</a:t>
            </a:r>
            <a:endParaRPr lang="it-IT" sz="1600" noProof="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0783428A-3434-CE03-9015-45915F6A153B}"/>
              </a:ext>
            </a:extLst>
          </p:cNvPr>
          <p:cNvSpPr/>
          <p:nvPr/>
        </p:nvSpPr>
        <p:spPr>
          <a:xfrm>
            <a:off x="548640" y="520488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it-IT" sz="1600" noProof="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--Claudia Lara Cordova </a:t>
            </a:r>
            <a:endParaRPr lang="it-IT" sz="16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8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Gestire un impianto energetico</a:t>
            </a:r>
            <a:endParaRPr lang="it-IT" sz="2800" noProof="0" dirty="0"/>
          </a:p>
          <a:p>
            <a:pPr marL="0" indent="0">
              <a:buNone/>
            </a:pPr>
            <a:r>
              <a:rPr lang="it-IT" sz="28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senza sprecare né soldi né energia</a:t>
            </a:r>
            <a:endParaRPr lang="it-IT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it-IT" sz="160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impianto industriale produce energia da fonte rinnovabile, ha una batteria e un sistema a idrogeno, ed è collegato alla rete elettrica.</a:t>
            </a:r>
            <a:endParaRPr lang="it-IT" sz="1600" noProof="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it-IT" sz="160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ora bisogna decidere: quanta energia comprare o vendere, quanto caricare la batteria, quanto produrre o consumare idrogeno.</a:t>
            </a:r>
            <a:endParaRPr lang="it-IT" sz="1600" noProof="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it-IT" sz="160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L'obiettivo è minimizzare il costo, senza mai lasciare l'edificio senza energia e sprecando il meno possibile la produzione rinnovabile.</a:t>
            </a:r>
            <a:endParaRPr lang="it-IT" sz="1600" noProof="0" dirty="0"/>
          </a:p>
        </p:txBody>
      </p:sp>
      <p:sp>
        <p:nvSpPr>
          <p:cNvPr id="5" name="Shape 3"/>
          <p:cNvSpPr/>
          <p:nvPr/>
        </p:nvSpPr>
        <p:spPr>
          <a:xfrm>
            <a:off x="7315200" y="233172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4"/>
          <p:cNvSpPr/>
          <p:nvPr/>
        </p:nvSpPr>
        <p:spPr>
          <a:xfrm>
            <a:off x="763524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50" b="1" kern="0" spc="100" noProof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OBIETTIVI DA RISPETTARE</a:t>
            </a:r>
            <a:endParaRPr lang="it-IT" sz="1250" noProof="0" dirty="0"/>
          </a:p>
          <a:p>
            <a:pPr marL="0" indent="0">
              <a:buNone/>
            </a:pPr>
            <a:r>
              <a:rPr lang="it-IT" sz="1250" b="1" kern="0" spc="100" noProof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ORA</a:t>
            </a:r>
            <a:endParaRPr lang="it-IT" sz="1250" noProof="0" dirty="0"/>
          </a:p>
        </p:txBody>
      </p:sp>
      <p:sp>
        <p:nvSpPr>
          <p:cNvPr id="7" name="Shape 5"/>
          <p:cNvSpPr/>
          <p:nvPr/>
        </p:nvSpPr>
        <p:spPr>
          <a:xfrm>
            <a:off x="7808976" y="3264408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8" name="Text 6"/>
          <p:cNvSpPr/>
          <p:nvPr/>
        </p:nvSpPr>
        <p:spPr>
          <a:xfrm>
            <a:off x="7808976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4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it-IT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8366760" y="32735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Minimizzare il costo netto di mercato</a:t>
            </a:r>
            <a:endParaRPr lang="it-IT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7808976" y="3886200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Text 9"/>
          <p:cNvSpPr/>
          <p:nvPr/>
        </p:nvSpPr>
        <p:spPr>
          <a:xfrm>
            <a:off x="7808976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4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it-IT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8366760" y="38953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Soddisfare sempre il carico dell'edificio</a:t>
            </a:r>
            <a:endParaRPr lang="it-IT" sz="1300" noProof="0" dirty="0"/>
          </a:p>
        </p:txBody>
      </p:sp>
      <p:sp>
        <p:nvSpPr>
          <p:cNvPr id="13" name="Shape 11"/>
          <p:cNvSpPr/>
          <p:nvPr/>
        </p:nvSpPr>
        <p:spPr>
          <a:xfrm>
            <a:off x="7808976" y="4507992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Text 12"/>
          <p:cNvSpPr/>
          <p:nvPr/>
        </p:nvSpPr>
        <p:spPr>
          <a:xfrm>
            <a:off x="7808976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4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it-IT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8366760" y="451713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Batteria sempre tra il 10% e il 90%</a:t>
            </a:r>
            <a:endParaRPr lang="it-IT" sz="1300" noProof="0" dirty="0"/>
          </a:p>
        </p:txBody>
      </p:sp>
      <p:sp>
        <p:nvSpPr>
          <p:cNvPr id="16" name="Shape 14"/>
          <p:cNvSpPr/>
          <p:nvPr/>
        </p:nvSpPr>
        <p:spPr>
          <a:xfrm>
            <a:off x="7808976" y="5129784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7" name="Text 15"/>
          <p:cNvSpPr/>
          <p:nvPr/>
        </p:nvSpPr>
        <p:spPr>
          <a:xfrm>
            <a:off x="7808976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4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it-IT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8366760" y="51389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Minimizzare lo spreco di rinnovabile</a:t>
            </a:r>
            <a:endParaRPr lang="it-IT" sz="13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49607-9D17-631A-235C-7562297B8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FA0E81-DEB6-DB3E-4ACF-7EEBA10A5089}"/>
              </a:ext>
            </a:extLst>
          </p:cNvPr>
          <p:cNvSpPr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it-IT" sz="4000" b="1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Come è fatto l'impianto</a:t>
            </a:r>
            <a:endParaRPr lang="it-IT" sz="40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37D950C-32CA-4ED0-A163-236405435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406" y="1297690"/>
            <a:ext cx="10149184" cy="583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81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734AB-8770-CFC3-257B-108A58CC1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A518DB6-49A8-EDF4-A734-03B74EC36C00}"/>
              </a:ext>
            </a:extLst>
          </p:cNvPr>
          <p:cNvSpPr/>
          <p:nvPr/>
        </p:nvSpPr>
        <p:spPr>
          <a:xfrm>
            <a:off x="548640" y="713232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8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Gestire un impianto energetico</a:t>
            </a:r>
            <a:endParaRPr lang="it-IT" sz="2800" noProof="0" dirty="0"/>
          </a:p>
          <a:p>
            <a:pPr marL="0" indent="0">
              <a:buNone/>
            </a:pPr>
            <a:r>
              <a:rPr lang="it-IT" sz="28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senza sprecare né soldi né energia</a:t>
            </a:r>
            <a:endParaRPr lang="it-IT" sz="28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201A6CA-A867-22BD-6553-AE539BB22489}"/>
              </a:ext>
            </a:extLst>
          </p:cNvPr>
          <p:cNvSpPr/>
          <p:nvPr/>
        </p:nvSpPr>
        <p:spPr>
          <a:xfrm>
            <a:off x="7315200" y="233172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229A09-773B-A3CD-5A5F-F9C6CBB4F5CB}"/>
              </a:ext>
            </a:extLst>
          </p:cNvPr>
          <p:cNvSpPr/>
          <p:nvPr/>
        </p:nvSpPr>
        <p:spPr>
          <a:xfrm>
            <a:off x="763524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50" b="1" kern="0" spc="100" noProof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OBIETTIVI DA RISPETTARE</a:t>
            </a:r>
            <a:endParaRPr lang="it-IT" sz="1250" noProof="0" dirty="0"/>
          </a:p>
          <a:p>
            <a:pPr marL="0" indent="0">
              <a:buNone/>
            </a:pPr>
            <a:r>
              <a:rPr lang="it-IT" sz="1250" b="1" kern="0" spc="100" noProof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ORA</a:t>
            </a:r>
            <a:endParaRPr lang="it-IT" sz="1250" noProof="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7C2B694-CF9D-2273-0410-801E03664B78}"/>
              </a:ext>
            </a:extLst>
          </p:cNvPr>
          <p:cNvSpPr/>
          <p:nvPr/>
        </p:nvSpPr>
        <p:spPr>
          <a:xfrm>
            <a:off x="7808976" y="3264408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1DECB0-8301-8BB3-E1A4-441BB5E7A0C8}"/>
              </a:ext>
            </a:extLst>
          </p:cNvPr>
          <p:cNvSpPr/>
          <p:nvPr/>
        </p:nvSpPr>
        <p:spPr>
          <a:xfrm>
            <a:off x="7808976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4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it-IT" sz="1400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D9446A1-1702-4C95-CDF6-227E906E07E7}"/>
              </a:ext>
            </a:extLst>
          </p:cNvPr>
          <p:cNvSpPr/>
          <p:nvPr/>
        </p:nvSpPr>
        <p:spPr>
          <a:xfrm>
            <a:off x="8366760" y="32735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Minimizzare il costo netto di mercato</a:t>
            </a:r>
            <a:endParaRPr lang="it-IT" sz="1300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FBC1D7D-F2FE-486C-2D66-BE9BFE6C79DE}"/>
              </a:ext>
            </a:extLst>
          </p:cNvPr>
          <p:cNvSpPr/>
          <p:nvPr/>
        </p:nvSpPr>
        <p:spPr>
          <a:xfrm>
            <a:off x="7808976" y="3886200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CCC2E3B-89F7-5B95-D016-22974AA68349}"/>
              </a:ext>
            </a:extLst>
          </p:cNvPr>
          <p:cNvSpPr/>
          <p:nvPr/>
        </p:nvSpPr>
        <p:spPr>
          <a:xfrm>
            <a:off x="7808976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4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it-IT" sz="14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F83A866-27AF-3DFA-ADD2-8591F3BFFB16}"/>
              </a:ext>
            </a:extLst>
          </p:cNvPr>
          <p:cNvSpPr/>
          <p:nvPr/>
        </p:nvSpPr>
        <p:spPr>
          <a:xfrm>
            <a:off x="8366760" y="38953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Soddisfare sempre il carico dell'edificio</a:t>
            </a:r>
            <a:endParaRPr lang="it-IT" sz="1300" noProof="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5345C4E-C71A-4BAF-B752-03B2854F99F9}"/>
              </a:ext>
            </a:extLst>
          </p:cNvPr>
          <p:cNvSpPr/>
          <p:nvPr/>
        </p:nvSpPr>
        <p:spPr>
          <a:xfrm>
            <a:off x="7808976" y="4507992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E7DA5DE-9E6D-ED91-CD88-9527F00E31D3}"/>
              </a:ext>
            </a:extLst>
          </p:cNvPr>
          <p:cNvSpPr/>
          <p:nvPr/>
        </p:nvSpPr>
        <p:spPr>
          <a:xfrm>
            <a:off x="7808976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4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it-IT" sz="1400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43A96EC-ACCF-D591-8D59-6DFE1DEA0D99}"/>
              </a:ext>
            </a:extLst>
          </p:cNvPr>
          <p:cNvSpPr/>
          <p:nvPr/>
        </p:nvSpPr>
        <p:spPr>
          <a:xfrm>
            <a:off x="8366760" y="451713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Batteria sempre tra il 10% e il 90%</a:t>
            </a:r>
            <a:endParaRPr lang="it-IT" sz="1300" noProof="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6451427-9C96-3A8B-1DA5-2F2731EFD7BC}"/>
              </a:ext>
            </a:extLst>
          </p:cNvPr>
          <p:cNvSpPr/>
          <p:nvPr/>
        </p:nvSpPr>
        <p:spPr>
          <a:xfrm>
            <a:off x="7808976" y="5129784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6EA3443-45E9-FAF6-11B7-BF4CC294DBF7}"/>
              </a:ext>
            </a:extLst>
          </p:cNvPr>
          <p:cNvSpPr/>
          <p:nvPr/>
        </p:nvSpPr>
        <p:spPr>
          <a:xfrm>
            <a:off x="7808976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4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it-IT" sz="1400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C0D15C2-686D-7F48-E726-22C529080FFE}"/>
              </a:ext>
            </a:extLst>
          </p:cNvPr>
          <p:cNvSpPr/>
          <p:nvPr/>
        </p:nvSpPr>
        <p:spPr>
          <a:xfrm>
            <a:off x="8366760" y="51389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Minimizzare lo spreco di rinnovabile</a:t>
            </a:r>
            <a:endParaRPr lang="it-IT" sz="1300" noProof="0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B5BEA04-D74D-F8EF-89B7-898B735D3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50" y="2221883"/>
            <a:ext cx="7124746" cy="40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618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dove vengono i dati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93338" cy="128016"/>
          </a:xfrm>
          <a:prstGeom prst="round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kern="0" spc="100" noProof="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RINNOVABILE</a:t>
            </a:r>
            <a:endParaRPr lang="it-IT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noProof="0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res_1_year_pu.mat</a:t>
            </a:r>
            <a:endParaRPr lang="it-IT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8446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it-IT" sz="12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 fotovoltaica ed eolica, un anno intero ora per ora.</a:t>
            </a:r>
            <a:endParaRPr lang="it-IT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4399178" y="196596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Shape 8"/>
          <p:cNvSpPr/>
          <p:nvPr/>
        </p:nvSpPr>
        <p:spPr>
          <a:xfrm>
            <a:off x="4399178" y="1965960"/>
            <a:ext cx="3393338" cy="128016"/>
          </a:xfrm>
          <a:prstGeom prst="roundRect">
            <a:avLst/>
          </a:prstGeom>
          <a:solidFill>
            <a:srgbClr val="6B7A85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Text 9"/>
          <p:cNvSpPr/>
          <p:nvPr/>
        </p:nvSpPr>
        <p:spPr>
          <a:xfrm>
            <a:off x="4673498" y="23317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kern="0" spc="10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CARICO</a:t>
            </a:r>
            <a:endParaRPr lang="it-IT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4673498" y="269748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noProof="0" dirty="0" err="1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buildings_load.mat</a:t>
            </a:r>
            <a:endParaRPr lang="it-IT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4673498" y="3291840"/>
            <a:ext cx="28446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it-IT" sz="12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 dell'edificio ora per ora, in energia oraria (kWh), convertiti in potenza media (MW).</a:t>
            </a:r>
            <a:endParaRPr lang="it-IT" sz="1250" noProof="0" dirty="0"/>
          </a:p>
        </p:txBody>
      </p:sp>
      <p:sp>
        <p:nvSpPr>
          <p:cNvPr id="14" name="Shape 12"/>
          <p:cNvSpPr/>
          <p:nvPr/>
        </p:nvSpPr>
        <p:spPr>
          <a:xfrm>
            <a:off x="8249717" y="196596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Shape 13"/>
          <p:cNvSpPr/>
          <p:nvPr/>
        </p:nvSpPr>
        <p:spPr>
          <a:xfrm>
            <a:off x="8249717" y="1965960"/>
            <a:ext cx="3393338" cy="128016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6" name="Text 14"/>
          <p:cNvSpPr/>
          <p:nvPr/>
        </p:nvSpPr>
        <p:spPr>
          <a:xfrm>
            <a:off x="8524037" y="23317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kern="0" spc="100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DI VENDITA</a:t>
            </a:r>
            <a:endParaRPr lang="it-IT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8524037" y="269748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noProof="0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PUN_2022.mat</a:t>
            </a:r>
            <a:endParaRPr lang="it-IT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8524037" y="3291840"/>
            <a:ext cx="28446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it-IT" sz="12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unico nazionale dell'energia, un valore di mercato reale per ogni ora dell'anno.</a:t>
            </a:r>
            <a:endParaRPr lang="it-IT" sz="125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Decidere guardando avanti, un'ora alla volta</a:t>
            </a:r>
            <a:endParaRPr lang="it-IT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780836" y="1682496"/>
            <a:ext cx="10862219" cy="21624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r>
              <a:rPr lang="it-IT" sz="1600" noProof="0" dirty="0">
                <a:solidFill>
                  <a:srgbClr val="20303D"/>
                </a:solidFill>
                <a:latin typeface="Calibri" pitchFamily="34" charset="0"/>
                <a:cs typeface="Calibri" pitchFamily="34" charset="-120"/>
              </a:rPr>
              <a:t>L'MPC è un algoritmo intelligente che usa un modello matematico per prevedere il comportamento futuro di un sistema lungo un certo arco di tempo.</a:t>
            </a:r>
          </a:p>
          <a:p>
            <a:pPr lvl="0"/>
            <a:r>
              <a:rPr lang="it-IT" sz="1600" noProof="0" dirty="0">
                <a:solidFill>
                  <a:srgbClr val="20303D"/>
                </a:solidFill>
                <a:latin typeface="Calibri" pitchFamily="34" charset="0"/>
                <a:cs typeface="Calibri" pitchFamily="34" charset="-120"/>
              </a:rPr>
              <a:t>A ogni passo, calcola la sequenza di azioni ottimale per raggiungere l'obiettivo, scartando le opzioni che violano i limiti fisici e di sicurezza del sistema (vincoli).</a:t>
            </a:r>
          </a:p>
          <a:p>
            <a:pPr lvl="0"/>
            <a:endParaRPr lang="it-IT" sz="1600" noProof="0" dirty="0">
              <a:solidFill>
                <a:srgbClr val="20303D"/>
              </a:solidFill>
              <a:latin typeface="Calibri" pitchFamily="34" charset="0"/>
              <a:cs typeface="Calibri" pitchFamily="34" charset="-120"/>
            </a:endParaRPr>
          </a:p>
          <a:p>
            <a:pPr lvl="0"/>
            <a:r>
              <a:rPr lang="it-IT" sz="1600" noProof="0" dirty="0">
                <a:solidFill>
                  <a:srgbClr val="20303D"/>
                </a:solidFill>
                <a:latin typeface="Calibri" pitchFamily="34" charset="0"/>
                <a:cs typeface="Calibri" pitchFamily="34" charset="-120"/>
              </a:rPr>
              <a:t>Di questa sequenza applica solo la prima mossa, dopodiché acquisisce i nuovi dati reali e ripete da capo l'intero calcolo per l'istante successivo (orizzonte recedente).</a:t>
            </a:r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endParaRPr lang="it-IT" sz="1600" noProof="0" dirty="0"/>
          </a:p>
        </p:txBody>
      </p:sp>
      <p:sp>
        <p:nvSpPr>
          <p:cNvPr id="5" name="Shape 3"/>
          <p:cNvSpPr/>
          <p:nvPr/>
        </p:nvSpPr>
        <p:spPr>
          <a:xfrm>
            <a:off x="2173072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Shape 4"/>
          <p:cNvSpPr/>
          <p:nvPr/>
        </p:nvSpPr>
        <p:spPr>
          <a:xfrm>
            <a:off x="2611984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7" name="Shape 5"/>
          <p:cNvSpPr/>
          <p:nvPr/>
        </p:nvSpPr>
        <p:spPr>
          <a:xfrm>
            <a:off x="3050896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8" name="Shape 6"/>
          <p:cNvSpPr/>
          <p:nvPr/>
        </p:nvSpPr>
        <p:spPr>
          <a:xfrm>
            <a:off x="3489808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9" name="Shape 7"/>
          <p:cNvSpPr/>
          <p:nvPr/>
        </p:nvSpPr>
        <p:spPr>
          <a:xfrm>
            <a:off x="3928720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Shape 8"/>
          <p:cNvSpPr/>
          <p:nvPr/>
        </p:nvSpPr>
        <p:spPr>
          <a:xfrm>
            <a:off x="4367632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Shape 9"/>
          <p:cNvSpPr/>
          <p:nvPr/>
        </p:nvSpPr>
        <p:spPr>
          <a:xfrm>
            <a:off x="4806544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Shape 10"/>
          <p:cNvSpPr/>
          <p:nvPr/>
        </p:nvSpPr>
        <p:spPr>
          <a:xfrm>
            <a:off x="5245456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3" name="Shape 11"/>
          <p:cNvSpPr/>
          <p:nvPr/>
        </p:nvSpPr>
        <p:spPr>
          <a:xfrm>
            <a:off x="5684368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Shape 12"/>
          <p:cNvSpPr/>
          <p:nvPr/>
        </p:nvSpPr>
        <p:spPr>
          <a:xfrm>
            <a:off x="6123280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Shape 13"/>
          <p:cNvSpPr/>
          <p:nvPr/>
        </p:nvSpPr>
        <p:spPr>
          <a:xfrm>
            <a:off x="6562192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6" name="Shape 14"/>
          <p:cNvSpPr/>
          <p:nvPr/>
        </p:nvSpPr>
        <p:spPr>
          <a:xfrm>
            <a:off x="7001104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7" name="Shape 15"/>
          <p:cNvSpPr/>
          <p:nvPr/>
        </p:nvSpPr>
        <p:spPr>
          <a:xfrm>
            <a:off x="7440016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8" name="Shape 16"/>
          <p:cNvSpPr/>
          <p:nvPr/>
        </p:nvSpPr>
        <p:spPr>
          <a:xfrm>
            <a:off x="7878928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9" name="Shape 17"/>
          <p:cNvSpPr/>
          <p:nvPr/>
        </p:nvSpPr>
        <p:spPr>
          <a:xfrm>
            <a:off x="8317840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0" name="Shape 18"/>
          <p:cNvSpPr/>
          <p:nvPr/>
        </p:nvSpPr>
        <p:spPr>
          <a:xfrm>
            <a:off x="8756752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1" name="Shape 19"/>
          <p:cNvSpPr/>
          <p:nvPr/>
        </p:nvSpPr>
        <p:spPr>
          <a:xfrm>
            <a:off x="9195664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2" name="Shape 20"/>
          <p:cNvSpPr/>
          <p:nvPr/>
        </p:nvSpPr>
        <p:spPr>
          <a:xfrm>
            <a:off x="9634576" y="4736489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3" name="Text 21"/>
          <p:cNvSpPr/>
          <p:nvPr/>
        </p:nvSpPr>
        <p:spPr>
          <a:xfrm>
            <a:off x="1624432" y="5303417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05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 corrente</a:t>
            </a:r>
            <a:endParaRPr lang="it-IT" sz="105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05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(dato vero)</a:t>
            </a:r>
            <a:endParaRPr lang="it-IT" sz="1050" noProof="0" dirty="0"/>
          </a:p>
        </p:txBody>
      </p:sp>
      <p:sp>
        <p:nvSpPr>
          <p:cNvPr id="25" name="Text 23"/>
          <p:cNvSpPr/>
          <p:nvPr/>
        </p:nvSpPr>
        <p:spPr>
          <a:xfrm>
            <a:off x="1075792" y="4224425"/>
            <a:ext cx="7845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5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finestra di 24 ore ricalcolata ad ogni passo →</a:t>
            </a:r>
            <a:endParaRPr lang="it-IT" sz="11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2103120"/>
            <a:ext cx="2499284" cy="3291840"/>
          </a:xfrm>
          <a:prstGeom prst="roundRect">
            <a:avLst>
              <a:gd name="adj" fmla="val 2927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Shape 3"/>
          <p:cNvSpPr/>
          <p:nvPr/>
        </p:nvSpPr>
        <p:spPr>
          <a:xfrm>
            <a:off x="1478242" y="237744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4"/>
          <p:cNvSpPr/>
          <p:nvPr/>
        </p:nvSpPr>
        <p:spPr>
          <a:xfrm>
            <a:off x="1478242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0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it-IT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it-IT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calcola il piano ottimo per 24 ore</a:t>
            </a:r>
            <a:endParaRPr lang="it-IT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it-IT" sz="1150" noProof="0" dirty="0">
                <a:solidFill>
                  <a:srgbClr val="B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le previsioni disponibili in quel momento</a:t>
            </a:r>
            <a:endParaRPr lang="it-IT" sz="1150" noProof="0" dirty="0"/>
          </a:p>
        </p:txBody>
      </p:sp>
      <p:sp>
        <p:nvSpPr>
          <p:cNvPr id="9" name="Text 7"/>
          <p:cNvSpPr/>
          <p:nvPr/>
        </p:nvSpPr>
        <p:spPr>
          <a:xfrm>
            <a:off x="3047924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200" noProof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it-IT" sz="2200" noProof="0" dirty="0"/>
          </a:p>
        </p:txBody>
      </p:sp>
      <p:sp>
        <p:nvSpPr>
          <p:cNvPr id="10" name="Shape 8"/>
          <p:cNvSpPr/>
          <p:nvPr/>
        </p:nvSpPr>
        <p:spPr>
          <a:xfrm>
            <a:off x="3413684" y="2103120"/>
            <a:ext cx="2499284" cy="3291840"/>
          </a:xfrm>
          <a:prstGeom prst="roundRect">
            <a:avLst>
              <a:gd name="adj" fmla="val 2927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Shape 9"/>
          <p:cNvSpPr/>
          <p:nvPr/>
        </p:nvSpPr>
        <p:spPr>
          <a:xfrm>
            <a:off x="4343286" y="237744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Text 10"/>
          <p:cNvSpPr/>
          <p:nvPr/>
        </p:nvSpPr>
        <p:spPr>
          <a:xfrm>
            <a:off x="434328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0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it-IT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3642284" y="32918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it-IT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applica solo la decisione della 1ª ora</a:t>
            </a:r>
            <a:endParaRPr lang="it-IT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3642284" y="4160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it-IT" sz="1150" noProof="0" dirty="0">
                <a:solidFill>
                  <a:srgbClr val="B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quella per cui, per costruzione, si usa il dato vero</a:t>
            </a:r>
            <a:endParaRPr lang="it-IT" sz="1150" noProof="0" dirty="0"/>
          </a:p>
        </p:txBody>
      </p:sp>
      <p:sp>
        <p:nvSpPr>
          <p:cNvPr id="15" name="Text 13"/>
          <p:cNvSpPr/>
          <p:nvPr/>
        </p:nvSpPr>
        <p:spPr>
          <a:xfrm>
            <a:off x="5912968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200" noProof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it-IT" sz="2200" noProof="0" dirty="0"/>
          </a:p>
        </p:txBody>
      </p:sp>
      <p:sp>
        <p:nvSpPr>
          <p:cNvPr id="16" name="Shape 14"/>
          <p:cNvSpPr/>
          <p:nvPr/>
        </p:nvSpPr>
        <p:spPr>
          <a:xfrm>
            <a:off x="6278728" y="2103120"/>
            <a:ext cx="2499284" cy="3291840"/>
          </a:xfrm>
          <a:prstGeom prst="roundRect">
            <a:avLst>
              <a:gd name="adj" fmla="val 2927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7" name="Shape 15"/>
          <p:cNvSpPr/>
          <p:nvPr/>
        </p:nvSpPr>
        <p:spPr>
          <a:xfrm>
            <a:off x="7208330" y="237744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8" name="Text 16"/>
          <p:cNvSpPr/>
          <p:nvPr/>
        </p:nvSpPr>
        <p:spPr>
          <a:xfrm>
            <a:off x="720833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0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it-IT" sz="2000" noProof="0" dirty="0"/>
          </a:p>
        </p:txBody>
      </p:sp>
      <p:sp>
        <p:nvSpPr>
          <p:cNvPr id="19" name="Text 17"/>
          <p:cNvSpPr/>
          <p:nvPr/>
        </p:nvSpPr>
        <p:spPr>
          <a:xfrm>
            <a:off x="6507328" y="32918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it-IT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aggiorna lo stato reale</a:t>
            </a:r>
            <a:endParaRPr lang="it-IT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6507328" y="4160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it-IT" sz="1150" noProof="0" dirty="0">
                <a:solidFill>
                  <a:srgbClr val="B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nuovo livello di batteria e idrogeno diventa il punto di partenza</a:t>
            </a:r>
            <a:endParaRPr lang="it-IT" sz="1150" noProof="0" dirty="0"/>
          </a:p>
        </p:txBody>
      </p:sp>
      <p:sp>
        <p:nvSpPr>
          <p:cNvPr id="21" name="Text 19"/>
          <p:cNvSpPr/>
          <p:nvPr/>
        </p:nvSpPr>
        <p:spPr>
          <a:xfrm>
            <a:off x="8778011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200" noProof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it-IT" sz="2200" noProof="0" dirty="0"/>
          </a:p>
        </p:txBody>
      </p:sp>
      <p:sp>
        <p:nvSpPr>
          <p:cNvPr id="22" name="Shape 20"/>
          <p:cNvSpPr/>
          <p:nvPr/>
        </p:nvSpPr>
        <p:spPr>
          <a:xfrm>
            <a:off x="9143771" y="2103120"/>
            <a:ext cx="2499284" cy="3291840"/>
          </a:xfrm>
          <a:prstGeom prst="roundRect">
            <a:avLst>
              <a:gd name="adj" fmla="val 2927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3" name="Shape 21"/>
          <p:cNvSpPr/>
          <p:nvPr/>
        </p:nvSpPr>
        <p:spPr>
          <a:xfrm>
            <a:off x="10073373" y="237744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4" name="Text 22"/>
          <p:cNvSpPr/>
          <p:nvPr/>
        </p:nvSpPr>
        <p:spPr>
          <a:xfrm>
            <a:off x="10073373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0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it-IT" sz="2000" noProof="0" dirty="0"/>
          </a:p>
        </p:txBody>
      </p:sp>
      <p:sp>
        <p:nvSpPr>
          <p:cNvPr id="25" name="Text 23"/>
          <p:cNvSpPr/>
          <p:nvPr/>
        </p:nvSpPr>
        <p:spPr>
          <a:xfrm>
            <a:off x="9372371" y="32918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it-IT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ricalcola tutto per l'ora successiva</a:t>
            </a:r>
            <a:endParaRPr lang="it-IT" sz="1400" noProof="0" dirty="0"/>
          </a:p>
        </p:txBody>
      </p:sp>
      <p:sp>
        <p:nvSpPr>
          <p:cNvPr id="26" name="Text 24"/>
          <p:cNvSpPr/>
          <p:nvPr/>
        </p:nvSpPr>
        <p:spPr>
          <a:xfrm>
            <a:off x="9372371" y="4160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it-IT" sz="1150" noProof="0" dirty="0">
                <a:solidFill>
                  <a:srgbClr val="B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dati più aggiornati, invece di seguire un piano vecchio</a:t>
            </a:r>
            <a:endParaRPr lang="it-IT" sz="1150" noProof="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problema di ottimizzazione</a:t>
            </a:r>
            <a:endParaRPr lang="it-IT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it-IT" sz="15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ogni ora, per calcolare la finestra di 24 ore, si costruisce un modello matematico con </a:t>
            </a:r>
            <a:r>
              <a:rPr lang="it-IT" sz="1550" noProof="0" dirty="0" err="1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Pyomo</a:t>
            </a:r>
            <a:r>
              <a:rPr lang="it-IT" sz="15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lo si risolve con un solver (</a:t>
            </a:r>
            <a:r>
              <a:rPr lang="it-IT" sz="1550" noProof="0" dirty="0" err="1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</a:t>
            </a:r>
            <a:r>
              <a:rPr lang="it-IT" sz="15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it-IT" sz="1550" noProof="0" dirty="0" err="1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HiGHS</a:t>
            </a:r>
            <a:r>
              <a:rPr lang="it-IT" sz="15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Il modello ha tre parti:</a:t>
            </a:r>
            <a:endParaRPr lang="it-IT" sz="155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50" b="1" kern="0" spc="150" noProof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</a:t>
            </a:r>
            <a:endParaRPr lang="it-IT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7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può decidere il modello</a:t>
            </a:r>
            <a:endParaRPr lang="it-IT" sz="1700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28446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it-IT" sz="1250" noProof="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energia importare, esportare, caricare o scaricare, produrre o consumare come idrogeno, ora per ora.</a:t>
            </a:r>
            <a:endParaRPr lang="it-IT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4399178" y="274320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 8"/>
          <p:cNvSpPr/>
          <p:nvPr/>
        </p:nvSpPr>
        <p:spPr>
          <a:xfrm>
            <a:off x="4673498" y="30175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50" b="1" kern="0" spc="150" noProof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</a:t>
            </a:r>
            <a:endParaRPr lang="it-IT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4673498" y="342900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7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non può violare</a:t>
            </a:r>
            <a:endParaRPr lang="it-IT" sz="1700" noProof="0" dirty="0"/>
          </a:p>
        </p:txBody>
      </p:sp>
      <p:sp>
        <p:nvSpPr>
          <p:cNvPr id="12" name="Text 10"/>
          <p:cNvSpPr/>
          <p:nvPr/>
        </p:nvSpPr>
        <p:spPr>
          <a:xfrm>
            <a:off x="4673498" y="4251960"/>
            <a:ext cx="28446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it-IT" sz="1250" noProof="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bilancio di potenza, i limiti di rete, batteria e idrogeno, gli stati minimi e massimi ammessi.</a:t>
            </a:r>
            <a:endParaRPr lang="it-IT" sz="1250" noProof="0" dirty="0"/>
          </a:p>
        </p:txBody>
      </p:sp>
      <p:sp>
        <p:nvSpPr>
          <p:cNvPr id="13" name="Shape 11"/>
          <p:cNvSpPr/>
          <p:nvPr/>
        </p:nvSpPr>
        <p:spPr>
          <a:xfrm>
            <a:off x="8249717" y="274320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C0433A"/>
          </a:solidFill>
          <a:ln w="12700">
            <a:solidFill>
              <a:srgbClr val="C0433A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Text 12"/>
          <p:cNvSpPr/>
          <p:nvPr/>
        </p:nvSpPr>
        <p:spPr>
          <a:xfrm>
            <a:off x="8524037" y="30175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50" b="1" kern="0" spc="150" noProof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it-IT" sz="1250" noProof="0" dirty="0"/>
          </a:p>
        </p:txBody>
      </p:sp>
      <p:sp>
        <p:nvSpPr>
          <p:cNvPr id="15" name="Text 13"/>
          <p:cNvSpPr/>
          <p:nvPr/>
        </p:nvSpPr>
        <p:spPr>
          <a:xfrm>
            <a:off x="8524037" y="342900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7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deve minimizzare</a:t>
            </a:r>
            <a:endParaRPr lang="it-IT" sz="1700" noProof="0" dirty="0"/>
          </a:p>
        </p:txBody>
      </p:sp>
      <p:sp>
        <p:nvSpPr>
          <p:cNvPr id="16" name="Text 14"/>
          <p:cNvSpPr/>
          <p:nvPr/>
        </p:nvSpPr>
        <p:spPr>
          <a:xfrm>
            <a:off x="8524037" y="4251960"/>
            <a:ext cx="28446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it-IT" sz="1250" noProof="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costo netto di mercato, più una penalità per ogni MW di rinnovabile sprecato.</a:t>
            </a:r>
            <a:endParaRPr lang="it-IT" sz="12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variabili, ora per ora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48639" y="1975253"/>
            <a:ext cx="11094415" cy="1115568"/>
          </a:xfrm>
          <a:prstGeom prst="roundRect">
            <a:avLst>
              <a:gd name="adj" fmla="val 6557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956816"/>
            <a:ext cx="128016" cy="1115568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50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 continue </a:t>
            </a:r>
            <a:endParaRPr lang="it-IT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4389120" y="2103120"/>
            <a:ext cx="6979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Potenze [MW]:  </a:t>
            </a:r>
            <a:r>
              <a:rPr lang="it-IT" sz="1200" dirty="0" err="1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P_import</a:t>
            </a:r>
            <a:r>
              <a:rPr lang="it-IT" sz="1200" dirty="0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it-IT" sz="1200" dirty="0" err="1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P_export</a:t>
            </a:r>
            <a:r>
              <a:rPr lang="it-IT" sz="1200" dirty="0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it-IT" sz="1200" dirty="0" err="1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P_curtailment</a:t>
            </a:r>
            <a:r>
              <a:rPr lang="it-IT" sz="1200" dirty="0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it-IT" sz="1200" dirty="0" err="1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P_charge</a:t>
            </a:r>
            <a:r>
              <a:rPr lang="it-IT" sz="1200" dirty="0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it-IT" sz="1200" dirty="0" err="1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P_discharge</a:t>
            </a:r>
            <a:r>
              <a:rPr lang="it-IT" sz="1200" dirty="0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it-IT" sz="1200" dirty="0" err="1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P_electrolyzer</a:t>
            </a:r>
            <a:r>
              <a:rPr lang="it-IT" sz="1200" dirty="0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it-IT" sz="1200" dirty="0" err="1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P_fuel_cell</a:t>
            </a:r>
            <a:endParaRPr lang="it-IT" sz="1200" dirty="0">
              <a:solidFill>
                <a:srgbClr val="20303D"/>
              </a:solidFill>
              <a:latin typeface="Courier New" pitchFamily="34" charset="0"/>
              <a:cs typeface="Courier New" pitchFamily="34" charset="-120"/>
            </a:endParaRPr>
          </a:p>
          <a:p>
            <a:pPr>
              <a:lnSpc>
                <a:spcPct val="120000"/>
              </a:lnSpc>
            </a:pPr>
            <a:endParaRPr lang="it-IT" sz="1200" dirty="0">
              <a:solidFill>
                <a:srgbClr val="20303D"/>
              </a:solidFill>
              <a:latin typeface="Courier New" pitchFamily="34" charset="0"/>
              <a:cs typeface="Courier New" pitchFamily="34" charset="-120"/>
            </a:endParaRPr>
          </a:p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Stati [0-1]:  SoC (batteria), SoH (idrogeno)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3968645"/>
            <a:ext cx="11094415" cy="1115568"/>
          </a:xfrm>
          <a:prstGeom prst="roundRect">
            <a:avLst>
              <a:gd name="adj" fmla="val 6557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3968645"/>
            <a:ext cx="128016" cy="1115568"/>
          </a:xfrm>
          <a:prstGeom prst="roundRect">
            <a:avLst/>
          </a:prstGeom>
          <a:solidFill>
            <a:srgbClr val="C0433A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Text 12"/>
          <p:cNvSpPr/>
          <p:nvPr/>
        </p:nvSpPr>
        <p:spPr>
          <a:xfrm>
            <a:off x="914400" y="4114949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50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Interruttori binari (0 o 1)</a:t>
            </a:r>
            <a:endParaRPr lang="it-IT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4389120" y="4114949"/>
            <a:ext cx="6979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it-IT" sz="1200" noProof="0" dirty="0" err="1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delta_grid</a:t>
            </a:r>
            <a:r>
              <a:rPr lang="it-IT" sz="1200" noProof="0" dirty="0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it-IT" sz="1200" noProof="0" dirty="0" err="1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delta_battery</a:t>
            </a:r>
            <a:r>
              <a:rPr lang="it-IT" sz="1200" noProof="0" dirty="0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it-IT" sz="1200" noProof="0" dirty="0" err="1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delta_electrolyzer</a:t>
            </a:r>
            <a:r>
              <a:rPr lang="it-IT" sz="1200" noProof="0" dirty="0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it-IT" sz="1200" noProof="0" dirty="0" err="1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delta_fuel_cell</a:t>
            </a:r>
            <a:r>
              <a:rPr lang="it-IT" sz="1200" noProof="0" dirty="0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impediscono scelte contraddittorie nella stessa ora</a:t>
            </a:r>
            <a:endParaRPr lang="it-IT" sz="12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vincolo più importante: il bilancio di potenza</a:t>
            </a:r>
            <a:endParaRPr lang="it-IT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5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ogni ora, tutta l'energia che entra nel sistema deve uguagliare esattamente tutta l'energia che esce.</a:t>
            </a:r>
            <a:endParaRPr lang="it-IT" sz="155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4572000" cy="3017520"/>
          </a:xfrm>
          <a:prstGeom prst="roundRect">
            <a:avLst>
              <a:gd name="adj" fmla="val 2424"/>
            </a:avLst>
          </a:prstGeom>
          <a:solidFill>
            <a:srgbClr val="EAF6EE"/>
          </a:solidFill>
          <a:ln w="12700">
            <a:solidFill>
              <a:srgbClr val="2F8F4E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50" b="1" kern="0" spc="100" noProof="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NEL SISTEMA</a:t>
            </a:r>
            <a:endParaRPr lang="it-IT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Rinnovabile non sprecata</a:t>
            </a:r>
            <a:endParaRPr lang="it-IT" sz="1350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Energia comprata dalla rete</a:t>
            </a:r>
            <a:endParaRPr lang="it-IT" sz="13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Energia dalla </a:t>
            </a:r>
            <a:r>
              <a:rPr lang="it-IT" sz="1350" noProof="0" dirty="0" err="1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r>
              <a:rPr lang="it-IT" sz="13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t-IT" sz="1350" noProof="0" dirty="0" err="1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it-IT" sz="1350" noProof="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Scarica della batteria</a:t>
            </a:r>
            <a:endParaRPr lang="it-IT" sz="1350" noProof="0" dirty="0"/>
          </a:p>
        </p:txBody>
      </p:sp>
      <p:sp>
        <p:nvSpPr>
          <p:cNvPr id="11" name="Shape 9"/>
          <p:cNvSpPr/>
          <p:nvPr/>
        </p:nvSpPr>
        <p:spPr>
          <a:xfrm>
            <a:off x="5752948" y="3771900"/>
            <a:ext cx="685800" cy="685800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Text 10"/>
          <p:cNvSpPr/>
          <p:nvPr/>
        </p:nvSpPr>
        <p:spPr>
          <a:xfrm>
            <a:off x="5752948" y="37719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it-IT" sz="2600" noProof="0" dirty="0"/>
          </a:p>
        </p:txBody>
      </p:sp>
      <p:sp>
        <p:nvSpPr>
          <p:cNvPr id="13" name="Shape 11"/>
          <p:cNvSpPr/>
          <p:nvPr/>
        </p:nvSpPr>
        <p:spPr>
          <a:xfrm>
            <a:off x="7071055" y="2606040"/>
            <a:ext cx="4572000" cy="3017520"/>
          </a:xfrm>
          <a:prstGeom prst="roundRect">
            <a:avLst>
              <a:gd name="adj" fmla="val 2424"/>
            </a:avLst>
          </a:prstGeom>
          <a:solidFill>
            <a:srgbClr val="FDEEEC"/>
          </a:solidFill>
          <a:ln w="12700">
            <a:solidFill>
              <a:srgbClr val="C0433A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Text 12"/>
          <p:cNvSpPr/>
          <p:nvPr/>
        </p:nvSpPr>
        <p:spPr>
          <a:xfrm>
            <a:off x="7345375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50" b="1" kern="0" spc="100" noProof="0" dirty="0">
                <a:solidFill>
                  <a:srgbClr val="C0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 DAL SISTEMA</a:t>
            </a:r>
            <a:endParaRPr lang="it-IT" sz="1250" noProof="0" dirty="0"/>
          </a:p>
        </p:txBody>
      </p:sp>
      <p:sp>
        <p:nvSpPr>
          <p:cNvPr id="15" name="Text 13"/>
          <p:cNvSpPr/>
          <p:nvPr/>
        </p:nvSpPr>
        <p:spPr>
          <a:xfrm>
            <a:off x="7345375" y="3291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Carico dell'edificio</a:t>
            </a:r>
            <a:endParaRPr lang="it-IT" sz="1350" noProof="0" dirty="0"/>
          </a:p>
        </p:txBody>
      </p:sp>
      <p:sp>
        <p:nvSpPr>
          <p:cNvPr id="16" name="Text 14"/>
          <p:cNvSpPr/>
          <p:nvPr/>
        </p:nvSpPr>
        <p:spPr>
          <a:xfrm>
            <a:off x="7345375" y="3840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Energia venduta alla rete</a:t>
            </a:r>
            <a:endParaRPr lang="it-IT" sz="1350" noProof="0" dirty="0"/>
          </a:p>
        </p:txBody>
      </p:sp>
      <p:sp>
        <p:nvSpPr>
          <p:cNvPr id="17" name="Text 15"/>
          <p:cNvSpPr/>
          <p:nvPr/>
        </p:nvSpPr>
        <p:spPr>
          <a:xfrm>
            <a:off x="7345375" y="4389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Energia all'elettrolizzatore</a:t>
            </a:r>
            <a:endParaRPr lang="it-IT" sz="1350" noProof="0" dirty="0"/>
          </a:p>
        </p:txBody>
      </p:sp>
      <p:sp>
        <p:nvSpPr>
          <p:cNvPr id="18" name="Text 16"/>
          <p:cNvSpPr/>
          <p:nvPr/>
        </p:nvSpPr>
        <p:spPr>
          <a:xfrm>
            <a:off x="7345375" y="4937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Carica della batteria</a:t>
            </a:r>
            <a:endParaRPr lang="it-IT" sz="13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Batteria e idrogeno: la stessa logica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18608" cy="4160520"/>
          </a:xfrm>
          <a:prstGeom prst="roundRect">
            <a:avLst>
              <a:gd name="adj" fmla="val 1758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18608" cy="128016"/>
          </a:xfrm>
          <a:prstGeom prst="roundRect">
            <a:avLst/>
          </a:prstGeom>
          <a:solidFill>
            <a:srgbClr val="8A5CBF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500" b="1" kern="0" spc="100" noProof="0" dirty="0">
                <a:solidFill>
                  <a:srgbClr val="8A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BATTERIA</a:t>
            </a:r>
            <a:endParaRPr lang="it-IT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MW</a:t>
            </a:r>
            <a:endParaRPr lang="it-IT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5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potenza</a:t>
            </a:r>
            <a:endParaRPr lang="it-IT" sz="1050" noProof="0" dirty="0"/>
          </a:p>
        </p:txBody>
      </p:sp>
      <p:sp>
        <p:nvSpPr>
          <p:cNvPr id="9" name="Text 7"/>
          <p:cNvSpPr/>
          <p:nvPr/>
        </p:nvSpPr>
        <p:spPr>
          <a:xfrm>
            <a:off x="2412949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MWh</a:t>
            </a:r>
            <a:endParaRPr lang="it-IT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2412949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5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capacità</a:t>
            </a:r>
            <a:endParaRPr lang="it-IT" sz="1050" noProof="0" dirty="0"/>
          </a:p>
        </p:txBody>
      </p:sp>
      <p:sp>
        <p:nvSpPr>
          <p:cNvPr id="11" name="Text 9"/>
          <p:cNvSpPr/>
          <p:nvPr/>
        </p:nvSpPr>
        <p:spPr>
          <a:xfrm>
            <a:off x="4002938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it-IT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4002938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5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</a:t>
            </a:r>
            <a:endParaRPr lang="it-IT" sz="105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47699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it-IT" sz="1300" dirty="0">
                <a:solidFill>
                  <a:srgbClr val="20303D"/>
                </a:solidFill>
                <a:latin typeface="Calibri" pitchFamily="34" charset="0"/>
                <a:cs typeface="Calibri" pitchFamily="34" charset="-120"/>
              </a:rPr>
              <a:t>lo stato di carica di un'ora dipende direttamente dal livello dell’ora</a:t>
            </a:r>
          </a:p>
          <a:p>
            <a:pPr algn="ctr">
              <a:lnSpc>
                <a:spcPct val="100000"/>
              </a:lnSpc>
            </a:pPr>
            <a:r>
              <a:rPr lang="it-IT" sz="1300" dirty="0">
                <a:solidFill>
                  <a:srgbClr val="20303D"/>
                </a:solidFill>
                <a:latin typeface="Calibri" pitchFamily="34" charset="0"/>
                <a:cs typeface="Calibri" pitchFamily="34" charset="-120"/>
              </a:rPr>
              <a:t> precedente, aumentando in caso di carica e diminuendo in fase di scarica.</a:t>
            </a:r>
          </a:p>
          <a:p>
            <a:pPr marL="0" indent="0">
              <a:lnSpc>
                <a:spcPct val="130000"/>
              </a:lnSpc>
              <a:buNone/>
            </a:pPr>
            <a:endParaRPr lang="it-IT" sz="1300" dirty="0">
              <a:solidFill>
                <a:srgbClr val="20303D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it-IT" sz="1300" dirty="0">
              <a:solidFill>
                <a:srgbClr val="20303D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24448" y="1874520"/>
            <a:ext cx="5318608" cy="4160520"/>
          </a:xfrm>
          <a:prstGeom prst="roundRect">
            <a:avLst>
              <a:gd name="adj" fmla="val 1758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Shape 13"/>
          <p:cNvSpPr/>
          <p:nvPr/>
        </p:nvSpPr>
        <p:spPr>
          <a:xfrm>
            <a:off x="6324448" y="1874520"/>
            <a:ext cx="5318608" cy="128016"/>
          </a:xfrm>
          <a:prstGeom prst="roundRect">
            <a:avLst/>
          </a:prstGeom>
          <a:solidFill>
            <a:srgbClr val="C0433A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6" name="Text 14"/>
          <p:cNvSpPr/>
          <p:nvPr/>
        </p:nvSpPr>
        <p:spPr>
          <a:xfrm>
            <a:off x="6598768" y="219456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500" b="1" kern="0" spc="100" noProof="0" dirty="0">
                <a:solidFill>
                  <a:srgbClr val="C0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 IDROGENO</a:t>
            </a:r>
            <a:endParaRPr lang="it-IT" sz="1500" noProof="0" dirty="0"/>
          </a:p>
        </p:txBody>
      </p:sp>
      <p:sp>
        <p:nvSpPr>
          <p:cNvPr id="17" name="Text 15"/>
          <p:cNvSpPr/>
          <p:nvPr/>
        </p:nvSpPr>
        <p:spPr>
          <a:xfrm>
            <a:off x="6598768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MWh</a:t>
            </a:r>
            <a:endParaRPr lang="it-IT" sz="2000" noProof="0" dirty="0"/>
          </a:p>
        </p:txBody>
      </p:sp>
      <p:sp>
        <p:nvSpPr>
          <p:cNvPr id="18" name="Text 16"/>
          <p:cNvSpPr/>
          <p:nvPr/>
        </p:nvSpPr>
        <p:spPr>
          <a:xfrm>
            <a:off x="6598768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5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capacità</a:t>
            </a:r>
            <a:endParaRPr lang="it-IT" sz="1050" noProof="0" dirty="0"/>
          </a:p>
        </p:txBody>
      </p:sp>
      <p:sp>
        <p:nvSpPr>
          <p:cNvPr id="19" name="Text 17"/>
          <p:cNvSpPr/>
          <p:nvPr/>
        </p:nvSpPr>
        <p:spPr>
          <a:xfrm>
            <a:off x="8188757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MW</a:t>
            </a:r>
            <a:endParaRPr lang="it-IT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8188757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50" noProof="0" dirty="0" err="1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elettr</a:t>
            </a:r>
            <a:r>
              <a:rPr lang="it-IT" sz="105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/ </a:t>
            </a:r>
            <a:r>
              <a:rPr lang="it-IT" sz="1050" noProof="0" dirty="0" err="1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r>
              <a:rPr lang="it-IT" sz="105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t-IT" sz="1050" noProof="0" dirty="0" err="1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it-IT" sz="1050" noProof="0" dirty="0"/>
          </a:p>
        </p:txBody>
      </p:sp>
      <p:sp>
        <p:nvSpPr>
          <p:cNvPr id="21" name="Text 19"/>
          <p:cNvSpPr/>
          <p:nvPr/>
        </p:nvSpPr>
        <p:spPr>
          <a:xfrm>
            <a:off x="9778746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 / 65%</a:t>
            </a:r>
            <a:endParaRPr lang="it-IT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9778746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5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</a:t>
            </a:r>
            <a:endParaRPr lang="it-IT" sz="1050" noProof="0" dirty="0"/>
          </a:p>
        </p:txBody>
      </p:sp>
      <p:sp>
        <p:nvSpPr>
          <p:cNvPr id="23" name="Text 21"/>
          <p:cNvSpPr/>
          <p:nvPr/>
        </p:nvSpPr>
        <p:spPr>
          <a:xfrm>
            <a:off x="6598768" y="3703320"/>
            <a:ext cx="47699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it-IT" dirty="0"/>
              <a:t> </a:t>
            </a:r>
            <a:r>
              <a:rPr lang="it-IT" sz="1300" dirty="0">
                <a:solidFill>
                  <a:srgbClr val="20303D"/>
                </a:solidFill>
                <a:latin typeface="Calibri" pitchFamily="34" charset="0"/>
                <a:cs typeface="Calibri" pitchFamily="34" charset="-120"/>
              </a:rPr>
              <a:t>elettrolizzatore e </a:t>
            </a:r>
            <a:r>
              <a:rPr lang="it-IT" sz="1300" dirty="0" err="1">
                <a:solidFill>
                  <a:srgbClr val="20303D"/>
                </a:solidFill>
                <a:latin typeface="Calibri" pitchFamily="34" charset="0"/>
                <a:cs typeface="Calibri" pitchFamily="34" charset="-120"/>
              </a:rPr>
              <a:t>fuel</a:t>
            </a:r>
            <a:r>
              <a:rPr lang="it-IT" sz="1300" dirty="0">
                <a:solidFill>
                  <a:srgbClr val="20303D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it-IT" sz="1300" dirty="0" err="1">
                <a:solidFill>
                  <a:srgbClr val="20303D"/>
                </a:solidFill>
                <a:latin typeface="Calibri" pitchFamily="34" charset="0"/>
                <a:cs typeface="Calibri" pitchFamily="34" charset="-120"/>
              </a:rPr>
              <a:t>cell</a:t>
            </a:r>
            <a:r>
              <a:rPr lang="it-IT" sz="1300" dirty="0">
                <a:solidFill>
                  <a:srgbClr val="20303D"/>
                </a:solidFill>
                <a:latin typeface="Calibri" pitchFamily="34" charset="0"/>
                <a:cs typeface="Calibri" pitchFamily="34" charset="-120"/>
              </a:rPr>
              <a:t> non possono funzionare contemporaneamente nella stessa ora</a:t>
            </a:r>
          </a:p>
          <a:p>
            <a:pPr marL="0" indent="0">
              <a:lnSpc>
                <a:spcPct val="130000"/>
              </a:lnSpc>
              <a:buNone/>
            </a:pPr>
            <a:endParaRPr lang="it-IT" sz="13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funzione obiettivo: cosa vogliamo minimizzare</a:t>
            </a:r>
            <a:endParaRPr lang="it-IT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2100" noProof="0" dirty="0">
                <a:solidFill>
                  <a:srgbClr val="B9C9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totale  =  </a:t>
            </a:r>
            <a:r>
              <a:rPr lang="it-IT" sz="2100" b="1" noProof="0" dirty="0">
                <a:solidFill>
                  <a:srgbClr val="FFB100"/>
                </a:solidFill>
                <a:latin typeface="Cambria" pitchFamily="34" charset="0"/>
              </a:rPr>
              <a:t>costo import  </a:t>
            </a:r>
            <a:r>
              <a:rPr lang="it-IT" sz="2100" noProof="0" dirty="0">
                <a:solidFill>
                  <a:srgbClr val="B9C9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</a:t>
            </a:r>
            <a:r>
              <a:rPr lang="it-IT" sz="2100" b="1" noProof="0" dirty="0">
                <a:solidFill>
                  <a:srgbClr val="6FCF97"/>
                </a:solidFill>
                <a:latin typeface="Cambria" pitchFamily="34" charset="0"/>
              </a:rPr>
              <a:t>ricavo export </a:t>
            </a:r>
            <a:r>
              <a:rPr lang="it-IT" sz="2100" noProof="0" dirty="0">
                <a:solidFill>
                  <a:srgbClr val="B9C9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 </a:t>
            </a:r>
            <a:r>
              <a:rPr lang="it-IT" sz="2100" b="1" noProof="0" dirty="0">
                <a:solidFill>
                  <a:srgbClr val="F08A7C"/>
                </a:solidFill>
                <a:latin typeface="Cambria" pitchFamily="34" charset="0"/>
              </a:rPr>
              <a:t>penalità </a:t>
            </a:r>
            <a:r>
              <a:rPr lang="it-IT" sz="2100" b="1" noProof="0" dirty="0" err="1">
                <a:solidFill>
                  <a:srgbClr val="F08A7C"/>
                </a:solidFill>
                <a:latin typeface="Cambria" pitchFamily="34" charset="0"/>
              </a:rPr>
              <a:t>curtailment</a:t>
            </a:r>
            <a:endParaRPr lang="it-IT" sz="2100" b="1" noProof="0" dirty="0">
              <a:solidFill>
                <a:srgbClr val="F08A7C"/>
              </a:solidFill>
              <a:latin typeface="Cambria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it-IT" sz="1500" noProof="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penalità per lo spreco (</a:t>
            </a:r>
            <a:r>
              <a:rPr lang="it-IT" sz="1500" noProof="0" dirty="0" err="1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curtailment</a:t>
            </a:r>
            <a:r>
              <a:rPr lang="it-IT" sz="1500" noProof="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non è un costo di mercato reale: è un numero scelto per orientare il modello.</a:t>
            </a:r>
            <a:endParaRPr lang="it-IT" sz="1500" noProof="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it-IT" sz="1500" noProof="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 script principale vale 1000 EUR/MWh il modello preferisce quasi sempre caricare la batteria, fare idrogeno o vendere in rete piuttosto che sprecare energia.</a:t>
            </a:r>
            <a:endParaRPr lang="it-IT" sz="1500" noProof="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it-IT" sz="1500" noProof="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una variante di prova (</a:t>
            </a:r>
            <a:r>
              <a:rPr lang="it-IT" sz="1500" noProof="0" dirty="0" err="1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es.py</a:t>
            </a:r>
            <a:r>
              <a:rPr lang="it-IT" sz="1500" noProof="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questo valore è stato abbassato a 0.01 EUR/MWh, quasi zero, per vedere cosa succede se il freno economico allo spreco viene tolto.</a:t>
            </a:r>
            <a:endParaRPr lang="it-IT" sz="1500" noProof="0" dirty="0">
              <a:solidFill>
                <a:srgbClr val="E2EAE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90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it-IT" sz="9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ciclo di simulazione, ora per ora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7228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3"/>
          <p:cNvSpPr/>
          <p:nvPr/>
        </p:nvSpPr>
        <p:spPr>
          <a:xfrm>
            <a:off x="58201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600" b="1" noProof="0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it-IT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60944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it-IT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i dati della finestra</a:t>
            </a:r>
            <a:endParaRPr lang="it-IT" sz="1150" noProof="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it-IT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(previsione + valore vero dell'ora corrente)</a:t>
            </a:r>
            <a:endParaRPr lang="it-IT" sz="1150" noProof="0" dirty="0"/>
          </a:p>
        </p:txBody>
      </p:sp>
      <p:sp>
        <p:nvSpPr>
          <p:cNvPr id="7" name="Text 5"/>
          <p:cNvSpPr/>
          <p:nvPr/>
        </p:nvSpPr>
        <p:spPr>
          <a:xfrm>
            <a:off x="2392528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00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it-IT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280400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9" name="Text 7"/>
          <p:cNvSpPr/>
          <p:nvPr/>
        </p:nvSpPr>
        <p:spPr>
          <a:xfrm>
            <a:off x="291373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600" b="1" noProof="0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it-IT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294116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it-IT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Risolve il modello MILP</a:t>
            </a:r>
            <a:endParaRPr lang="it-IT" sz="1150" noProof="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it-IT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sulle prossime 24 ore</a:t>
            </a:r>
            <a:endParaRPr lang="it-IT" sz="1150" noProof="0" dirty="0"/>
          </a:p>
        </p:txBody>
      </p:sp>
      <p:sp>
        <p:nvSpPr>
          <p:cNvPr id="11" name="Text 9"/>
          <p:cNvSpPr/>
          <p:nvPr/>
        </p:nvSpPr>
        <p:spPr>
          <a:xfrm>
            <a:off x="4724248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00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it-IT" sz="2000" noProof="0" dirty="0"/>
          </a:p>
        </p:txBody>
      </p:sp>
      <p:sp>
        <p:nvSpPr>
          <p:cNvPr id="12" name="Shape 10"/>
          <p:cNvSpPr/>
          <p:nvPr/>
        </p:nvSpPr>
        <p:spPr>
          <a:xfrm>
            <a:off x="513572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3" name="Text 11"/>
          <p:cNvSpPr/>
          <p:nvPr/>
        </p:nvSpPr>
        <p:spPr>
          <a:xfrm>
            <a:off x="524545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600" b="1" noProof="0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it-IT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527288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it-IT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 solo</a:t>
            </a:r>
            <a:endParaRPr lang="it-IT" sz="1150" noProof="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it-IT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1ª decisione</a:t>
            </a:r>
            <a:endParaRPr lang="it-IT" sz="1150" noProof="0" dirty="0"/>
          </a:p>
        </p:txBody>
      </p:sp>
      <p:sp>
        <p:nvSpPr>
          <p:cNvPr id="15" name="Text 13"/>
          <p:cNvSpPr/>
          <p:nvPr/>
        </p:nvSpPr>
        <p:spPr>
          <a:xfrm>
            <a:off x="7055968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00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it-IT" sz="2000" noProof="0" dirty="0"/>
          </a:p>
        </p:txBody>
      </p:sp>
      <p:sp>
        <p:nvSpPr>
          <p:cNvPr id="16" name="Shape 14"/>
          <p:cNvSpPr/>
          <p:nvPr/>
        </p:nvSpPr>
        <p:spPr>
          <a:xfrm>
            <a:off x="746744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7" name="Text 15"/>
          <p:cNvSpPr/>
          <p:nvPr/>
        </p:nvSpPr>
        <p:spPr>
          <a:xfrm>
            <a:off x="757717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600" b="1" noProof="0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it-IT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760460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it-IT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 lo stato reale</a:t>
            </a:r>
            <a:endParaRPr lang="it-IT" sz="1150" noProof="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it-IT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(batteria e idrogeno)</a:t>
            </a:r>
            <a:endParaRPr lang="it-IT" sz="1150" noProof="0" dirty="0"/>
          </a:p>
        </p:txBody>
      </p:sp>
      <p:sp>
        <p:nvSpPr>
          <p:cNvPr id="19" name="Text 17"/>
          <p:cNvSpPr/>
          <p:nvPr/>
        </p:nvSpPr>
        <p:spPr>
          <a:xfrm>
            <a:off x="9387688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00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it-IT" sz="2000" noProof="0" dirty="0"/>
          </a:p>
        </p:txBody>
      </p:sp>
      <p:sp>
        <p:nvSpPr>
          <p:cNvPr id="20" name="Shape 18"/>
          <p:cNvSpPr/>
          <p:nvPr/>
        </p:nvSpPr>
        <p:spPr>
          <a:xfrm>
            <a:off x="979916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1" name="Text 19"/>
          <p:cNvSpPr/>
          <p:nvPr/>
        </p:nvSpPr>
        <p:spPr>
          <a:xfrm>
            <a:off x="990889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600" b="1" noProof="0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it-IT" sz="1600" noProof="0" dirty="0"/>
          </a:p>
        </p:txBody>
      </p:sp>
      <p:sp>
        <p:nvSpPr>
          <p:cNvPr id="22" name="Text 20"/>
          <p:cNvSpPr/>
          <p:nvPr/>
        </p:nvSpPr>
        <p:spPr>
          <a:xfrm>
            <a:off x="993632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it-IT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 il costo</a:t>
            </a:r>
            <a:endParaRPr lang="it-IT" sz="1150" noProof="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it-IT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 dati veri</a:t>
            </a:r>
            <a:endParaRPr lang="it-IT" sz="1150" noProof="0" dirty="0"/>
          </a:p>
        </p:txBody>
      </p:sp>
      <p:sp>
        <p:nvSpPr>
          <p:cNvPr id="23" name="Shape 21"/>
          <p:cNvSpPr/>
          <p:nvPr/>
        </p:nvSpPr>
        <p:spPr>
          <a:xfrm>
            <a:off x="1432408" y="4069080"/>
            <a:ext cx="9326880" cy="914"/>
          </a:xfrm>
          <a:prstGeom prst="line">
            <a:avLst/>
          </a:prstGeom>
          <a:noFill/>
          <a:ln w="28575">
            <a:solidFill>
              <a:srgbClr val="FFB100"/>
            </a:solidFill>
            <a:prstDash val="solid"/>
            <a:head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4" name="Text 22"/>
          <p:cNvSpPr/>
          <p:nvPr/>
        </p:nvSpPr>
        <p:spPr>
          <a:xfrm>
            <a:off x="472288" y="4251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25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ripete per ogni ora simulata</a:t>
            </a:r>
            <a:endParaRPr lang="it-IT" sz="1250" noProof="0" dirty="0"/>
          </a:p>
        </p:txBody>
      </p:sp>
      <p:sp>
        <p:nvSpPr>
          <p:cNvPr id="25" name="Text 23"/>
          <p:cNvSpPr/>
          <p:nvPr/>
        </p:nvSpPr>
        <p:spPr>
          <a:xfrm>
            <a:off x="472288" y="52852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250" i="1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codice questo ciclo è la funzione </a:t>
            </a:r>
            <a:r>
              <a:rPr lang="it-IT" sz="1250" i="1" noProof="0" dirty="0" err="1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run_mpc_simulation</a:t>
            </a:r>
            <a:r>
              <a:rPr lang="it-IT" sz="1250" i="1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che chiama </a:t>
            </a:r>
            <a:r>
              <a:rPr lang="it-IT" sz="1250" i="1" noProof="0" dirty="0" err="1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solve_mpc_step</a:t>
            </a:r>
            <a:r>
              <a:rPr lang="it-IT" sz="1250" i="1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 ogni ora.</a:t>
            </a:r>
            <a:endParaRPr lang="it-IT" sz="125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è organizzato lo script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4023360"/>
          </a:xfrm>
          <a:prstGeom prst="roundRect">
            <a:avLst>
              <a:gd name="adj" fmla="val 2667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600" b="1" noProof="0" dirty="0" err="1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it-IT" sz="1600" b="1" noProof="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it-IT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it-IT" sz="1250" noProof="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 in fila tutti i passi:</a:t>
            </a:r>
            <a:endParaRPr lang="it-IT" sz="125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it-IT" sz="1250" noProof="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argomenti → dati → solver →</a:t>
            </a:r>
            <a:endParaRPr lang="it-IT" sz="125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it-IT" sz="1250" noProof="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→ CSV e grafico</a:t>
            </a:r>
            <a:endParaRPr lang="it-IT" sz="1250" noProof="0" dirty="0"/>
          </a:p>
        </p:txBody>
      </p:sp>
      <p:sp>
        <p:nvSpPr>
          <p:cNvPr id="7" name="Shape 5"/>
          <p:cNvSpPr/>
          <p:nvPr/>
        </p:nvSpPr>
        <p:spPr>
          <a:xfrm>
            <a:off x="3931920" y="1874520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8" name="Text 6"/>
          <p:cNvSpPr/>
          <p:nvPr/>
        </p:nvSpPr>
        <p:spPr>
          <a:xfrm>
            <a:off x="4160520" y="19476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noProof="0" dirty="0" err="1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load_project_data</a:t>
            </a:r>
            <a:r>
              <a:rPr lang="it-IT" sz="1300" b="1" noProof="0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it-IT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7955280" y="1947672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20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i file .</a:t>
            </a:r>
            <a:r>
              <a:rPr lang="it-IT" sz="1200" noProof="0" dirty="0" err="1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r>
              <a:rPr lang="it-IT" sz="120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prepara i dati</a:t>
            </a:r>
            <a:endParaRPr lang="it-IT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3931920" y="2706624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Text 9"/>
          <p:cNvSpPr/>
          <p:nvPr/>
        </p:nvSpPr>
        <p:spPr>
          <a:xfrm>
            <a:off x="4160520" y="2779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noProof="0" dirty="0" err="1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select_solver</a:t>
            </a:r>
            <a:r>
              <a:rPr lang="it-IT" sz="1300" b="1" noProof="0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it-IT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7955280" y="2779776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20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un solver </a:t>
            </a:r>
            <a:r>
              <a:rPr lang="it-IT" sz="1200" noProof="0" dirty="0" err="1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Pyomo</a:t>
            </a:r>
            <a:r>
              <a:rPr lang="it-IT" sz="120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disponibile</a:t>
            </a:r>
            <a:endParaRPr lang="it-IT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3931920" y="3538728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Text 12"/>
          <p:cNvSpPr/>
          <p:nvPr/>
        </p:nvSpPr>
        <p:spPr>
          <a:xfrm>
            <a:off x="4160520" y="36118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noProof="0" dirty="0" err="1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run_mpc_simulation</a:t>
            </a:r>
            <a:r>
              <a:rPr lang="it-IT" sz="1300" b="1" noProof="0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it-IT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7955280" y="3611880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20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ripete il ciclo ora per ora</a:t>
            </a:r>
            <a:endParaRPr lang="it-IT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3931920" y="4370832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7" name="Text 15"/>
          <p:cNvSpPr/>
          <p:nvPr/>
        </p:nvSpPr>
        <p:spPr>
          <a:xfrm>
            <a:off x="4160520" y="44439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noProof="0" dirty="0" err="1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solve_mpc_step</a:t>
            </a:r>
            <a:r>
              <a:rPr lang="it-IT" sz="1300" b="1" noProof="0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it-IT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7955280" y="4443984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20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costruisce e risolve il modello MILP di una finestra</a:t>
            </a:r>
            <a:endParaRPr lang="it-IT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3931920" y="5202936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0" name="Text 18"/>
          <p:cNvSpPr/>
          <p:nvPr/>
        </p:nvSpPr>
        <p:spPr>
          <a:xfrm>
            <a:off x="4160520" y="52760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noProof="0" dirty="0" err="1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save_results_csv</a:t>
            </a:r>
            <a:r>
              <a:rPr lang="it-IT" sz="1300" b="1" noProof="0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/ </a:t>
            </a:r>
            <a:r>
              <a:rPr lang="it-IT" sz="1300" b="1" noProof="0" dirty="0" err="1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create_plots</a:t>
            </a:r>
            <a:r>
              <a:rPr lang="it-IT" sz="1300" b="1" noProof="0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it-IT" sz="1300" noProof="0" dirty="0"/>
          </a:p>
        </p:txBody>
      </p:sp>
      <p:sp>
        <p:nvSpPr>
          <p:cNvPr id="21" name="Text 19"/>
          <p:cNvSpPr/>
          <p:nvPr/>
        </p:nvSpPr>
        <p:spPr>
          <a:xfrm>
            <a:off x="7955280" y="5276088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20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salvano la tabella oraria e il grafico riassuntivo</a:t>
            </a:r>
            <a:endParaRPr lang="it-IT" sz="12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 esperimenti condotti</a:t>
            </a:r>
            <a:endParaRPr lang="it-IT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it-IT" sz="14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capire come si comporta il sistema, la simulazione sull'intero anno (6529 ore) è stata ripetuta in 4 scenari, ognuno risolto sia con </a:t>
            </a:r>
            <a:r>
              <a:rPr lang="it-IT" sz="1450" noProof="0" dirty="0" err="1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</a:t>
            </a:r>
            <a:r>
              <a:rPr lang="it-IT" sz="14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 con </a:t>
            </a:r>
            <a:r>
              <a:rPr lang="it-IT" sz="1450" noProof="0" dirty="0" err="1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HiGHS</a:t>
            </a:r>
            <a:r>
              <a:rPr lang="it-IT" sz="145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it-IT" sz="145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533574" cy="2834640"/>
          </a:xfrm>
          <a:prstGeom prst="roundRect">
            <a:avLst>
              <a:gd name="adj" fmla="val 288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Shape 4"/>
          <p:cNvSpPr/>
          <p:nvPr/>
        </p:nvSpPr>
        <p:spPr>
          <a:xfrm>
            <a:off x="1472527" y="2948940"/>
            <a:ext cx="685800" cy="68580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7" name="Text 5"/>
          <p:cNvSpPr/>
          <p:nvPr/>
        </p:nvSpPr>
        <p:spPr>
          <a:xfrm>
            <a:off x="1472527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2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it-IT" sz="2200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4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it-IT" sz="145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21678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it-IT" sz="1150" noProof="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SoH iniziali a metà (0.50 / 0.50)</a:t>
            </a:r>
            <a:endParaRPr lang="it-IT" sz="1150" noProof="0" dirty="0"/>
          </a:p>
        </p:txBody>
      </p:sp>
      <p:sp>
        <p:nvSpPr>
          <p:cNvPr id="10" name="Shape 8"/>
          <p:cNvSpPr/>
          <p:nvPr/>
        </p:nvSpPr>
        <p:spPr>
          <a:xfrm>
            <a:off x="3402254" y="2697480"/>
            <a:ext cx="2533574" cy="2834640"/>
          </a:xfrm>
          <a:prstGeom prst="roundRect">
            <a:avLst>
              <a:gd name="adj" fmla="val 2887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Shape 9"/>
          <p:cNvSpPr/>
          <p:nvPr/>
        </p:nvSpPr>
        <p:spPr>
          <a:xfrm>
            <a:off x="4326141" y="2948940"/>
            <a:ext cx="685800" cy="68580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Text 10"/>
          <p:cNvSpPr/>
          <p:nvPr/>
        </p:nvSpPr>
        <p:spPr>
          <a:xfrm>
            <a:off x="4326141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2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it-IT" sz="2200" noProof="0" dirty="0"/>
          </a:p>
        </p:txBody>
      </p:sp>
      <p:sp>
        <p:nvSpPr>
          <p:cNvPr id="13" name="Text 11"/>
          <p:cNvSpPr/>
          <p:nvPr/>
        </p:nvSpPr>
        <p:spPr>
          <a:xfrm>
            <a:off x="3585134" y="3840480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4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Accumuli vuoti</a:t>
            </a:r>
            <a:endParaRPr lang="it-IT" sz="1450" noProof="0" dirty="0"/>
          </a:p>
        </p:txBody>
      </p:sp>
      <p:sp>
        <p:nvSpPr>
          <p:cNvPr id="14" name="Text 12"/>
          <p:cNvSpPr/>
          <p:nvPr/>
        </p:nvSpPr>
        <p:spPr>
          <a:xfrm>
            <a:off x="3585134" y="4343400"/>
            <a:ext cx="21678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it-IT" sz="1150" noProof="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SoH iniziali al minimo (0.10 / 0.00)</a:t>
            </a:r>
            <a:endParaRPr lang="it-IT" sz="1150" noProof="0" dirty="0"/>
          </a:p>
        </p:txBody>
      </p:sp>
      <p:sp>
        <p:nvSpPr>
          <p:cNvPr id="15" name="Shape 13"/>
          <p:cNvSpPr/>
          <p:nvPr/>
        </p:nvSpPr>
        <p:spPr>
          <a:xfrm>
            <a:off x="6255868" y="2697480"/>
            <a:ext cx="2533574" cy="2834640"/>
          </a:xfrm>
          <a:prstGeom prst="roundRect">
            <a:avLst>
              <a:gd name="adj" fmla="val 2887"/>
            </a:avLst>
          </a:prstGeom>
          <a:solidFill>
            <a:srgbClr val="8A5CBF"/>
          </a:solidFill>
          <a:ln w="12700">
            <a:solidFill>
              <a:srgbClr val="8A5CBF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6" name="Shape 14"/>
          <p:cNvSpPr/>
          <p:nvPr/>
        </p:nvSpPr>
        <p:spPr>
          <a:xfrm>
            <a:off x="7179755" y="2948940"/>
            <a:ext cx="685800" cy="68580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7" name="Text 15"/>
          <p:cNvSpPr/>
          <p:nvPr/>
        </p:nvSpPr>
        <p:spPr>
          <a:xfrm>
            <a:off x="7179755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2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it-IT" sz="2200" noProof="0" dirty="0"/>
          </a:p>
        </p:txBody>
      </p:sp>
      <p:sp>
        <p:nvSpPr>
          <p:cNvPr id="18" name="Text 16"/>
          <p:cNvSpPr/>
          <p:nvPr/>
        </p:nvSpPr>
        <p:spPr>
          <a:xfrm>
            <a:off x="6438748" y="3840480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4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Accumuli pieni</a:t>
            </a:r>
            <a:endParaRPr lang="it-IT" sz="1450" noProof="0" dirty="0"/>
          </a:p>
        </p:txBody>
      </p:sp>
      <p:sp>
        <p:nvSpPr>
          <p:cNvPr id="19" name="Text 17"/>
          <p:cNvSpPr/>
          <p:nvPr/>
        </p:nvSpPr>
        <p:spPr>
          <a:xfrm>
            <a:off x="6438748" y="4343400"/>
            <a:ext cx="21678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it-IT" sz="1150" noProof="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SoH iniziali al massimo (0.90 / 1.00)</a:t>
            </a:r>
            <a:endParaRPr lang="it-IT" sz="1150" noProof="0" dirty="0"/>
          </a:p>
        </p:txBody>
      </p:sp>
      <p:sp>
        <p:nvSpPr>
          <p:cNvPr id="20" name="Shape 18"/>
          <p:cNvSpPr/>
          <p:nvPr/>
        </p:nvSpPr>
        <p:spPr>
          <a:xfrm>
            <a:off x="9109481" y="2697480"/>
            <a:ext cx="2533574" cy="2834640"/>
          </a:xfrm>
          <a:prstGeom prst="roundRect">
            <a:avLst>
              <a:gd name="adj" fmla="val 2887"/>
            </a:avLst>
          </a:prstGeom>
          <a:solidFill>
            <a:srgbClr val="C0433A"/>
          </a:solidFill>
          <a:ln w="12700">
            <a:solidFill>
              <a:srgbClr val="C0433A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1" name="Shape 19"/>
          <p:cNvSpPr/>
          <p:nvPr/>
        </p:nvSpPr>
        <p:spPr>
          <a:xfrm>
            <a:off x="10033368" y="2948940"/>
            <a:ext cx="685800" cy="68580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2" name="Text 20"/>
          <p:cNvSpPr/>
          <p:nvPr/>
        </p:nvSpPr>
        <p:spPr>
          <a:xfrm>
            <a:off x="10033368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200" b="1" noProof="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it-IT" sz="2200" noProof="0" dirty="0"/>
          </a:p>
        </p:txBody>
      </p:sp>
      <p:sp>
        <p:nvSpPr>
          <p:cNvPr id="23" name="Text 21"/>
          <p:cNvSpPr/>
          <p:nvPr/>
        </p:nvSpPr>
        <p:spPr>
          <a:xfrm>
            <a:off x="9292361" y="3840480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4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Penalità bassa</a:t>
            </a:r>
            <a:endParaRPr lang="it-IT" sz="1450" noProof="0" dirty="0"/>
          </a:p>
        </p:txBody>
      </p:sp>
      <p:sp>
        <p:nvSpPr>
          <p:cNvPr id="24" name="Text 22"/>
          <p:cNvSpPr/>
          <p:nvPr/>
        </p:nvSpPr>
        <p:spPr>
          <a:xfrm>
            <a:off x="9292361" y="4343400"/>
            <a:ext cx="21678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it-IT" sz="1150" noProof="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C, ma penalità </a:t>
            </a:r>
            <a:r>
              <a:rPr lang="it-IT" sz="1150" noProof="0" dirty="0" err="1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curtailment</a:t>
            </a:r>
            <a:r>
              <a:rPr lang="it-IT" sz="1150" noProof="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quasi nulla (0.01)</a:t>
            </a:r>
            <a:endParaRPr lang="it-IT" sz="1150" noProof="0" dirty="0"/>
          </a:p>
        </p:txBody>
      </p:sp>
      <p:sp>
        <p:nvSpPr>
          <p:cNvPr id="25" name="Shape 23"/>
          <p:cNvSpPr/>
          <p:nvPr/>
        </p:nvSpPr>
        <p:spPr>
          <a:xfrm>
            <a:off x="1216152" y="583387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6" name="Text 24"/>
          <p:cNvSpPr/>
          <p:nvPr/>
        </p:nvSpPr>
        <p:spPr>
          <a:xfrm>
            <a:off x="1216152" y="5833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it-IT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1691640" y="5806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50" noProof="0" dirty="0" err="1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</a:t>
            </a:r>
            <a:r>
              <a:rPr lang="it-IT" sz="115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(solver commerciale)</a:t>
            </a:r>
            <a:endParaRPr lang="it-IT" sz="1150" noProof="0" dirty="0"/>
          </a:p>
        </p:txBody>
      </p:sp>
      <p:sp>
        <p:nvSpPr>
          <p:cNvPr id="28" name="Shape 26"/>
          <p:cNvSpPr/>
          <p:nvPr/>
        </p:nvSpPr>
        <p:spPr>
          <a:xfrm>
            <a:off x="5605272" y="5833872"/>
            <a:ext cx="310896" cy="310896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9" name="Text 27"/>
          <p:cNvSpPr/>
          <p:nvPr/>
        </p:nvSpPr>
        <p:spPr>
          <a:xfrm>
            <a:off x="5605272" y="5833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it-IT" sz="1200" noProof="0" dirty="0"/>
          </a:p>
        </p:txBody>
      </p:sp>
      <p:sp>
        <p:nvSpPr>
          <p:cNvPr id="30" name="Text 28"/>
          <p:cNvSpPr/>
          <p:nvPr/>
        </p:nvSpPr>
        <p:spPr>
          <a:xfrm>
            <a:off x="6080760" y="5806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50" noProof="0" dirty="0" err="1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HiGHS</a:t>
            </a:r>
            <a:r>
              <a:rPr lang="it-IT" sz="1150" noProof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(solver open-source)</a:t>
            </a:r>
            <a:endParaRPr lang="it-IT" sz="115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E5A7C-2CD5-E406-0CEA-F62D6F894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DBF3E3D-3553-55FF-F6E0-577EF8C0CB01}"/>
              </a:ext>
            </a:extLst>
          </p:cNvPr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</a:rPr>
              <a:t>Produzione rinnovabile e carico</a:t>
            </a:r>
          </a:p>
          <a:p>
            <a:pPr marL="0" indent="0">
              <a:buNone/>
            </a:pPr>
            <a:endParaRPr lang="it-IT" sz="3000" noProof="0" dirty="0"/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2CD08551-3A64-B948-9987-7887FCC65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1852"/>
            <a:ext cx="11461345" cy="4525191"/>
          </a:xfrm>
          <a:prstGeom prst="rect">
            <a:avLst/>
          </a:prstGeom>
        </p:spPr>
      </p:pic>
      <p:graphicFrame>
        <p:nvGraphicFramePr>
          <p:cNvPr id="38" name="Tabella 37">
            <a:extLst>
              <a:ext uri="{FF2B5EF4-FFF2-40B4-BE49-F238E27FC236}">
                <a16:creationId xmlns:a16="http://schemas.microsoft.com/office/drawing/2014/main" id="{F2954521-BB21-89D1-F83F-F11FEB003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391948"/>
              </p:ext>
            </p:extLst>
          </p:nvPr>
        </p:nvGraphicFramePr>
        <p:xfrm>
          <a:off x="599912" y="5521833"/>
          <a:ext cx="5130760" cy="11583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5380">
                  <a:extLst>
                    <a:ext uri="{9D8B030D-6E8A-4147-A177-3AD203B41FA5}">
                      <a16:colId xmlns:a16="http://schemas.microsoft.com/office/drawing/2014/main" val="89691916"/>
                    </a:ext>
                  </a:extLst>
                </a:gridCol>
                <a:gridCol w="2565380">
                  <a:extLst>
                    <a:ext uri="{9D8B030D-6E8A-4147-A177-3AD203B41FA5}">
                      <a16:colId xmlns:a16="http://schemas.microsoft.com/office/drawing/2014/main" val="1428581068"/>
                    </a:ext>
                  </a:extLst>
                </a:gridCol>
              </a:tblGrid>
              <a:tr h="37725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975" noProof="0" dirty="0">
                          <a:effectLst/>
                        </a:rPr>
                        <a:t>Nera – Carico</a:t>
                      </a:r>
                      <a:endParaRPr lang="it-IT" sz="975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900" noProof="0" dirty="0" err="1">
                          <a:effectLst/>
                        </a:rPr>
                        <a:t>P_ul</a:t>
                      </a:r>
                      <a:r>
                        <a:rPr lang="it-IT" sz="975" noProof="0" dirty="0">
                          <a:effectLst/>
                        </a:rPr>
                        <a:t>, la domanda dell'edificio, non controllabile: va sempre soddisfatta (obiettivo b).</a:t>
                      </a:r>
                      <a:endParaRPr lang="it-IT" sz="975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1911797583"/>
                  </a:ext>
                </a:extLst>
              </a:tr>
              <a:tr h="19999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975" noProof="0" dirty="0">
                          <a:effectLst/>
                        </a:rPr>
                        <a:t>Verde – Rinnovabili</a:t>
                      </a:r>
                      <a:endParaRPr lang="it-IT" sz="975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900" noProof="0" dirty="0" err="1">
                          <a:effectLst/>
                        </a:rPr>
                        <a:t>P_pv</a:t>
                      </a:r>
                      <a:r>
                        <a:rPr lang="it-IT" sz="900" noProof="0" dirty="0">
                          <a:effectLst/>
                        </a:rPr>
                        <a:t> + </a:t>
                      </a:r>
                      <a:r>
                        <a:rPr lang="it-IT" sz="900" noProof="0" dirty="0" err="1">
                          <a:effectLst/>
                        </a:rPr>
                        <a:t>P_w</a:t>
                      </a:r>
                      <a:r>
                        <a:rPr lang="it-IT" sz="975" noProof="0" dirty="0">
                          <a:effectLst/>
                        </a:rPr>
                        <a:t> effettivamente usata (PV 4 MW + eolico 8 MW). Molto variabile, spesso sotto il carico.</a:t>
                      </a:r>
                      <a:endParaRPr lang="it-IT" sz="975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217594940"/>
                  </a:ext>
                </a:extLst>
              </a:tr>
              <a:tr h="19999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975" noProof="0" dirty="0">
                          <a:effectLst/>
                        </a:rPr>
                        <a:t>Arancione – </a:t>
                      </a:r>
                      <a:r>
                        <a:rPr lang="it-IT" sz="975" noProof="0" dirty="0" err="1">
                          <a:effectLst/>
                        </a:rPr>
                        <a:t>Curtailment</a:t>
                      </a:r>
                      <a:endParaRPr lang="it-IT" sz="975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975" noProof="0" dirty="0">
                          <a:effectLst/>
                        </a:rPr>
                        <a:t>Energia rinnovabile sprecata </a:t>
                      </a:r>
                      <a:r>
                        <a:rPr lang="it-IT" sz="900" noProof="0" dirty="0" err="1">
                          <a:effectLst/>
                        </a:rPr>
                        <a:t>P_c</a:t>
                      </a:r>
                      <a:r>
                        <a:rPr lang="it-IT" sz="975" noProof="0" dirty="0">
                          <a:effectLst/>
                        </a:rPr>
                        <a:t>. Resta a zero: il sistema non butta mai via rinnovabile.</a:t>
                      </a:r>
                      <a:endParaRPr lang="it-IT" sz="975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3369089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657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36D8E-5284-8BCF-08BC-7EDEC8898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0DC74F9-DA00-539A-83DC-F6E637C964F3}"/>
              </a:ext>
            </a:extLst>
          </p:cNvPr>
          <p:cNvSpPr txBox="1"/>
          <p:nvPr/>
        </p:nvSpPr>
        <p:spPr>
          <a:xfrm>
            <a:off x="6186619" y="547815"/>
            <a:ext cx="5178960" cy="1680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>
              <a:lnSpc>
                <a:spcPct val="90000"/>
              </a:lnSpc>
              <a:spcAft>
                <a:spcPts val="600"/>
              </a:spcAft>
            </a:pPr>
            <a:endParaRPr lang="it-IT" sz="1100" noProof="0" dirty="0">
              <a:effectLst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972465A-90A0-01F6-5FC7-5C912410B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1420586"/>
            <a:ext cx="9816281" cy="3877429"/>
          </a:xfrm>
          <a:prstGeom prst="rect">
            <a:avLst/>
          </a:prstGeom>
        </p:spPr>
      </p:pic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0EEEDF22-33D0-FDBC-F18B-5E621DBC3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133926"/>
              </p:ext>
            </p:extLst>
          </p:nvPr>
        </p:nvGraphicFramePr>
        <p:xfrm>
          <a:off x="6590280" y="4902633"/>
          <a:ext cx="5167187" cy="187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391">
                  <a:extLst>
                    <a:ext uri="{9D8B030D-6E8A-4147-A177-3AD203B41FA5}">
                      <a16:colId xmlns:a16="http://schemas.microsoft.com/office/drawing/2014/main" val="3968080165"/>
                    </a:ext>
                  </a:extLst>
                </a:gridCol>
                <a:gridCol w="1806411">
                  <a:extLst>
                    <a:ext uri="{9D8B030D-6E8A-4147-A177-3AD203B41FA5}">
                      <a16:colId xmlns:a16="http://schemas.microsoft.com/office/drawing/2014/main" val="1014864147"/>
                    </a:ext>
                  </a:extLst>
                </a:gridCol>
                <a:gridCol w="2213385">
                  <a:extLst>
                    <a:ext uri="{9D8B030D-6E8A-4147-A177-3AD203B41FA5}">
                      <a16:colId xmlns:a16="http://schemas.microsoft.com/office/drawing/2014/main" val="2412458428"/>
                    </a:ext>
                  </a:extLst>
                </a:gridCol>
              </a:tblGrid>
              <a:tr h="30301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t-IT" sz="1500" noProof="0" dirty="0">
                          <a:effectLst/>
                        </a:rPr>
                        <a:t>Linea</a:t>
                      </a:r>
                      <a:endParaRPr lang="it-IT" sz="15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9371" marR="69371" marT="13874" marB="13874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t-IT" sz="1500" noProof="0" dirty="0">
                          <a:effectLst/>
                        </a:rPr>
                        <a:t>Sopra lo zero (+)</a:t>
                      </a:r>
                      <a:endParaRPr lang="it-IT" sz="15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9371" marR="69371" marT="13874" marB="13874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t-IT" sz="1500" noProof="0" dirty="0">
                          <a:effectLst/>
                        </a:rPr>
                        <a:t>Sotto lo zero (−)</a:t>
                      </a:r>
                      <a:endParaRPr lang="it-IT" sz="15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9371" marR="69371" marT="13874" marB="13874"/>
                </a:tc>
                <a:extLst>
                  <a:ext uri="{0D108BD9-81ED-4DB2-BD59-A6C34878D82A}">
                    <a16:rowId xmlns:a16="http://schemas.microsoft.com/office/drawing/2014/main" val="1525570769"/>
                  </a:ext>
                </a:extLst>
              </a:tr>
              <a:tr h="52499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500" noProof="0" dirty="0">
                          <a:effectLst/>
                        </a:rPr>
                        <a:t>Blu – Rete</a:t>
                      </a:r>
                      <a:endParaRPr lang="it-IT" sz="15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9371" marR="69371" marT="13874" marB="1387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500" noProof="0" dirty="0">
                          <a:effectLst/>
                        </a:rPr>
                        <a:t>importazione (max 12 MW)</a:t>
                      </a:r>
                      <a:endParaRPr lang="it-IT" sz="15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9371" marR="69371" marT="13874" marB="1387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500" noProof="0" dirty="0">
                          <a:effectLst/>
                        </a:rPr>
                        <a:t>esportazione (max 10 MW)</a:t>
                      </a:r>
                      <a:endParaRPr lang="it-IT" sz="15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9371" marR="69371" marT="13874" marB="13874"/>
                </a:tc>
                <a:extLst>
                  <a:ext uri="{0D108BD9-81ED-4DB2-BD59-A6C34878D82A}">
                    <a16:rowId xmlns:a16="http://schemas.microsoft.com/office/drawing/2014/main" val="2790393642"/>
                  </a:ext>
                </a:extLst>
              </a:tr>
              <a:tr h="52499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500" noProof="0" dirty="0">
                          <a:effectLst/>
                        </a:rPr>
                        <a:t>Verde – Batteria</a:t>
                      </a:r>
                      <a:endParaRPr lang="it-IT" sz="15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9371" marR="69371" marT="13874" marB="1387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500" noProof="0" dirty="0">
                          <a:effectLst/>
                        </a:rPr>
                        <a:t>scarica</a:t>
                      </a:r>
                      <a:endParaRPr lang="it-IT" sz="15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9371" marR="69371" marT="13874" marB="1387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500" noProof="0" dirty="0">
                          <a:effectLst/>
                        </a:rPr>
                        <a:t>carica</a:t>
                      </a:r>
                      <a:endParaRPr lang="it-IT" sz="15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9371" marR="69371" marT="13874" marB="13874"/>
                </a:tc>
                <a:extLst>
                  <a:ext uri="{0D108BD9-81ED-4DB2-BD59-A6C34878D82A}">
                    <a16:rowId xmlns:a16="http://schemas.microsoft.com/office/drawing/2014/main" val="4290456352"/>
                  </a:ext>
                </a:extLst>
              </a:tr>
              <a:tr h="52499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500" noProof="0" dirty="0">
                          <a:effectLst/>
                        </a:rPr>
                        <a:t>Rossa – Idrogeno</a:t>
                      </a:r>
                      <a:endParaRPr lang="it-IT" sz="15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9371" marR="69371" marT="13874" marB="1387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500" noProof="0" dirty="0" err="1">
                          <a:effectLst/>
                        </a:rPr>
                        <a:t>fuel</a:t>
                      </a:r>
                      <a:r>
                        <a:rPr lang="it-IT" sz="1500" noProof="0" dirty="0">
                          <a:effectLst/>
                        </a:rPr>
                        <a:t> </a:t>
                      </a:r>
                      <a:r>
                        <a:rPr lang="it-IT" sz="1500" noProof="0" dirty="0" err="1">
                          <a:effectLst/>
                        </a:rPr>
                        <a:t>cell</a:t>
                      </a:r>
                      <a:r>
                        <a:rPr lang="it-IT" sz="1500" noProof="0" dirty="0">
                          <a:effectLst/>
                        </a:rPr>
                        <a:t> (H₂ → energia)</a:t>
                      </a:r>
                      <a:endParaRPr lang="it-IT" sz="15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9371" marR="69371" marT="13874" marB="1387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500" noProof="0" dirty="0">
                          <a:effectLst/>
                        </a:rPr>
                        <a:t>elettrolizzatore (energia → H₂)</a:t>
                      </a:r>
                      <a:endParaRPr lang="it-IT" sz="15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9371" marR="69371" marT="13874" marB="13874"/>
                </a:tc>
                <a:extLst>
                  <a:ext uri="{0D108BD9-81ED-4DB2-BD59-A6C34878D82A}">
                    <a16:rowId xmlns:a16="http://schemas.microsoft.com/office/drawing/2014/main" val="2814135183"/>
                  </a:ext>
                </a:extLst>
              </a:tr>
            </a:tbl>
          </a:graphicData>
        </a:graphic>
      </p:graphicFrame>
      <p:sp>
        <p:nvSpPr>
          <p:cNvPr id="8" name="Text 1">
            <a:extLst>
              <a:ext uri="{FF2B5EF4-FFF2-40B4-BE49-F238E27FC236}">
                <a16:creationId xmlns:a16="http://schemas.microsoft.com/office/drawing/2014/main" id="{45B559B5-235F-0F6D-6869-FFF4667BA05F}"/>
              </a:ext>
            </a:extLst>
          </p:cNvPr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</a:rPr>
              <a:t>Scambi controllati</a:t>
            </a:r>
            <a:endParaRPr lang="it-IT" sz="3000" noProof="0" dirty="0"/>
          </a:p>
        </p:txBody>
      </p:sp>
    </p:spTree>
    <p:extLst>
      <p:ext uri="{BB962C8B-B14F-4D97-AF65-F5344CB8AC3E}">
        <p14:creationId xmlns:p14="http://schemas.microsoft.com/office/powerpoint/2010/main" val="1338140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72C9C3-B768-E584-0C9A-CBD053CE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DD2D55D-857F-F874-7C99-9C8345BBE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21" y="1186673"/>
            <a:ext cx="9465131" cy="3738725"/>
          </a:xfrm>
          <a:prstGeom prst="rect">
            <a:avLst/>
          </a:prstGeom>
        </p:spPr>
      </p:pic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BB57905C-BD8D-3431-BA17-E7E559FFF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355769"/>
              </p:ext>
            </p:extLst>
          </p:nvPr>
        </p:nvGraphicFramePr>
        <p:xfrm>
          <a:off x="7024814" y="4539343"/>
          <a:ext cx="5167186" cy="2194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813">
                  <a:extLst>
                    <a:ext uri="{9D8B030D-6E8A-4147-A177-3AD203B41FA5}">
                      <a16:colId xmlns:a16="http://schemas.microsoft.com/office/drawing/2014/main" val="4019561045"/>
                    </a:ext>
                  </a:extLst>
                </a:gridCol>
                <a:gridCol w="2515373">
                  <a:extLst>
                    <a:ext uri="{9D8B030D-6E8A-4147-A177-3AD203B41FA5}">
                      <a16:colId xmlns:a16="http://schemas.microsoft.com/office/drawing/2014/main" val="2982526595"/>
                    </a:ext>
                  </a:extLst>
                </a:gridCol>
              </a:tblGrid>
              <a:tr h="31037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t-IT" sz="1700" noProof="0" dirty="0">
                          <a:effectLst/>
                        </a:rPr>
                        <a:t>Linea</a:t>
                      </a:r>
                      <a:endParaRPr lang="it-IT" sz="17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80677" marR="80677" marT="16135" marB="1613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t-IT" sz="1700" noProof="0" dirty="0">
                          <a:effectLst/>
                        </a:rPr>
                        <a:t>Significato</a:t>
                      </a:r>
                      <a:endParaRPr lang="it-IT" sz="17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80677" marR="80677" marT="16135" marB="16135"/>
                </a:tc>
                <a:extLst>
                  <a:ext uri="{0D108BD9-81ED-4DB2-BD59-A6C34878D82A}">
                    <a16:rowId xmlns:a16="http://schemas.microsoft.com/office/drawing/2014/main" val="1856801958"/>
                  </a:ext>
                </a:extLst>
              </a:tr>
              <a:tr h="5480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700" noProof="0" dirty="0">
                          <a:effectLst/>
                        </a:rPr>
                        <a:t>Blu – SoC batteria</a:t>
                      </a:r>
                      <a:endParaRPr lang="it-IT" sz="17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80677" marR="80677" marT="16135" marB="16135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700" noProof="0" dirty="0">
                          <a:effectLst/>
                        </a:rPr>
                        <a:t>stato di carica della batteria</a:t>
                      </a:r>
                      <a:endParaRPr lang="it-IT" sz="17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80677" marR="80677" marT="16135" marB="16135"/>
                </a:tc>
                <a:extLst>
                  <a:ext uri="{0D108BD9-81ED-4DB2-BD59-A6C34878D82A}">
                    <a16:rowId xmlns:a16="http://schemas.microsoft.com/office/drawing/2014/main" val="3911515982"/>
                  </a:ext>
                </a:extLst>
              </a:tr>
              <a:tr h="5480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700" noProof="0" dirty="0">
                          <a:effectLst/>
                        </a:rPr>
                        <a:t>Arancione – SoH idrogeno</a:t>
                      </a:r>
                      <a:endParaRPr lang="it-IT" sz="17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80677" marR="80677" marT="16135" marB="16135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700" noProof="0" dirty="0">
                          <a:effectLst/>
                        </a:rPr>
                        <a:t>livello del serbatoio H₂</a:t>
                      </a:r>
                      <a:endParaRPr lang="it-IT" sz="17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80677" marR="80677" marT="16135" marB="16135"/>
                </a:tc>
                <a:extLst>
                  <a:ext uri="{0D108BD9-81ED-4DB2-BD59-A6C34878D82A}">
                    <a16:rowId xmlns:a16="http://schemas.microsoft.com/office/drawing/2014/main" val="3453264343"/>
                  </a:ext>
                </a:extLst>
              </a:tr>
              <a:tr h="78571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700" noProof="0" dirty="0">
                          <a:effectLst/>
                        </a:rPr>
                        <a:t>Linee tratteggiate/punteggiate</a:t>
                      </a:r>
                      <a:endParaRPr lang="it-IT" sz="17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80677" marR="80677" marT="16135" marB="16135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it-IT" sz="1700" noProof="0" dirty="0">
                          <a:effectLst/>
                        </a:rPr>
                        <a:t>limiti 10% e 90% imposti alla batteria (obiettivo c).</a:t>
                      </a:r>
                      <a:endParaRPr lang="it-IT" sz="1700" noProof="0" dirty="0"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80677" marR="80677" marT="16135" marB="16135"/>
                </a:tc>
                <a:extLst>
                  <a:ext uri="{0D108BD9-81ED-4DB2-BD59-A6C34878D82A}">
                    <a16:rowId xmlns:a16="http://schemas.microsoft.com/office/drawing/2014/main" val="98907271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F049BE2A-C897-A78B-9ED5-AFAF53B5B956}"/>
              </a:ext>
            </a:extLst>
          </p:cNvPr>
          <p:cNvSpPr txBox="1"/>
          <p:nvPr/>
        </p:nvSpPr>
        <p:spPr>
          <a:xfrm>
            <a:off x="434621" y="316338"/>
            <a:ext cx="61150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</a:rPr>
              <a:t>Livello degli accumuli</a:t>
            </a:r>
          </a:p>
        </p:txBody>
      </p:sp>
    </p:spTree>
    <p:extLst>
      <p:ext uri="{BB962C8B-B14F-4D97-AF65-F5344CB8AC3E}">
        <p14:creationId xmlns:p14="http://schemas.microsoft.com/office/powerpoint/2010/main" val="2253709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costo cambia pochissimo tra scenari e solver</a:t>
            </a:r>
            <a:endParaRPr lang="it-IT" sz="3000" noProof="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27377152"/>
              </p:ext>
            </p:extLst>
          </p:nvPr>
        </p:nvGraphicFramePr>
        <p:xfrm>
          <a:off x="548640" y="1828800"/>
          <a:ext cx="7863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9052560" y="1828800"/>
            <a:ext cx="2590495" cy="4206240"/>
          </a:xfrm>
          <a:prstGeom prst="roundRect">
            <a:avLst>
              <a:gd name="adj" fmla="val 2824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3"/>
          <p:cNvSpPr/>
          <p:nvPr/>
        </p:nvSpPr>
        <p:spPr>
          <a:xfrm>
            <a:off x="9281160" y="2148840"/>
            <a:ext cx="2133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3400" b="1" noProof="0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MWh</a:t>
            </a:r>
            <a:endParaRPr lang="it-IT" sz="3400" noProof="0" dirty="0"/>
          </a:p>
        </p:txBody>
      </p:sp>
      <p:sp>
        <p:nvSpPr>
          <p:cNvPr id="7" name="Text 4"/>
          <p:cNvSpPr/>
          <p:nvPr/>
        </p:nvSpPr>
        <p:spPr>
          <a:xfrm>
            <a:off x="9281160" y="2926080"/>
            <a:ext cx="2133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it-IT" sz="12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curtailment</a:t>
            </a:r>
            <a:r>
              <a:rPr lang="it-IT" sz="12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TUTTI e 4 gli scenari, con entrambi i solver</a:t>
            </a:r>
            <a:endParaRPr lang="it-IT" sz="1250" noProof="0" dirty="0"/>
          </a:p>
        </p:txBody>
      </p:sp>
      <p:sp>
        <p:nvSpPr>
          <p:cNvPr id="8" name="Shape 5"/>
          <p:cNvSpPr/>
          <p:nvPr/>
        </p:nvSpPr>
        <p:spPr>
          <a:xfrm>
            <a:off x="9418320" y="3886200"/>
            <a:ext cx="1858975" cy="914"/>
          </a:xfrm>
          <a:prstGeom prst="line">
            <a:avLst/>
          </a:prstGeom>
          <a:noFill/>
          <a:ln w="12700">
            <a:solidFill>
              <a:srgbClr val="2E5975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9" name="Text 6"/>
          <p:cNvSpPr/>
          <p:nvPr/>
        </p:nvSpPr>
        <p:spPr>
          <a:xfrm>
            <a:off x="9281160" y="4069080"/>
            <a:ext cx="2133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0,01%</a:t>
            </a:r>
            <a:endParaRPr lang="it-IT" sz="2200" noProof="0" dirty="0"/>
          </a:p>
        </p:txBody>
      </p:sp>
      <p:sp>
        <p:nvSpPr>
          <p:cNvPr id="10" name="Text 7"/>
          <p:cNvSpPr/>
          <p:nvPr/>
        </p:nvSpPr>
        <p:spPr>
          <a:xfrm>
            <a:off x="9281160" y="4617720"/>
            <a:ext cx="2133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it-IT" sz="1200" noProof="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 di costo tra </a:t>
            </a:r>
            <a:r>
              <a:rPr lang="it-IT" sz="1200" noProof="0" dirty="0" err="1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</a:t>
            </a:r>
            <a:r>
              <a:rPr lang="it-IT" sz="1200" noProof="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it-IT" sz="1200" noProof="0" dirty="0" err="1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HiGHS</a:t>
            </a:r>
            <a:endParaRPr lang="it-IT" sz="12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scoperta inattesa</a:t>
            </a:r>
            <a:endParaRPr lang="it-IT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1094415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it-IT" sz="170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 scenario D la penalità sul </a:t>
            </a:r>
            <a:r>
              <a:rPr lang="it-IT" sz="1700" noProof="0" dirty="0" err="1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curtailment</a:t>
            </a:r>
            <a:r>
              <a:rPr lang="it-IT" sz="170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stata abbassata a quasi zero, aspettandosi più spreco di rinnovabile.</a:t>
            </a:r>
            <a:endParaRPr lang="it-IT" sz="1550" noProof="0" dirty="0"/>
          </a:p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it-IT" sz="170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Invece il </a:t>
            </a:r>
            <a:r>
              <a:rPr lang="it-IT" sz="1700" noProof="0" dirty="0" err="1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curtailment</a:t>
            </a:r>
            <a:r>
              <a:rPr lang="it-IT" sz="170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resta a zero anche in questo scenario, sull'intero anno.</a:t>
            </a:r>
            <a:endParaRPr lang="it-IT" sz="1550" noProof="0" dirty="0"/>
          </a:p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it-IT" sz="1700" noProof="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motivo: su base annuale batteria, idrogeno ed export in rete offrono sempre abbastanza spazio per assorbire la produzione rinnovabile, anche quando gli accumuli partono già pieni.</a:t>
            </a:r>
            <a:endParaRPr lang="it-IT" sz="155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3000" b="1" noProof="0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Riepilogo, componente per componente</a:t>
            </a:r>
            <a:endParaRPr lang="it-IT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48639" y="1730000"/>
            <a:ext cx="11094415" cy="780000"/>
          </a:xfrm>
          <a:prstGeom prst="roundRect">
            <a:avLst>
              <a:gd name="adj" fmla="val 6557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730000"/>
            <a:ext cx="128016" cy="780000"/>
          </a:xfrm>
          <a:prstGeom prst="round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1790000"/>
            <a:ext cx="329184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50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RINNOVABILI</a:t>
            </a:r>
            <a:endParaRPr lang="it-IT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4389120" y="1790000"/>
            <a:ext cx="6979615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Mai sprecate: il curtailment resta sempre a zero, in ogni scenario testato.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2640000"/>
            <a:ext cx="11094415" cy="780000"/>
          </a:xfrm>
          <a:prstGeom prst="roundRect">
            <a:avLst>
              <a:gd name="adj" fmla="val 6557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2640000"/>
            <a:ext cx="128016" cy="780000"/>
          </a:xfrm>
          <a:prstGeom prst="roundRect">
            <a:avLst/>
          </a:prstGeom>
          <a:solidFill>
            <a:srgbClr val="8A5CBF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Text 12"/>
          <p:cNvSpPr/>
          <p:nvPr/>
        </p:nvSpPr>
        <p:spPr>
          <a:xfrm>
            <a:off x="914400" y="2700000"/>
            <a:ext cx="329184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50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BATTERIA</a:t>
            </a:r>
            <a:endParaRPr lang="it-IT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4389120" y="2700000"/>
            <a:ext cx="6979615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it-IT" sz="1200" noProof="0" dirty="0" err="1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un cuscinetto: resta quasi sempre attaccata ai limiti 10% e 90%.</a:t>
            </a:r>
            <a:endParaRPr lang="it-IT" sz="1200" noProof="0" dirty="0"/>
          </a:p>
        </p:txBody>
      </p:sp>
      <p:sp>
        <p:nvSpPr>
          <p:cNvPr id="2" name="Shape 2"/>
          <p:cNvSpPr/>
          <p:nvPr/>
        </p:nvSpPr>
        <p:spPr>
          <a:xfrm>
            <a:off x="548639" y="3550000"/>
            <a:ext cx="11094415" cy="780000"/>
          </a:xfrm>
          <a:prstGeom prst="roundRect">
            <a:avLst>
              <a:gd name="adj" fmla="val 6557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8" name="Shape 3"/>
          <p:cNvSpPr/>
          <p:nvPr/>
        </p:nvSpPr>
        <p:spPr>
          <a:xfrm>
            <a:off x="548640" y="3550000"/>
            <a:ext cx="128016" cy="780000"/>
          </a:xfrm>
          <a:prstGeom prst="roundRect">
            <a:avLst/>
          </a:prstGeom>
          <a:solidFill>
            <a:srgbClr val="C0433A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9" name="Text 4"/>
          <p:cNvSpPr/>
          <p:nvPr/>
        </p:nvSpPr>
        <p:spPr>
          <a:xfrm>
            <a:off x="914400" y="3610000"/>
            <a:ext cx="329184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50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IDROGENO</a:t>
            </a:r>
            <a:endParaRPr lang="it-IT" sz="1500" noProof="0" dirty="0"/>
          </a:p>
        </p:txBody>
      </p:sp>
      <p:sp>
        <p:nvSpPr>
          <p:cNvPr id="10" name="Text 5"/>
          <p:cNvSpPr/>
          <p:nvPr/>
        </p:nvSpPr>
        <p:spPr>
          <a:xfrm>
            <a:off x="4389120" y="3610000"/>
            <a:ext cx="6979615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Quasi sempre ferma: il rendimento troppo basso non la rende conveniente.</a:t>
            </a:r>
          </a:p>
        </p:txBody>
      </p:sp>
      <p:sp>
        <p:nvSpPr>
          <p:cNvPr id="11" name="Shape 2"/>
          <p:cNvSpPr/>
          <p:nvPr/>
        </p:nvSpPr>
        <p:spPr>
          <a:xfrm>
            <a:off x="548639" y="4460000"/>
            <a:ext cx="11094415" cy="780000"/>
          </a:xfrm>
          <a:prstGeom prst="roundRect">
            <a:avLst>
              <a:gd name="adj" fmla="val 6557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16" name="Shape 3"/>
          <p:cNvSpPr/>
          <p:nvPr/>
        </p:nvSpPr>
        <p:spPr>
          <a:xfrm>
            <a:off x="548640" y="4460000"/>
            <a:ext cx="128016" cy="780000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7" name="Text 4"/>
          <p:cNvSpPr/>
          <p:nvPr/>
        </p:nvSpPr>
        <p:spPr>
          <a:xfrm>
            <a:off x="914400" y="4520000"/>
            <a:ext cx="329184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50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</a:t>
            </a:r>
            <a:endParaRPr lang="it-IT" sz="1500" noProof="0" dirty="0"/>
          </a:p>
        </p:txBody>
      </p:sp>
      <p:sp>
        <p:nvSpPr>
          <p:cNvPr id="18" name="Text 5"/>
          <p:cNvSpPr/>
          <p:nvPr/>
        </p:nvSpPr>
        <p:spPr>
          <a:xfrm>
            <a:off x="4389120" y="4520000"/>
            <a:ext cx="6979615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Assorbe il grosso: importa energia nell'89% delle ore dell'anno.</a:t>
            </a:r>
          </a:p>
        </p:txBody>
      </p:sp>
      <p:sp>
        <p:nvSpPr>
          <p:cNvPr id="19" name="Shape 2"/>
          <p:cNvSpPr/>
          <p:nvPr/>
        </p:nvSpPr>
        <p:spPr>
          <a:xfrm>
            <a:off x="548639" y="5370000"/>
            <a:ext cx="11094415" cy="780000"/>
          </a:xfrm>
          <a:prstGeom prst="roundRect">
            <a:avLst>
              <a:gd name="adj" fmla="val 6557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 noProof="0" dirty="0"/>
          </a:p>
        </p:txBody>
      </p:sp>
      <p:sp>
        <p:nvSpPr>
          <p:cNvPr id="20" name="Shape 3"/>
          <p:cNvSpPr/>
          <p:nvPr/>
        </p:nvSpPr>
        <p:spPr>
          <a:xfrm>
            <a:off x="548640" y="5370000"/>
            <a:ext cx="128016" cy="780000"/>
          </a:xfrm>
          <a:prstGeom prst="roundRect">
            <a:avLst/>
          </a:prstGeom>
          <a:solidFill>
            <a:srgbClr val="C98A0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1" name="Text 4"/>
          <p:cNvSpPr/>
          <p:nvPr/>
        </p:nvSpPr>
        <p:spPr>
          <a:xfrm>
            <a:off x="914400" y="5430000"/>
            <a:ext cx="329184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t-IT" sz="1500" b="1" noProof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</a:t>
            </a:r>
            <a:endParaRPr lang="it-IT" sz="1500" noProof="0" dirty="0"/>
          </a:p>
        </p:txBody>
      </p:sp>
      <p:sp>
        <p:nvSpPr>
          <p:cNvPr id="22" name="Text 5"/>
          <p:cNvSpPr/>
          <p:nvPr/>
        </p:nvSpPr>
        <p:spPr>
          <a:xfrm>
            <a:off x="4389120" y="5430000"/>
            <a:ext cx="6979615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it-IT" sz="1200" dirty="0">
                <a:solidFill>
                  <a:srgbClr val="20303D"/>
                </a:solidFill>
                <a:latin typeface="Courier New" pitchFamily="34" charset="0"/>
                <a:cs typeface="Courier New" pitchFamily="34" charset="-120"/>
              </a:rPr>
              <a:t>Sempre soddisfatto: il carico non è mai in discussione.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572000" cy="4572000"/>
          </a:xfrm>
          <a:prstGeom prst="ellipse">
            <a:avLst/>
          </a:prstGeom>
          <a:solidFill>
            <a:srgbClr val="082B4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3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 per l'attenzione</a:t>
            </a:r>
            <a:endParaRPr lang="it-IT" sz="38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</TotalTime>
  <Words>1551</Words>
  <Application>Microsoft Macintosh PowerPoint</Application>
  <PresentationFormat>Widescreen</PresentationFormat>
  <Paragraphs>249</Paragraphs>
  <Slides>22</Slides>
  <Notes>21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Courier New</vt:lpstr>
      <vt:lpstr>Helvetica Neue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claudia lara cordova</cp:lastModifiedBy>
  <cp:revision>17</cp:revision>
  <dcterms:created xsi:type="dcterms:W3CDTF">2026-08-03T13:40:22Z</dcterms:created>
  <dcterms:modified xsi:type="dcterms:W3CDTF">2026-09-12T14:41:39Z</dcterms:modified>
</cp:coreProperties>
</file>