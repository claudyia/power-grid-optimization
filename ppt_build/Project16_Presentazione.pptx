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B3D59"/>
                </a:solidFill>
                <a:latin typeface="Arial"/>
              </a:defRPr>
            </a:pPr>
            <a:r>
              <a:rPr sz="1300" b="0" i="0" u="none" strike="noStrike">
                <a:solidFill>
                  <a:srgbClr val="0B3D59"/>
                </a:solidFill>
                <a:latin typeface="Arial"/>
              </a:rPr>
              <a:t>Costo netto di mercato per scenario (milioni di EUR, anno intero)</a:t>
            </a:r>
          </a:p>
        </c:rich>
      </c:tx>
      <c:layout/>
      <c:overlay val="0"/>
    </c:title>
    <c:autoTitleDeleted val="0"/>
    <c:plotArea>
      <c:layout/>
      <c:barChart>
        <c:barDir val="col"/>
        <c:grouping val="clustered"/>
        <c:varyColors val="0"/>
        <c:ser>
          <c:idx val="0"/>
          <c:order val="0"/>
          <c:tx>
            <c:strRef>
              <c:f>Sheet1!$B$1</c:f>
              <c:strCache>
                <c:ptCount val="1"/>
                <c:pt idx="0">
                  <c:v>Gurobi</c:v>
                </c:pt>
              </c:strCache>
            </c:strRef>
          </c:tx>
          <c:spPr>
            <a:solidFill>
              <a:srgbClr val="1C7293"/>
            </a:solidFill>
            <a:effectLst/>
          </c:spPr>
          <c:invertIfNegative val="0"/>
          <c:dLbls>
            <c:numFmt formatCode="0.000" sourceLinked="0"/>
            <c:txPr>
              <a:bodyPr/>
              <a:lstStyle/>
              <a:p>
                <a:pPr>
                  <a:defRPr b="0" i="0" strike="noStrike" sz="900" u="none">
                    <a:solidFill>
                      <a:srgbClr val="20303D"/>
                    </a:solidFill>
                    <a:latin typeface="Arial"/>
                  </a:defRPr>
                </a:pPr>
              </a:p>
            </c:txPr>
            <c:showLegendKey val="0"/>
            <c:showVal val="1"/>
            <c:showCatName val="0"/>
            <c:showSerName val="0"/>
            <c:showPercent val="0"/>
            <c:showBubbleSize val="0"/>
            <c:showLeaderLines val="0"/>
          </c:dLbls>
          <c:cat>
            <c:multiLvlStrRef>
              <c:f>Sheet1!$A$2:$A$5</c:f>
              <c:multiLvlStrCache>
                <c:ptCount val="4"/>
                <c:lvl>
                  <c:pt idx="0">
                    <c:v>A · Baseline</c:v>
                  </c:pt>
                  <c:pt idx="1">
                    <c:v>B · Vuoto</c:v>
                  </c:pt>
                  <c:pt idx="2">
                    <c:v>C · Pieno</c:v>
                  </c:pt>
                  <c:pt idx="3">
                    <c:v>D · Penalità bassa</c:v>
                  </c:pt>
                </c:lvl>
              </c:multiLvlStrCache>
            </c:multiLvlStrRef>
          </c:cat>
          <c:val>
            <c:numRef>
              <c:f>Sheet1!$B$2:$B$5</c:f>
              <c:numCache>
                <c:formatCode>General</c:formatCode>
                <c:ptCount val="4"/>
                <c:pt idx="0">
                  <c:v>9.67614</c:v>
                </c:pt>
                <c:pt idx="1">
                  <c:v>9.67999</c:v>
                </c:pt>
                <c:pt idx="2">
                  <c:v>9.67247</c:v>
                </c:pt>
                <c:pt idx="3">
                  <c:v>9.67258</c:v>
                </c:pt>
              </c:numCache>
            </c:numRef>
          </c:val>
        </c:ser>
        <c:ser>
          <c:idx val="1"/>
          <c:order val="1"/>
          <c:tx>
            <c:strRef>
              <c:f>Sheet1!$C$1</c:f>
              <c:strCache>
                <c:ptCount val="1"/>
                <c:pt idx="0">
                  <c:v>HiGHS</c:v>
                </c:pt>
              </c:strCache>
            </c:strRef>
          </c:tx>
          <c:spPr>
            <a:solidFill>
              <a:srgbClr val="FFB100"/>
            </a:solidFill>
            <a:effectLst/>
          </c:spPr>
          <c:invertIfNegative val="0"/>
          <c:dLbls>
            <c:numFmt formatCode="0.000" sourceLinked="0"/>
            <c:txPr>
              <a:bodyPr/>
              <a:lstStyle/>
              <a:p>
                <a:pPr>
                  <a:defRPr b="0" i="0" strike="noStrike" sz="900" u="none">
                    <a:solidFill>
                      <a:srgbClr val="20303D"/>
                    </a:solidFill>
                    <a:latin typeface="Arial"/>
                  </a:defRPr>
                </a:pPr>
              </a:p>
            </c:txPr>
            <c:showLegendKey val="0"/>
            <c:showVal val="1"/>
            <c:showCatName val="0"/>
            <c:showSerName val="0"/>
            <c:showPercent val="0"/>
            <c:showBubbleSize val="0"/>
            <c:showLeaderLines val="0"/>
          </c:dLbls>
          <c:cat>
            <c:multiLvlStrRef>
              <c:f>Sheet1!$A$2:$A$5</c:f>
              <c:multiLvlStrCache>
                <c:ptCount val="4"/>
                <c:lvl>
                  <c:pt idx="0">
                    <c:v>A · Baseline</c:v>
                  </c:pt>
                  <c:pt idx="1">
                    <c:v>B · Vuoto</c:v>
                  </c:pt>
                  <c:pt idx="2">
                    <c:v>C · Pieno</c:v>
                  </c:pt>
                  <c:pt idx="3">
                    <c:v>D · Penalità bassa</c:v>
                  </c:pt>
                </c:lvl>
              </c:multiLvlStrCache>
            </c:multiLvlStrRef>
          </c:cat>
          <c:val>
            <c:numRef>
              <c:f>Sheet1!$C$2:$C$5</c:f>
              <c:numCache>
                <c:formatCode>General</c:formatCode>
                <c:ptCount val="4"/>
                <c:pt idx="0">
                  <c:v>9.6763</c:v>
                </c:pt>
                <c:pt idx="1">
                  <c:v>9.68006</c:v>
                </c:pt>
                <c:pt idx="2">
                  <c:v>9.67253</c:v>
                </c:pt>
                <c:pt idx="3">
                  <c:v>9.67251</c:v>
                </c:pt>
              </c:numCache>
            </c:numRef>
          </c:val>
        </c:ser>
        <c:dLbls>
          <c:numFmt formatCode="0.000" sourceLinked="0"/>
          <c:txPr>
            <a:bodyPr/>
            <a:lstStyle/>
            <a:p>
              <a:pPr>
                <a:defRPr b="0" i="0" strike="noStrike" sz="900" u="none">
                  <a:solidFill>
                    <a:srgbClr val="20303D"/>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0303D"/>
                </a:solidFill>
                <a:latin typeface="Arial"/>
              </a:defRPr>
            </a:pPr>
            <a:endParaRPr lang="en-US"/>
          </a:p>
        </c:txPr>
        <c:crossAx val="2094734552"/>
        <c:crosses val="autoZero"/>
        <c:auto val="1"/>
        <c:lblAlgn val="ctr"/>
        <c:noMultiLvlLbl val="1"/>
      </c:catAx>
      <c:valAx>
        <c:axId val="2094734552"/>
        <c:scaling>
          <c:orientation val="minMax"/>
          <c:max val="9.69"/>
          <c:min val="9.66"/>
        </c:scaling>
        <c:delete val="0"/>
        <c:axPos val="l"/>
        <c:majorGridlines>
          <c:spPr>
            <a:ln w="12700" cap="flat">
              <a:solidFill>
                <a:srgbClr val="E5EBEF"/>
              </a:solidFill>
              <a:prstDash val="solid"/>
              <a:round/>
            </a:ln>
          </c:spPr>
        </c:majorGridlines>
        <c:title>
          <c:tx>
            <c:rich>
              <a:bodyPr/>
              <a:lstStyle/>
              <a:p>
                <a:pPr>
                  <a:defRPr sz="1100" b="0" i="0" u="none" strike="noStrike">
                    <a:solidFill>
                      <a:srgbClr val="6B7A85"/>
                    </a:solidFill>
                    <a:latin typeface="Arial"/>
                  </a:defRPr>
                </a:pPr>
                <a:r>
                  <a:rPr sz="1100" b="0" i="0" u="none" strike="noStrike">
                    <a:solidFill>
                      <a:srgbClr val="6B7A85"/>
                    </a:solidFill>
                    <a:latin typeface="Arial"/>
                  </a:rPr>
                  <a:t>Milioni di EUR</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A85"/>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20303D"/>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Buongiorno a tutti. Il progetto che presento oggi è il Project 16 del corso di Innovazione e Trasformazione Digitale, modulo del professor Francesco Conte. Ho realizzato un sistema di controllo che gestisce ora per ora un impianto energetico industriale dotato di pannelli solari, pale eoliche, una batteria, un sistema a idrogeno e un collegamento alla rete elettrica. L'obiettivo è decidere continuamente come usare queste risorse per minimizzare i costi, rispettando tutti i vincoli tecnici dell'impianto.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presentazione è organizzata in sei parti. Partirò dal problema che dovevo risolvere, poi descriverò il sistema fisico dell'impianto. Spiegherò cos'è il controllo MPC, il tipo di controllo che ho usato per prendere le decisioni ora per ora. Dopodiché entrerò nel modello matematico che sta dietro ogni decisione, mostrerò come ho strutturato il codice, e concluderò con gli esperimenti che ho condotto e i risultati ottenuti, con numeri reali.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problema di partenza è questo: abbiamo un impianto che produce energia da fonti rinnovabili, ha una batteria e un sistema a idrogeno per accumulare energia, ed è collegato alla rete elettrica per comprare o vendere energia quando serve. Ogni ora bisogna decidere come gestire tutte queste risorse insieme, rispettando quattro obiettivi principali dati dalla consegna del progetto: minimizzare il costo netto di mercato, soddisfare sempre il carico dell'edificio, che non è controllabile, mantenere la batteria sempre tra il 10 e il 90 per cento di carica, e minimizzare lo spreco di energia rinnovabile, quello che in gergo si chiama curtailment.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Questo è lo schema dell'impianto. Al centro c'è un bus energetico, un punto virtuale dove tutta l'energia si incontra e deve bilanciarsi. Da un lato abbiamo le fonti rinnovabili, 4 megawatt di fotovoltaico e 8 di eolico. Dall'altro lato la rete elettrica, con cui possiamo importare fino a 12 megawatt o esportare fino a 10. In basso ci sono gli accumuli: una batteria da 1 megawatt e 1 megawattora, e un sistema a idrogeno da 20 megawattora, con un elettrolizzatore per produrlo e una fuel cell per riconvertirlo in energia. In alto c'è il carico dell'edificio, che dobbiamo sempre soddisfare e che non possiamo controllare.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Tutti questi dati arrivano da tre file forniti con il progetto. Il primo contiene la produzione rinnovabile prevista e reale per ogni ora dell'anno. Il secondo contiene i consumi dell'edificio. Il terzo è il PUN, il prezzo unico nazionale, cioè il prezzo di mercato a cui possiamo vendere l'energia in eccesso. Il prezzo di acquisto invece non arriva da nessun file: segue una regola fissa con tre fasce orarie, che ho implementato direttamente nel codice.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tipo di controllo che ho usato si chiama Model Predictive Control, o MPC. L'idea è questa: ogni ora, il sistema guarda le prossime 24 ore e calcola il piano ottimo per quel periodo, usando le previsioni disponibili in quel momento. È un po' come pianificare la settimana: siamo abbastanza sicuri di cosa succederà domani, ma il meteo di venerdì è solo una stima, e potrebbe cambiare.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Una domanda che mi sono posto subito è: se calcoliamo un piano di 24 ore, perché non lo applichiamo tutto? La risposta è che le previsioni per le ore future possono sbagliare. Quindi applichiamo solo la prima decisione del piano, quella basata sul dato vero e non su una previsione. Poi aggiorniamo lo stato reale della batteria e dell'idrogeno, e ricalcoliamo tutto da capo per l'ora successiva, con dati più aggiornati. In questo modo il sistema si corregge continuamente, invece di seguire alla cieca un piano vecchio.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calcolare il piano di ogni finestra di 24 ore, ho costruito un modello matematico di ottimizzazione con la libreria Pyomo, risolto poi con un solver, in questo caso Gurobi oppure HiGHS. Questo tipo di modello si chiama MILP, un problema lineare misto intero, e si compone di tre parti: le variabili, cioè cosa il modello può decidere; i vincoli, cioè le regole che non può violare; e la funzione obiettivo, cioè cosa deve minimizzare.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variabili del modello si dividono in tre gruppi. Ci sono le potenze continue, come quanta energia importare, esportare, o quanta caricare e scaricare la batteria. Ci sono gli stati degli accumuli, cioè il livello di carica della batteria e quello dell'idrogeno. E infine ci sono delle variabili binarie, che funzionano come interruttori: valgono solo 0 o 1, e servono a impedire scelte contraddittorie, come comprare e vendere energia nella stessa 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vincolo più importante del modello è il bilancio di potenza. In ogni singola ora, tutta l'energia che entra nel sistema, la rinnovabile non sprecata, quella comprata dalla rete, quella dalla fuel cell, la scarica della batteria, deve uguagliare esattamente tutta l'energia che esce: il carico dell'edificio, l'energia venduta, quella usata per produrre idrogeno, e quella per caricare la batteria. Questo vincolo vale per ognuna delle 24 ore della finestra, non solo per l'ora corrente.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Batteria e sistema a idrogeno seguono la stessa logica. Il livello di ogni ora dipende da quello dell'ora precedente: se carico, il livello sale; se scarico, scende. In entrambi i casi ho tenuto conto dei rendimenti reali: la batteria ha un rendimento del 95 per cento sia in carica che in scarica, mentre l'idrogeno ha un rendimento del 73 per cento per l'elettrolizzatore e del 65 per cento per la fuel cell. E naturalmente elettrolizzatore e fuel cell non possono funzionare nella stessa 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funzione obiettivo è quella che il modello cerca di minimizzare: il costo netto di mercato, cioè quanto spendiamo per comprare energia meno quanto guadagniamo vendendola, più una penalità per ogni megawatt di rinnovabile sprecato. Questa penalità non è un costo reale di mercato, ma un numero che ho scelto io per orientare il comportamento del modello. Nello script principale l'ho impostata a 1000 euro per megawattora, un valore molto più alto dei prezzi normali, proprio per rendere lo spreco l'ultima opzione possibile. Ho anche creato una variante con questa penalità abbassata quasi a zero, per vedere cosa sarebbe cambiato: ne parlo più avanti nei risultati.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Ecco come funziona in pratica il ciclo di simulazione, ora per ora. Prima si preparano i dati della finestra, con la previsione e il valore vero dell'ora corrente. Poi si risolve il modello MILP sulle 24 ore. Si applica solo la prima decisione. Si aggiorna lo stato reale di batteria e idrogeno. E infine si calcola il costo usando i dati veri, non le previsioni. Questo ciclo si ripete per ogni ora che vogliamo simulare, che sia una settimana o un anno intero.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Dal punto di vista del codice, tutto parte dalla funzione main, che mette in fila i vari passi: legge gli argomenti da riga di comando, carica i dati con load_project_data, sceglie un solver disponibile con select_solver, esegue la simulazione ora per ora con run_mpc_simulation, che a sua volta chiama solve_mpc_step per ogni singola ora, e infine salva i risultati in un file CSV e crea un grafico riassuntivo. Ho anche creato una seconda versione dello script, es.py, identica in tutto tranne che per il valore della penalità sul curtailment.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capire davvero come si comporta il sistema, non mi sono fermato a una singola simulazione. Ho ripetuto la simulazione sull'intero anno, quindi più di 6500 ore, in quattro scenari diversi: uno di base con gli accumuli a metà carica, uno con gli accumuli completamente vuoti, uno con gli accumuli completamente pieni, e uno identico al terzo ma con la penalità sul curtailment abbassata quasi a zero. Ho ripetuto ognuno di questi quattro scenari sia con il solver Gurobi che con il solver open source HiGHS, per un totale di otto simulazioni complete sull'anno.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Questo è il risultato di uno di questi esperimenti, lo scenario di base risolto con Gurobi. Il grafico ha quattro pannelli: in alto la produzione rinnovabile confrontata con il carico e con il curtailment, che resta praticamente sempre a zero; poi gli scambi controllati con rete, batteria e idrogeno; poi il livello degli accumuli, che si mantiene sempre dentro i limiti imposti; e infine il costo cumulativo di mercato, che cresce in modo quasi lineare durante l'anno.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Mettendo a confronto tutti gli otto risultati emergono due cose interessanti. Primo: il costo cambia pochissimo tra i quattro scenari, meno dello 0,1 per cento, segno che le condizioni iniziali di batteria e idrogeno contano poco su un anno intero. Secondo: la differenza tra Gurobi e HiGHS è minima, meno dello 0,01 per cento: per questo modello il solver gratuito HiGHS è più che sufficiente, senza bisogno di una licenza commerciale.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C'è un risultato che non mi aspettavo. Nello scenario D avevo abbassato la penalità sul curtailment quasi a zero, aspettandomi che il sistema sprecasse più energia rinnovabile. Invece il curtailment è rimasto a zero anche in questo caso, per tutto l'anno. Il motivo è che, su base annuale, la combinazione di batteria, idrogeno ed export in rete offre sempre abbastanza spazio per assorbire la produzione rinnovabile, anche quando gli accumuli partono già pieni. Ho osservato un vero caso di curtailment solo in un test sintetico che ho costruito apposta, con accumuli pieni e una produzione rinnovabile molto più alta del carico: in quel caso il modello ha sprecato esattamente i 3 megawatt che avevo calcolato a mano, confermando che il modello si comporta correttamente.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concludere: il modello rispetta sempre il bilancio di potenza e tutti i vincoli tecnici di batteria e idrogeno. I risultati sono praticamente identici tra il solver commerciale e quello open source, quindi non è necessario un solver a pagamento per questo tipo di problema. E il sistema riesce sempre a evitare lo spreco di rinnovabile in tutti gli scenari annuali testati. Ci sono anche dei limiti: la penalità sul curtailment e gli stati iniziali sono scelte di modellazione mie, non specificate dalla consegna, e il caso di spreco reale l'ho osservato solo in un test sintetico. Uno sviluppo futuro interessante potrebbe essere testare condizioni meteo estreme, per capire quando il curtailment diventa davvero necessario anche su dati reali.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 ringrazio per l'attenzione. Sono a disposizione per qualsiasi domanda sul modello, sul codice o sui risultati.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D59"/>
        </a:solidFill>
      </p:bgPr>
    </p:bg>
    <p:spTree>
      <p:nvGrpSpPr>
        <p:cNvPr id="1" name=""/>
        <p:cNvGrpSpPr/>
        <p:nvPr/>
      </p:nvGrpSpPr>
      <p:grpSpPr>
        <a:xfrm>
          <a:off x="0" y="0"/>
          <a:ext cx="0" cy="0"/>
          <a:chOff x="0" y="0"/>
          <a:chExt cx="0" cy="0"/>
        </a:xfrm>
      </p:grpSpPr>
      <p:sp>
        <p:nvSpPr>
          <p:cNvPr id="2" name="Shape 0"/>
          <p:cNvSpPr/>
          <p:nvPr/>
        </p:nvSpPr>
        <p:spPr>
          <a:xfrm>
            <a:off x="8899855" y="-1463040"/>
            <a:ext cx="4754880" cy="4754880"/>
          </a:xfrm>
          <a:prstGeom prst="ellipse">
            <a:avLst/>
          </a:prstGeom>
          <a:solidFill>
            <a:srgbClr val="082B40"/>
          </a:solidFill>
          <a:ln/>
        </p:spPr>
      </p:sp>
      <p:sp>
        <p:nvSpPr>
          <p:cNvPr id="3" name="Shape 1"/>
          <p:cNvSpPr/>
          <p:nvPr/>
        </p:nvSpPr>
        <p:spPr>
          <a:xfrm>
            <a:off x="10271455" y="4023360"/>
            <a:ext cx="2926080" cy="2926080"/>
          </a:xfrm>
          <a:prstGeom prst="ellipse">
            <a:avLst/>
          </a:prstGeom>
          <a:solidFill>
            <a:srgbClr val="1C7293"/>
          </a:solidFill>
          <a:ln/>
        </p:spPr>
      </p:sp>
      <p:sp>
        <p:nvSpPr>
          <p:cNvPr id="4" name="Shape 2"/>
          <p:cNvSpPr/>
          <p:nvPr/>
        </p:nvSpPr>
        <p:spPr>
          <a:xfrm>
            <a:off x="822960" y="822960"/>
            <a:ext cx="822960" cy="822960"/>
          </a:xfrm>
          <a:prstGeom prst="ellipse">
            <a:avLst/>
          </a:prstGeom>
          <a:solidFill>
            <a:srgbClr val="FFB100"/>
          </a:solidFill>
          <a:ln/>
        </p:spPr>
      </p:sp>
      <p:sp>
        <p:nvSpPr>
          <p:cNvPr id="5" name="Text 3"/>
          <p:cNvSpPr/>
          <p:nvPr/>
        </p:nvSpPr>
        <p:spPr>
          <a:xfrm>
            <a:off x="822960" y="822960"/>
            <a:ext cx="822960" cy="822960"/>
          </a:xfrm>
          <a:prstGeom prst="rect">
            <a:avLst/>
          </a:prstGeom>
          <a:noFill/>
          <a:ln/>
        </p:spPr>
        <p:txBody>
          <a:bodyPr wrap="square" lIns="0" tIns="0" rIns="0" bIns="0" rtlCol="0" anchor="ctr"/>
          <a:lstStyle/>
          <a:p>
            <a:pPr algn="ctr" indent="0" marL="0">
              <a:buNone/>
            </a:pPr>
            <a:r>
              <a:rPr lang="en-US" sz="1700" b="1" dirty="0">
                <a:solidFill>
                  <a:srgbClr val="082B40"/>
                </a:solidFill>
                <a:latin typeface="Calibri" pitchFamily="34" charset="0"/>
                <a:ea typeface="Calibri" pitchFamily="34" charset="-122"/>
                <a:cs typeface="Calibri" pitchFamily="34" charset="-120"/>
              </a:rPr>
              <a:t>P16</a:t>
            </a:r>
            <a:endParaRPr lang="en-US" sz="1700" dirty="0"/>
          </a:p>
        </p:txBody>
      </p:sp>
      <p:sp>
        <p:nvSpPr>
          <p:cNvPr id="6" name="Text 4"/>
          <p:cNvSpPr/>
          <p:nvPr/>
        </p:nvSpPr>
        <p:spPr>
          <a:xfrm>
            <a:off x="548640" y="2331720"/>
            <a:ext cx="9601200" cy="365760"/>
          </a:xfrm>
          <a:prstGeom prst="rect">
            <a:avLst/>
          </a:prstGeom>
          <a:noFill/>
          <a:ln/>
        </p:spPr>
        <p:txBody>
          <a:bodyPr wrap="square" lIns="0" tIns="0" rIns="0" bIns="0" rtlCol="0" anchor="ctr"/>
          <a:lstStyle/>
          <a:p>
            <a:pPr indent="0" marL="0">
              <a:buNone/>
            </a:pPr>
            <a:r>
              <a:rPr lang="en-US" sz="1400" b="1" spc="200" kern="0" dirty="0">
                <a:solidFill>
                  <a:srgbClr val="FFB100"/>
                </a:solidFill>
                <a:latin typeface="Calibri" pitchFamily="34" charset="0"/>
                <a:ea typeface="Calibri" pitchFamily="34" charset="-122"/>
                <a:cs typeface="Calibri" pitchFamily="34" charset="-120"/>
              </a:rPr>
              <a:t>PROJECT 16 — INNOVAZIONE E TRASFORMAZIONE DIGITALE</a:t>
            </a:r>
            <a:endParaRPr lang="en-US" sz="1400" dirty="0"/>
          </a:p>
        </p:txBody>
      </p:sp>
      <p:sp>
        <p:nvSpPr>
          <p:cNvPr id="7" name="Text 5"/>
          <p:cNvSpPr/>
          <p:nvPr/>
        </p:nvSpPr>
        <p:spPr>
          <a:xfrm>
            <a:off x="548640" y="2743200"/>
            <a:ext cx="9692640" cy="1737360"/>
          </a:xfrm>
          <a:prstGeom prst="rect">
            <a:avLst/>
          </a:prstGeom>
          <a:noFill/>
          <a:ln/>
        </p:spPr>
        <p:txBody>
          <a:bodyPr wrap="square" lIns="0" tIns="0" rIns="0" bIns="0" rtlCol="0" anchor="ctr"/>
          <a:lstStyle/>
          <a:p>
            <a:pPr indent="0" marL="0">
              <a:lnSpc>
                <a:spcPct val="105000"/>
              </a:lnSpc>
              <a:buNone/>
            </a:pPr>
            <a:r>
              <a:rPr lang="en-US" sz="4200" b="1" dirty="0">
                <a:solidFill>
                  <a:srgbClr val="FFFFFF"/>
                </a:solidFill>
                <a:latin typeface="Cambria" pitchFamily="34" charset="0"/>
                <a:ea typeface="Cambria" pitchFamily="34" charset="-122"/>
                <a:cs typeface="Cambria" pitchFamily="34" charset="-120"/>
              </a:rPr>
              <a:t>Controllo MPC di un sistema</a:t>
            </a:r>
            <a:endParaRPr lang="en-US" sz="4200" dirty="0"/>
          </a:p>
          <a:p>
            <a:pPr indent="0" marL="0">
              <a:lnSpc>
                <a:spcPct val="105000"/>
              </a:lnSpc>
              <a:buNone/>
            </a:pPr>
            <a:r>
              <a:rPr lang="en-US" sz="4200" b="1" dirty="0">
                <a:solidFill>
                  <a:srgbClr val="FFFFFF"/>
                </a:solidFill>
                <a:latin typeface="Cambria" pitchFamily="34" charset="0"/>
                <a:ea typeface="Cambria" pitchFamily="34" charset="-122"/>
                <a:cs typeface="Cambria" pitchFamily="34" charset="-120"/>
              </a:rPr>
              <a:t>energetico industriale</a:t>
            </a:r>
            <a:endParaRPr lang="en-US" sz="4200" dirty="0"/>
          </a:p>
        </p:txBody>
      </p:sp>
      <p:sp>
        <p:nvSpPr>
          <p:cNvPr id="8" name="Text 6"/>
          <p:cNvSpPr/>
          <p:nvPr/>
        </p:nvSpPr>
        <p:spPr>
          <a:xfrm>
            <a:off x="548640" y="4572000"/>
            <a:ext cx="9144000" cy="731520"/>
          </a:xfrm>
          <a:prstGeom prst="rect">
            <a:avLst/>
          </a:prstGeom>
          <a:noFill/>
          <a:ln/>
        </p:spPr>
        <p:txBody>
          <a:bodyPr wrap="square" lIns="0" tIns="0" rIns="0" bIns="0" rtlCol="0" anchor="ctr"/>
          <a:lstStyle/>
          <a:p>
            <a:pPr indent="0" marL="0">
              <a:lnSpc>
                <a:spcPct val="120000"/>
              </a:lnSpc>
              <a:buNone/>
            </a:pPr>
            <a:r>
              <a:rPr lang="en-US" sz="1600" dirty="0">
                <a:solidFill>
                  <a:srgbClr val="CADCE8"/>
                </a:solidFill>
                <a:latin typeface="Calibri" pitchFamily="34" charset="0"/>
                <a:ea typeface="Calibri" pitchFamily="34" charset="-122"/>
                <a:cs typeface="Calibri" pitchFamily="34" charset="-120"/>
              </a:rPr>
              <a:t>Rinnovabili, batteria e idrogeno gestiti ora per ora con un modello</a:t>
            </a:r>
            <a:endParaRPr lang="en-US" sz="1600" dirty="0"/>
          </a:p>
          <a:p>
            <a:pPr indent="0" marL="0">
              <a:lnSpc>
                <a:spcPct val="120000"/>
              </a:lnSpc>
              <a:buNone/>
            </a:pPr>
            <a:r>
              <a:rPr lang="en-US" sz="1600" dirty="0">
                <a:solidFill>
                  <a:srgbClr val="CADCE8"/>
                </a:solidFill>
                <a:latin typeface="Calibri" pitchFamily="34" charset="0"/>
                <a:ea typeface="Calibri" pitchFamily="34" charset="-122"/>
                <a:cs typeface="Calibri" pitchFamily="34" charset="-120"/>
              </a:rPr>
              <a:t>di ottimizzazione (MILP) risolto con Pyomo</a:t>
            </a:r>
            <a:endParaRPr lang="en-US" sz="1600" dirty="0"/>
          </a:p>
        </p:txBody>
      </p:sp>
      <p:sp>
        <p:nvSpPr>
          <p:cNvPr id="9" name="Text 7"/>
          <p:cNvSpPr/>
          <p:nvPr/>
        </p:nvSpPr>
        <p:spPr>
          <a:xfrm>
            <a:off x="548640" y="6080760"/>
            <a:ext cx="10058400" cy="365760"/>
          </a:xfrm>
          <a:prstGeom prst="rect">
            <a:avLst/>
          </a:prstGeom>
          <a:noFill/>
          <a:ln/>
        </p:spPr>
        <p:txBody>
          <a:bodyPr wrap="square" lIns="0" tIns="0" rIns="0" bIns="0" rtlCol="0" anchor="ctr"/>
          <a:lstStyle/>
          <a:p>
            <a:pPr indent="0" marL="0">
              <a:buNone/>
            </a:pPr>
            <a:r>
              <a:rPr lang="en-US" sz="1200" dirty="0">
                <a:solidFill>
                  <a:srgbClr val="5FA8C7"/>
                </a:solidFill>
                <a:latin typeface="Calibri" pitchFamily="34" charset="0"/>
                <a:ea typeface="Calibri" pitchFamily="34" charset="-122"/>
                <a:cs typeface="Calibri" pitchFamily="34" charset="-120"/>
              </a:rPr>
              <a:t>Corso di Innovazione e Trasformazione Digitale, Modulo 2 — Prof. Francesco Conte (UCBM)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4415"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INDICE</a:t>
            </a:r>
            <a:endParaRPr lang="en-US" sz="1300" dirty="0"/>
          </a:p>
        </p:txBody>
      </p:sp>
      <p:sp>
        <p:nvSpPr>
          <p:cNvPr id="3" name="Text 1"/>
          <p:cNvSpPr/>
          <p:nvPr/>
        </p:nvSpPr>
        <p:spPr>
          <a:xfrm>
            <a:off x="548640" y="713232"/>
            <a:ext cx="11094415" cy="777240"/>
          </a:xfrm>
          <a:prstGeom prst="rect">
            <a:avLst/>
          </a:prstGeom>
          <a:noFill/>
          <a:ln/>
        </p:spPr>
        <p:txBody>
          <a:bodyPr wrap="square" lIns="0" tIns="0" rIns="0" bIns="0" rtlCol="0" anchor="ctr"/>
          <a:lstStyle/>
          <a:p>
            <a:pPr indent="0" marL="0">
              <a:buNone/>
            </a:pPr>
            <a:r>
              <a:rPr lang="en-US" sz="3000" b="1" dirty="0">
                <a:solidFill>
                  <a:srgbClr val="0B3D59"/>
                </a:solidFill>
                <a:latin typeface="Cambria" pitchFamily="34" charset="0"/>
                <a:ea typeface="Cambria" pitchFamily="34" charset="-122"/>
                <a:cs typeface="Cambria" pitchFamily="34" charset="-120"/>
              </a:rPr>
              <a:t>Come è organizzata questa presentazione</a:t>
            </a:r>
            <a:endParaRPr lang="en-US" sz="3000" dirty="0"/>
          </a:p>
        </p:txBody>
      </p:sp>
      <p:sp>
        <p:nvSpPr>
          <p:cNvPr id="4" name="Shape 2"/>
          <p:cNvSpPr/>
          <p:nvPr/>
        </p:nvSpPr>
        <p:spPr>
          <a:xfrm>
            <a:off x="548640" y="1874520"/>
            <a:ext cx="5272888" cy="1234440"/>
          </a:xfrm>
          <a:prstGeom prst="roundRect">
            <a:avLst>
              <a:gd name="adj" fmla="val 5926"/>
            </a:avLst>
          </a:prstGeom>
          <a:solidFill>
            <a:srgbClr val="F1F5F8"/>
          </a:solidFill>
          <a:ln w="12700">
            <a:solidFill>
              <a:srgbClr val="DCE6EC"/>
            </a:solidFill>
            <a:prstDash val="solid"/>
          </a:ln>
          <a:effectLst>
            <a:outerShdw sx="100000" sy="100000" kx="0" ky="0" algn="bl" rotWithShape="0" blurRad="76200" dist="25400" dir="5400000">
              <a:srgbClr val="9AA7AF">
                <a:alpha val="25000"/>
              </a:srgbClr>
            </a:outerShdw>
          </a:effectLst>
        </p:spPr>
      </p:sp>
      <p:sp>
        <p:nvSpPr>
          <p:cNvPr id="5" name="Text 3"/>
          <p:cNvSpPr/>
          <p:nvPr/>
        </p:nvSpPr>
        <p:spPr>
          <a:xfrm>
            <a:off x="777240" y="2039112"/>
            <a:ext cx="914400" cy="914400"/>
          </a:xfrm>
          <a:prstGeom prst="rect">
            <a:avLst/>
          </a:prstGeom>
          <a:noFill/>
          <a:ln/>
        </p:spPr>
        <p:txBody>
          <a:bodyPr wrap="square" lIns="0" tIns="0" rIns="0" bIns="0" rtlCol="0" anchor="ctr"/>
          <a:lstStyle/>
          <a:p>
            <a:pPr indent="0" marL="0">
              <a:buNone/>
            </a:pPr>
            <a:r>
              <a:rPr lang="en-US" sz="3000" b="1" dirty="0">
                <a:solidFill>
                  <a:srgbClr val="FFB100"/>
                </a:solidFill>
                <a:latin typeface="Cambria" pitchFamily="34" charset="0"/>
                <a:ea typeface="Cambria" pitchFamily="34" charset="-122"/>
                <a:cs typeface="Cambria" pitchFamily="34" charset="-120"/>
              </a:rPr>
              <a:t>01</a:t>
            </a:r>
            <a:endParaRPr lang="en-US" sz="3000" dirty="0"/>
          </a:p>
        </p:txBody>
      </p:sp>
      <p:sp>
        <p:nvSpPr>
          <p:cNvPr id="6" name="Text 4"/>
          <p:cNvSpPr/>
          <p:nvPr/>
        </p:nvSpPr>
        <p:spPr>
          <a:xfrm>
            <a:off x="1600200" y="2057400"/>
            <a:ext cx="4038448" cy="365760"/>
          </a:xfrm>
          <a:prstGeom prst="rect">
            <a:avLst/>
          </a:prstGeom>
          <a:noFill/>
          <a:ln/>
        </p:spPr>
        <p:txBody>
          <a:bodyPr wrap="square" lIns="0" tIns="0" rIns="0" bIns="0" rtlCol="0" anchor="ctr"/>
          <a:lstStyle/>
          <a:p>
            <a:pPr indent="0" marL="0">
              <a:buNone/>
            </a:pPr>
            <a:r>
              <a:rPr lang="en-US" sz="1500" b="1" dirty="0">
                <a:solidFill>
                  <a:srgbClr val="0B3D59"/>
                </a:solidFill>
                <a:latin typeface="Calibri" pitchFamily="34" charset="0"/>
                <a:ea typeface="Calibri" pitchFamily="34" charset="-122"/>
                <a:cs typeface="Calibri" pitchFamily="34" charset="-120"/>
              </a:rPr>
              <a:t>Il problema</a:t>
            </a:r>
            <a:endParaRPr lang="en-US" sz="1500" dirty="0"/>
          </a:p>
        </p:txBody>
      </p:sp>
      <p:sp>
        <p:nvSpPr>
          <p:cNvPr id="7" name="Text 5"/>
          <p:cNvSpPr/>
          <p:nvPr/>
        </p:nvSpPr>
        <p:spPr>
          <a:xfrm>
            <a:off x="1600200" y="2441448"/>
            <a:ext cx="4038448" cy="594360"/>
          </a:xfrm>
          <a:prstGeom prst="rect">
            <a:avLst/>
          </a:prstGeom>
          <a:noFill/>
          <a:ln/>
        </p:spPr>
        <p:txBody>
          <a:bodyPr wrap="square" lIns="0" tIns="0" rIns="0" bIns="0" rtlCol="0" anchor="ctr"/>
          <a:lstStyle/>
          <a:p>
            <a:pPr indent="0" marL="0">
              <a:lnSpc>
                <a:spcPct val="115000"/>
              </a:lnSpc>
              <a:buNone/>
            </a:pPr>
            <a:r>
              <a:rPr lang="en-US" sz="1150" dirty="0">
                <a:solidFill>
                  <a:srgbClr val="6B7A85"/>
                </a:solidFill>
                <a:latin typeface="Calibri" pitchFamily="34" charset="0"/>
                <a:ea typeface="Calibri" pitchFamily="34" charset="-122"/>
                <a:cs typeface="Calibri" pitchFamily="34" charset="-120"/>
              </a:rPr>
              <a:t>Cosa deve fare il sistema e perché</a:t>
            </a:r>
            <a:endParaRPr lang="en-US" sz="1150" dirty="0"/>
          </a:p>
        </p:txBody>
      </p:sp>
      <p:sp>
        <p:nvSpPr>
          <p:cNvPr id="8" name="Shape 6"/>
          <p:cNvSpPr/>
          <p:nvPr/>
        </p:nvSpPr>
        <p:spPr>
          <a:xfrm>
            <a:off x="6370168" y="1874520"/>
            <a:ext cx="5272888" cy="1234440"/>
          </a:xfrm>
          <a:prstGeom prst="roundRect">
            <a:avLst>
              <a:gd name="adj" fmla="val 5926"/>
            </a:avLst>
          </a:prstGeom>
          <a:solidFill>
            <a:srgbClr val="F1F5F8"/>
          </a:solidFill>
          <a:ln w="12700">
            <a:solidFill>
              <a:srgbClr val="DCE6EC"/>
            </a:solidFill>
            <a:prstDash val="solid"/>
          </a:ln>
          <a:effectLst>
            <a:outerShdw sx="100000" sy="100000" kx="0" ky="0" algn="bl" rotWithShape="0" blurRad="76200" dist="25400" dir="5400000">
              <a:srgbClr val="9AA7AF">
                <a:alpha val="25000"/>
              </a:srgbClr>
            </a:outerShdw>
          </a:effectLst>
        </p:spPr>
      </p:sp>
      <p:sp>
        <p:nvSpPr>
          <p:cNvPr id="9" name="Text 7"/>
          <p:cNvSpPr/>
          <p:nvPr/>
        </p:nvSpPr>
        <p:spPr>
          <a:xfrm>
            <a:off x="6598768" y="2039112"/>
            <a:ext cx="914400" cy="914400"/>
          </a:xfrm>
          <a:prstGeom prst="rect">
            <a:avLst/>
          </a:prstGeom>
          <a:noFill/>
          <a:ln/>
        </p:spPr>
        <p:txBody>
          <a:bodyPr wrap="square" lIns="0" tIns="0" rIns="0" bIns="0" rtlCol="0" anchor="ctr"/>
          <a:lstStyle/>
          <a:p>
            <a:pPr indent="0" marL="0">
              <a:buNone/>
            </a:pPr>
            <a:r>
              <a:rPr lang="en-US" sz="3000" b="1" dirty="0">
                <a:solidFill>
                  <a:srgbClr val="FFB100"/>
                </a:solidFill>
                <a:latin typeface="Cambria" pitchFamily="34" charset="0"/>
                <a:ea typeface="Cambria" pitchFamily="34" charset="-122"/>
                <a:cs typeface="Cambria" pitchFamily="34" charset="-120"/>
              </a:rPr>
              <a:t>02</a:t>
            </a:r>
            <a:endParaRPr lang="en-US" sz="3000" dirty="0"/>
          </a:p>
        </p:txBody>
      </p:sp>
      <p:sp>
        <p:nvSpPr>
          <p:cNvPr id="10" name="Text 8"/>
          <p:cNvSpPr/>
          <p:nvPr/>
        </p:nvSpPr>
        <p:spPr>
          <a:xfrm>
            <a:off x="7421728" y="2057400"/>
            <a:ext cx="4038448" cy="365760"/>
          </a:xfrm>
          <a:prstGeom prst="rect">
            <a:avLst/>
          </a:prstGeom>
          <a:noFill/>
          <a:ln/>
        </p:spPr>
        <p:txBody>
          <a:bodyPr wrap="square" lIns="0" tIns="0" rIns="0" bIns="0" rtlCol="0" anchor="ctr"/>
          <a:lstStyle/>
          <a:p>
            <a:pPr indent="0" marL="0">
              <a:buNone/>
            </a:pPr>
            <a:r>
              <a:rPr lang="en-US" sz="1500" b="1" dirty="0">
                <a:solidFill>
                  <a:srgbClr val="0B3D59"/>
                </a:solidFill>
                <a:latin typeface="Calibri" pitchFamily="34" charset="0"/>
                <a:ea typeface="Calibri" pitchFamily="34" charset="-122"/>
                <a:cs typeface="Calibri" pitchFamily="34" charset="-120"/>
              </a:rPr>
              <a:t>Il sistema fisico</a:t>
            </a:r>
            <a:endParaRPr lang="en-US" sz="1500" dirty="0"/>
          </a:p>
        </p:txBody>
      </p:sp>
      <p:sp>
        <p:nvSpPr>
          <p:cNvPr id="11" name="Text 9"/>
          <p:cNvSpPr/>
          <p:nvPr/>
        </p:nvSpPr>
        <p:spPr>
          <a:xfrm>
            <a:off x="7421728" y="2441448"/>
            <a:ext cx="4038448" cy="594360"/>
          </a:xfrm>
          <a:prstGeom prst="rect">
            <a:avLst/>
          </a:prstGeom>
          <a:noFill/>
          <a:ln/>
        </p:spPr>
        <p:txBody>
          <a:bodyPr wrap="square" lIns="0" tIns="0" rIns="0" bIns="0" rtlCol="0" anchor="ctr"/>
          <a:lstStyle/>
          <a:p>
            <a:pPr indent="0" marL="0">
              <a:lnSpc>
                <a:spcPct val="115000"/>
              </a:lnSpc>
              <a:buNone/>
            </a:pPr>
            <a:r>
              <a:rPr lang="en-US" sz="1150" dirty="0">
                <a:solidFill>
                  <a:srgbClr val="6B7A85"/>
                </a:solidFill>
                <a:latin typeface="Calibri" pitchFamily="34" charset="0"/>
                <a:ea typeface="Calibri" pitchFamily="34" charset="-122"/>
                <a:cs typeface="Calibri" pitchFamily="34" charset="-120"/>
              </a:rPr>
              <a:t>Rinnovabili, batteria, idrogeno, rete</a:t>
            </a:r>
            <a:endParaRPr lang="en-US" sz="1150" dirty="0"/>
          </a:p>
        </p:txBody>
      </p:sp>
      <p:sp>
        <p:nvSpPr>
          <p:cNvPr id="12" name="Shape 10"/>
          <p:cNvSpPr/>
          <p:nvPr/>
        </p:nvSpPr>
        <p:spPr>
          <a:xfrm>
            <a:off x="548640" y="3337560"/>
            <a:ext cx="5272888" cy="1234440"/>
          </a:xfrm>
          <a:prstGeom prst="roundRect">
            <a:avLst>
              <a:gd name="adj" fmla="val 5926"/>
            </a:avLst>
          </a:prstGeom>
          <a:solidFill>
            <a:srgbClr val="F1F5F8"/>
          </a:solidFill>
          <a:ln w="12700">
            <a:solidFill>
              <a:srgbClr val="DCE6EC"/>
            </a:solidFill>
            <a:prstDash val="solid"/>
          </a:ln>
          <a:effectLst>
            <a:outerShdw sx="100000" sy="100000" kx="0" ky="0" algn="bl" rotWithShape="0" blurRad="76200" dist="25400" dir="5400000">
              <a:srgbClr val="9AA7AF">
                <a:alpha val="25000"/>
              </a:srgbClr>
            </a:outerShdw>
          </a:effectLst>
        </p:spPr>
      </p:sp>
      <p:sp>
        <p:nvSpPr>
          <p:cNvPr id="13" name="Text 11"/>
          <p:cNvSpPr/>
          <p:nvPr/>
        </p:nvSpPr>
        <p:spPr>
          <a:xfrm>
            <a:off x="777240" y="3502152"/>
            <a:ext cx="914400" cy="914400"/>
          </a:xfrm>
          <a:prstGeom prst="rect">
            <a:avLst/>
          </a:prstGeom>
          <a:noFill/>
          <a:ln/>
        </p:spPr>
        <p:txBody>
          <a:bodyPr wrap="square" lIns="0" tIns="0" rIns="0" bIns="0" rtlCol="0" anchor="ctr"/>
          <a:lstStyle/>
          <a:p>
            <a:pPr indent="0" marL="0">
              <a:buNone/>
            </a:pPr>
            <a:r>
              <a:rPr lang="en-US" sz="3000" b="1" dirty="0">
                <a:solidFill>
                  <a:srgbClr val="FFB100"/>
                </a:solidFill>
                <a:latin typeface="Cambria" pitchFamily="34" charset="0"/>
                <a:ea typeface="Cambria" pitchFamily="34" charset="-122"/>
                <a:cs typeface="Cambria" pitchFamily="34" charset="-120"/>
              </a:rPr>
              <a:t>03</a:t>
            </a:r>
            <a:endParaRPr lang="en-US" sz="3000" dirty="0"/>
          </a:p>
        </p:txBody>
      </p:sp>
      <p:sp>
        <p:nvSpPr>
          <p:cNvPr id="14" name="Text 12"/>
          <p:cNvSpPr/>
          <p:nvPr/>
        </p:nvSpPr>
        <p:spPr>
          <a:xfrm>
            <a:off x="1600200" y="3520440"/>
            <a:ext cx="4038448" cy="365760"/>
          </a:xfrm>
          <a:prstGeom prst="rect">
            <a:avLst/>
          </a:prstGeom>
          <a:noFill/>
          <a:ln/>
        </p:spPr>
        <p:txBody>
          <a:bodyPr wrap="square" lIns="0" tIns="0" rIns="0" bIns="0" rtlCol="0" anchor="ctr"/>
          <a:lstStyle/>
          <a:p>
            <a:pPr indent="0" marL="0">
              <a:buNone/>
            </a:pPr>
            <a:r>
              <a:rPr lang="en-US" sz="1500" b="1" dirty="0">
                <a:solidFill>
                  <a:srgbClr val="0B3D59"/>
                </a:solidFill>
                <a:latin typeface="Calibri" pitchFamily="34" charset="0"/>
                <a:ea typeface="Calibri" pitchFamily="34" charset="-122"/>
                <a:cs typeface="Calibri" pitchFamily="34" charset="-120"/>
              </a:rPr>
              <a:t>Il controllo MPC</a:t>
            </a:r>
            <a:endParaRPr lang="en-US" sz="1500" dirty="0"/>
          </a:p>
        </p:txBody>
      </p:sp>
      <p:sp>
        <p:nvSpPr>
          <p:cNvPr id="15" name="Text 13"/>
          <p:cNvSpPr/>
          <p:nvPr/>
        </p:nvSpPr>
        <p:spPr>
          <a:xfrm>
            <a:off x="1600200" y="3904488"/>
            <a:ext cx="4038448" cy="594360"/>
          </a:xfrm>
          <a:prstGeom prst="rect">
            <a:avLst/>
          </a:prstGeom>
          <a:noFill/>
          <a:ln/>
        </p:spPr>
        <p:txBody>
          <a:bodyPr wrap="square" lIns="0" tIns="0" rIns="0" bIns="0" rtlCol="0" anchor="ctr"/>
          <a:lstStyle/>
          <a:p>
            <a:pPr indent="0" marL="0">
              <a:lnSpc>
                <a:spcPct val="115000"/>
              </a:lnSpc>
              <a:buNone/>
            </a:pPr>
            <a:r>
              <a:rPr lang="en-US" sz="1150" dirty="0">
                <a:solidFill>
                  <a:srgbClr val="6B7A85"/>
                </a:solidFill>
                <a:latin typeface="Calibri" pitchFamily="34" charset="0"/>
                <a:ea typeface="Calibri" pitchFamily="34" charset="-122"/>
                <a:cs typeface="Calibri" pitchFamily="34" charset="-120"/>
              </a:rPr>
              <a:t>Come si decide ora per ora</a:t>
            </a:r>
            <a:endParaRPr lang="en-US" sz="1150" dirty="0"/>
          </a:p>
        </p:txBody>
      </p:sp>
      <p:sp>
        <p:nvSpPr>
          <p:cNvPr id="16" name="Shape 14"/>
          <p:cNvSpPr/>
          <p:nvPr/>
        </p:nvSpPr>
        <p:spPr>
          <a:xfrm>
            <a:off x="6370168" y="3337560"/>
            <a:ext cx="5272888" cy="1234440"/>
          </a:xfrm>
          <a:prstGeom prst="roundRect">
            <a:avLst>
              <a:gd name="adj" fmla="val 5926"/>
            </a:avLst>
          </a:prstGeom>
          <a:solidFill>
            <a:srgbClr val="F1F5F8"/>
          </a:solidFill>
          <a:ln w="12700">
            <a:solidFill>
              <a:srgbClr val="DCE6EC"/>
            </a:solidFill>
            <a:prstDash val="solid"/>
          </a:ln>
          <a:effectLst>
            <a:outerShdw sx="100000" sy="100000" kx="0" ky="0" algn="bl" rotWithShape="0" blurRad="76200" dist="25400" dir="5400000">
              <a:srgbClr val="9AA7AF">
                <a:alpha val="25000"/>
              </a:srgbClr>
            </a:outerShdw>
          </a:effectLst>
        </p:spPr>
      </p:sp>
      <p:sp>
        <p:nvSpPr>
          <p:cNvPr id="17" name="Text 15"/>
          <p:cNvSpPr/>
          <p:nvPr/>
        </p:nvSpPr>
        <p:spPr>
          <a:xfrm>
            <a:off x="6598768" y="3502152"/>
            <a:ext cx="914400" cy="914400"/>
          </a:xfrm>
          <a:prstGeom prst="rect">
            <a:avLst/>
          </a:prstGeom>
          <a:noFill/>
          <a:ln/>
        </p:spPr>
        <p:txBody>
          <a:bodyPr wrap="square" lIns="0" tIns="0" rIns="0" bIns="0" rtlCol="0" anchor="ctr"/>
          <a:lstStyle/>
          <a:p>
            <a:pPr indent="0" marL="0">
              <a:buNone/>
            </a:pPr>
            <a:r>
              <a:rPr lang="en-US" sz="3000" b="1" dirty="0">
                <a:solidFill>
                  <a:srgbClr val="FFB100"/>
                </a:solidFill>
                <a:latin typeface="Cambria" pitchFamily="34" charset="0"/>
                <a:ea typeface="Cambria" pitchFamily="34" charset="-122"/>
                <a:cs typeface="Cambria" pitchFamily="34" charset="-120"/>
              </a:rPr>
              <a:t>04</a:t>
            </a:r>
            <a:endParaRPr lang="en-US" sz="3000" dirty="0"/>
          </a:p>
        </p:txBody>
      </p:sp>
      <p:sp>
        <p:nvSpPr>
          <p:cNvPr id="18" name="Text 16"/>
          <p:cNvSpPr/>
          <p:nvPr/>
        </p:nvSpPr>
        <p:spPr>
          <a:xfrm>
            <a:off x="7421728" y="3520440"/>
            <a:ext cx="4038448" cy="365760"/>
          </a:xfrm>
          <a:prstGeom prst="rect">
            <a:avLst/>
          </a:prstGeom>
          <a:noFill/>
          <a:ln/>
        </p:spPr>
        <p:txBody>
          <a:bodyPr wrap="square" lIns="0" tIns="0" rIns="0" bIns="0" rtlCol="0" anchor="ctr"/>
          <a:lstStyle/>
          <a:p>
            <a:pPr indent="0" marL="0">
              <a:buNone/>
            </a:pPr>
            <a:r>
              <a:rPr lang="en-US" sz="1500" b="1" dirty="0">
                <a:solidFill>
                  <a:srgbClr val="0B3D59"/>
                </a:solidFill>
                <a:latin typeface="Calibri" pitchFamily="34" charset="0"/>
                <a:ea typeface="Calibri" pitchFamily="34" charset="-122"/>
                <a:cs typeface="Calibri" pitchFamily="34" charset="-120"/>
              </a:rPr>
              <a:t>Il modello matematico</a:t>
            </a:r>
            <a:endParaRPr lang="en-US" sz="1500" dirty="0"/>
          </a:p>
        </p:txBody>
      </p:sp>
      <p:sp>
        <p:nvSpPr>
          <p:cNvPr id="19" name="Text 17"/>
          <p:cNvSpPr/>
          <p:nvPr/>
        </p:nvSpPr>
        <p:spPr>
          <a:xfrm>
            <a:off x="7421728" y="3904488"/>
            <a:ext cx="4038448" cy="594360"/>
          </a:xfrm>
          <a:prstGeom prst="rect">
            <a:avLst/>
          </a:prstGeom>
          <a:noFill/>
          <a:ln/>
        </p:spPr>
        <p:txBody>
          <a:bodyPr wrap="square" lIns="0" tIns="0" rIns="0" bIns="0" rtlCol="0" anchor="ctr"/>
          <a:lstStyle/>
          <a:p>
            <a:pPr indent="0" marL="0">
              <a:lnSpc>
                <a:spcPct val="115000"/>
              </a:lnSpc>
              <a:buNone/>
            </a:pPr>
            <a:r>
              <a:rPr lang="en-US" sz="1150" dirty="0">
                <a:solidFill>
                  <a:srgbClr val="6B7A85"/>
                </a:solidFill>
                <a:latin typeface="Calibri" pitchFamily="34" charset="0"/>
                <a:ea typeface="Calibri" pitchFamily="34" charset="-122"/>
                <a:cs typeface="Calibri" pitchFamily="34" charset="-120"/>
              </a:rPr>
              <a:t>Variabili, vincoli, obiettivo</a:t>
            </a:r>
            <a:endParaRPr lang="en-US" sz="1150" dirty="0"/>
          </a:p>
        </p:txBody>
      </p:sp>
      <p:sp>
        <p:nvSpPr>
          <p:cNvPr id="20" name="Shape 18"/>
          <p:cNvSpPr/>
          <p:nvPr/>
        </p:nvSpPr>
        <p:spPr>
          <a:xfrm>
            <a:off x="548640" y="4800600"/>
            <a:ext cx="5272888" cy="1234440"/>
          </a:xfrm>
          <a:prstGeom prst="roundRect">
            <a:avLst>
              <a:gd name="adj" fmla="val 5926"/>
            </a:avLst>
          </a:prstGeom>
          <a:solidFill>
            <a:srgbClr val="F1F5F8"/>
          </a:solidFill>
          <a:ln w="12700">
            <a:solidFill>
              <a:srgbClr val="DCE6EC"/>
            </a:solidFill>
            <a:prstDash val="solid"/>
          </a:ln>
          <a:effectLst>
            <a:outerShdw sx="100000" sy="100000" kx="0" ky="0" algn="bl" rotWithShape="0" blurRad="76200" dist="25400" dir="5400000">
              <a:srgbClr val="9AA7AF">
                <a:alpha val="25000"/>
              </a:srgbClr>
            </a:outerShdw>
          </a:effectLst>
        </p:spPr>
      </p:sp>
      <p:sp>
        <p:nvSpPr>
          <p:cNvPr id="21" name="Text 19"/>
          <p:cNvSpPr/>
          <p:nvPr/>
        </p:nvSpPr>
        <p:spPr>
          <a:xfrm>
            <a:off x="777240" y="4965192"/>
            <a:ext cx="914400" cy="914400"/>
          </a:xfrm>
          <a:prstGeom prst="rect">
            <a:avLst/>
          </a:prstGeom>
          <a:noFill/>
          <a:ln/>
        </p:spPr>
        <p:txBody>
          <a:bodyPr wrap="square" lIns="0" tIns="0" rIns="0" bIns="0" rtlCol="0" anchor="ctr"/>
          <a:lstStyle/>
          <a:p>
            <a:pPr indent="0" marL="0">
              <a:buNone/>
            </a:pPr>
            <a:r>
              <a:rPr lang="en-US" sz="3000" b="1" dirty="0">
                <a:solidFill>
                  <a:srgbClr val="FFB100"/>
                </a:solidFill>
                <a:latin typeface="Cambria" pitchFamily="34" charset="0"/>
                <a:ea typeface="Cambria" pitchFamily="34" charset="-122"/>
                <a:cs typeface="Cambria" pitchFamily="34" charset="-120"/>
              </a:rPr>
              <a:t>05</a:t>
            </a:r>
            <a:endParaRPr lang="en-US" sz="3000" dirty="0"/>
          </a:p>
        </p:txBody>
      </p:sp>
      <p:sp>
        <p:nvSpPr>
          <p:cNvPr id="22" name="Text 20"/>
          <p:cNvSpPr/>
          <p:nvPr/>
        </p:nvSpPr>
        <p:spPr>
          <a:xfrm>
            <a:off x="1600200" y="4983480"/>
            <a:ext cx="4038448" cy="365760"/>
          </a:xfrm>
          <a:prstGeom prst="rect">
            <a:avLst/>
          </a:prstGeom>
          <a:noFill/>
          <a:ln/>
        </p:spPr>
        <p:txBody>
          <a:bodyPr wrap="square" lIns="0" tIns="0" rIns="0" bIns="0" rtlCol="0" anchor="ctr"/>
          <a:lstStyle/>
          <a:p>
            <a:pPr indent="0" marL="0">
              <a:buNone/>
            </a:pPr>
            <a:r>
              <a:rPr lang="en-US" sz="1500" b="1" dirty="0">
                <a:solidFill>
                  <a:srgbClr val="0B3D59"/>
                </a:solidFill>
                <a:latin typeface="Calibri" pitchFamily="34" charset="0"/>
                <a:ea typeface="Calibri" pitchFamily="34" charset="-122"/>
                <a:cs typeface="Calibri" pitchFamily="34" charset="-120"/>
              </a:rPr>
              <a:t>Il codice</a:t>
            </a:r>
            <a:endParaRPr lang="en-US" sz="1500" dirty="0"/>
          </a:p>
        </p:txBody>
      </p:sp>
      <p:sp>
        <p:nvSpPr>
          <p:cNvPr id="23" name="Text 21"/>
          <p:cNvSpPr/>
          <p:nvPr/>
        </p:nvSpPr>
        <p:spPr>
          <a:xfrm>
            <a:off x="1600200" y="5367528"/>
            <a:ext cx="4038448" cy="594360"/>
          </a:xfrm>
          <a:prstGeom prst="rect">
            <a:avLst/>
          </a:prstGeom>
          <a:noFill/>
          <a:ln/>
        </p:spPr>
        <p:txBody>
          <a:bodyPr wrap="square" lIns="0" tIns="0" rIns="0" bIns="0" rtlCol="0" anchor="ctr"/>
          <a:lstStyle/>
          <a:p>
            <a:pPr indent="0" marL="0">
              <a:lnSpc>
                <a:spcPct val="115000"/>
              </a:lnSpc>
              <a:buNone/>
            </a:pPr>
            <a:r>
              <a:rPr lang="en-US" sz="1150" dirty="0">
                <a:solidFill>
                  <a:srgbClr val="6B7A85"/>
                </a:solidFill>
                <a:latin typeface="Calibri" pitchFamily="34" charset="0"/>
                <a:ea typeface="Calibri" pitchFamily="34" charset="-122"/>
                <a:cs typeface="Calibri" pitchFamily="34" charset="-120"/>
              </a:rPr>
              <a:t>Come è organizzato lo script</a:t>
            </a:r>
            <a:endParaRPr lang="en-US" sz="1150" dirty="0"/>
          </a:p>
        </p:txBody>
      </p:sp>
      <p:sp>
        <p:nvSpPr>
          <p:cNvPr id="24" name="Shape 22"/>
          <p:cNvSpPr/>
          <p:nvPr/>
        </p:nvSpPr>
        <p:spPr>
          <a:xfrm>
            <a:off x="6370168" y="4800600"/>
            <a:ext cx="5272888" cy="1234440"/>
          </a:xfrm>
          <a:prstGeom prst="roundRect">
            <a:avLst>
              <a:gd name="adj" fmla="val 5926"/>
            </a:avLst>
          </a:prstGeom>
          <a:solidFill>
            <a:srgbClr val="F1F5F8"/>
          </a:solidFill>
          <a:ln w="12700">
            <a:solidFill>
              <a:srgbClr val="DCE6EC"/>
            </a:solidFill>
            <a:prstDash val="solid"/>
          </a:ln>
          <a:effectLst>
            <a:outerShdw sx="100000" sy="100000" kx="0" ky="0" algn="bl" rotWithShape="0" blurRad="76200" dist="25400" dir="5400000">
              <a:srgbClr val="9AA7AF">
                <a:alpha val="25000"/>
              </a:srgbClr>
            </a:outerShdw>
          </a:effectLst>
        </p:spPr>
      </p:sp>
      <p:sp>
        <p:nvSpPr>
          <p:cNvPr id="25" name="Text 23"/>
          <p:cNvSpPr/>
          <p:nvPr/>
        </p:nvSpPr>
        <p:spPr>
          <a:xfrm>
            <a:off x="6598768" y="4965192"/>
            <a:ext cx="914400" cy="914400"/>
          </a:xfrm>
          <a:prstGeom prst="rect">
            <a:avLst/>
          </a:prstGeom>
          <a:noFill/>
          <a:ln/>
        </p:spPr>
        <p:txBody>
          <a:bodyPr wrap="square" lIns="0" tIns="0" rIns="0" bIns="0" rtlCol="0" anchor="ctr"/>
          <a:lstStyle/>
          <a:p>
            <a:pPr indent="0" marL="0">
              <a:buNone/>
            </a:pPr>
            <a:r>
              <a:rPr lang="en-US" sz="3000" b="1" dirty="0">
                <a:solidFill>
                  <a:srgbClr val="FFB100"/>
                </a:solidFill>
                <a:latin typeface="Cambria" pitchFamily="34" charset="0"/>
                <a:ea typeface="Cambria" pitchFamily="34" charset="-122"/>
                <a:cs typeface="Cambria" pitchFamily="34" charset="-120"/>
              </a:rPr>
              <a:t>06</a:t>
            </a:r>
            <a:endParaRPr lang="en-US" sz="3000" dirty="0"/>
          </a:p>
        </p:txBody>
      </p:sp>
      <p:sp>
        <p:nvSpPr>
          <p:cNvPr id="26" name="Text 24"/>
          <p:cNvSpPr/>
          <p:nvPr/>
        </p:nvSpPr>
        <p:spPr>
          <a:xfrm>
            <a:off x="7421728" y="4983480"/>
            <a:ext cx="4038448" cy="365760"/>
          </a:xfrm>
          <a:prstGeom prst="rect">
            <a:avLst/>
          </a:prstGeom>
          <a:noFill/>
          <a:ln/>
        </p:spPr>
        <p:txBody>
          <a:bodyPr wrap="square" lIns="0" tIns="0" rIns="0" bIns="0" rtlCol="0" anchor="ctr"/>
          <a:lstStyle/>
          <a:p>
            <a:pPr indent="0" marL="0">
              <a:buNone/>
            </a:pPr>
            <a:r>
              <a:rPr lang="en-US" sz="1500" b="1" dirty="0">
                <a:solidFill>
                  <a:srgbClr val="0B3D59"/>
                </a:solidFill>
                <a:latin typeface="Calibri" pitchFamily="34" charset="0"/>
                <a:ea typeface="Calibri" pitchFamily="34" charset="-122"/>
                <a:cs typeface="Calibri" pitchFamily="34" charset="-120"/>
              </a:rPr>
              <a:t>Esperimenti e risultati</a:t>
            </a:r>
            <a:endParaRPr lang="en-US" sz="1500" dirty="0"/>
          </a:p>
        </p:txBody>
      </p:sp>
      <p:sp>
        <p:nvSpPr>
          <p:cNvPr id="27" name="Text 25"/>
          <p:cNvSpPr/>
          <p:nvPr/>
        </p:nvSpPr>
        <p:spPr>
          <a:xfrm>
            <a:off x="7421728" y="5367528"/>
            <a:ext cx="4038448" cy="594360"/>
          </a:xfrm>
          <a:prstGeom prst="rect">
            <a:avLst/>
          </a:prstGeom>
          <a:noFill/>
          <a:ln/>
        </p:spPr>
        <p:txBody>
          <a:bodyPr wrap="square" lIns="0" tIns="0" rIns="0" bIns="0" rtlCol="0" anchor="ctr"/>
          <a:lstStyle/>
          <a:p>
            <a:pPr indent="0" marL="0">
              <a:lnSpc>
                <a:spcPct val="115000"/>
              </a:lnSpc>
              <a:buNone/>
            </a:pPr>
            <a:r>
              <a:rPr lang="en-US" sz="1150" dirty="0">
                <a:solidFill>
                  <a:srgbClr val="6B7A85"/>
                </a:solidFill>
                <a:latin typeface="Calibri" pitchFamily="34" charset="0"/>
                <a:ea typeface="Calibri" pitchFamily="34" charset="-122"/>
                <a:cs typeface="Calibri" pitchFamily="34" charset="-120"/>
              </a:rPr>
              <a:t>Cosa succede in pratica, con numeri veri</a:t>
            </a:r>
            <a:endParaRPr lang="en-US" sz="1150" dirty="0"/>
          </a:p>
        </p:txBody>
      </p:sp>
      <p:sp>
        <p:nvSpPr>
          <p:cNvPr id="29" name="Text 26"/>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A85"/>
                </a:solidFill>
                <a:latin typeface="Calibri" pitchFamily="34" charset="0"/>
                <a:ea typeface="Calibri" pitchFamily="34" charset="-122"/>
                <a:cs typeface="Calibri" pitchFamily="34" charset="-120"/>
              </a:rPr>
              <a:t>Project 16 — Controllo MPC di un sistema energetico industriale</a:t>
            </a:r>
            <a:endParaRPr lang="en-US" sz="900" dirty="0"/>
          </a:p>
        </p:txBody>
      </p:sp>
      <p:sp>
        <p:nvSpPr>
          <p:cNvPr id="30" name="Text 27"/>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6B7A85"/>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4415"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01 · IL PROBLEMA</a:t>
            </a:r>
            <a:endParaRPr lang="en-US" sz="1300" dirty="0"/>
          </a:p>
        </p:txBody>
      </p:sp>
      <p:sp>
        <p:nvSpPr>
          <p:cNvPr id="3" name="Text 1"/>
          <p:cNvSpPr/>
          <p:nvPr/>
        </p:nvSpPr>
        <p:spPr>
          <a:xfrm>
            <a:off x="548640" y="713232"/>
            <a:ext cx="11094415" cy="1188720"/>
          </a:xfrm>
          <a:prstGeom prst="rect">
            <a:avLst/>
          </a:prstGeom>
          <a:noFill/>
          <a:ln/>
        </p:spPr>
        <p:txBody>
          <a:bodyPr wrap="square" lIns="0" tIns="0" rIns="0" bIns="0" rtlCol="0" anchor="ctr"/>
          <a:lstStyle/>
          <a:p>
            <a:pPr indent="0" marL="0">
              <a:buNone/>
            </a:pPr>
            <a:r>
              <a:rPr lang="en-US" sz="2800" b="1" dirty="0">
                <a:solidFill>
                  <a:srgbClr val="0B3D59"/>
                </a:solidFill>
                <a:latin typeface="Cambria" pitchFamily="34" charset="0"/>
                <a:ea typeface="Cambria" pitchFamily="34" charset="-122"/>
                <a:cs typeface="Cambria" pitchFamily="34" charset="-120"/>
              </a:rPr>
              <a:t>Gestire un impianto energetico</a:t>
            </a:r>
            <a:endParaRPr lang="en-US" sz="2800" dirty="0"/>
          </a:p>
          <a:p>
            <a:pPr indent="0" marL="0">
              <a:buNone/>
            </a:pPr>
            <a:r>
              <a:rPr lang="en-US" sz="2800" b="1" dirty="0">
                <a:solidFill>
                  <a:srgbClr val="0B3D59"/>
                </a:solidFill>
                <a:latin typeface="Cambria" pitchFamily="34" charset="0"/>
                <a:ea typeface="Cambria" pitchFamily="34" charset="-122"/>
                <a:cs typeface="Cambria" pitchFamily="34" charset="-120"/>
              </a:rPr>
              <a:t>senza sprecare né soldi né energia</a:t>
            </a:r>
            <a:endParaRPr lang="en-US" sz="2800" dirty="0"/>
          </a:p>
        </p:txBody>
      </p:sp>
      <p:sp>
        <p:nvSpPr>
          <p:cNvPr id="4" name="Text 2"/>
          <p:cNvSpPr/>
          <p:nvPr/>
        </p:nvSpPr>
        <p:spPr>
          <a:xfrm>
            <a:off x="548640" y="2331720"/>
            <a:ext cx="6035040" cy="3291840"/>
          </a:xfrm>
          <a:prstGeom prst="rect">
            <a:avLst/>
          </a:prstGeom>
          <a:noFill/>
          <a:ln/>
        </p:spPr>
        <p:txBody>
          <a:bodyPr wrap="square" rtlCol="0" anchor="ctr"/>
          <a:lstStyle/>
          <a:p>
            <a:pPr marL="342900" indent="-342900">
              <a:lnSpc>
                <a:spcPct val="125000"/>
              </a:lnSpc>
              <a:spcAft>
                <a:spcPts val="1400"/>
              </a:spcAft>
              <a:buSzPct val="100000"/>
              <a:buChar char="•"/>
            </a:pPr>
            <a:r>
              <a:rPr lang="en-US" sz="1600" dirty="0">
                <a:solidFill>
                  <a:srgbClr val="20303D"/>
                </a:solidFill>
                <a:latin typeface="Calibri" pitchFamily="34" charset="0"/>
                <a:ea typeface="Calibri" pitchFamily="34" charset="-122"/>
                <a:cs typeface="Calibri" pitchFamily="34" charset="-120"/>
              </a:rPr>
              <a:t>Un impianto industriale produce energia da fonte rinnovabile, ha una batteria e un sistema a idrogeno, ed è collegato alla rete elettrica.</a:t>
            </a:r>
            <a:endParaRPr lang="en-US" sz="1600" dirty="0"/>
          </a:p>
          <a:p>
            <a:pPr marL="342900" indent="-342900">
              <a:lnSpc>
                <a:spcPct val="125000"/>
              </a:lnSpc>
              <a:spcAft>
                <a:spcPts val="1400"/>
              </a:spcAft>
              <a:buSzPct val="100000"/>
              <a:buChar char="•"/>
            </a:pPr>
            <a:r>
              <a:rPr lang="en-US" sz="1600" dirty="0">
                <a:solidFill>
                  <a:srgbClr val="20303D"/>
                </a:solidFill>
                <a:latin typeface="Calibri" pitchFamily="34" charset="0"/>
                <a:ea typeface="Calibri" pitchFamily="34" charset="-122"/>
                <a:cs typeface="Calibri" pitchFamily="34" charset="-120"/>
              </a:rPr>
              <a:t>Ogni ora bisogna decidere: quanta energia comprare o vendere, quanto caricare la batteria, quanto produrre o consumare idrogeno.</a:t>
            </a:r>
            <a:endParaRPr lang="en-US" sz="1600" dirty="0"/>
          </a:p>
          <a:p>
            <a:pPr marL="342900" indent="-342900">
              <a:lnSpc>
                <a:spcPct val="125000"/>
              </a:lnSpc>
              <a:spcAft>
                <a:spcPts val="1400"/>
              </a:spcAft>
              <a:buSzPct val="100000"/>
              <a:buChar char="•"/>
            </a:pPr>
            <a:r>
              <a:rPr lang="en-US" sz="1600" dirty="0">
                <a:solidFill>
                  <a:srgbClr val="20303D"/>
                </a:solidFill>
                <a:latin typeface="Calibri" pitchFamily="34" charset="0"/>
                <a:ea typeface="Calibri" pitchFamily="34" charset="-122"/>
                <a:cs typeface="Calibri" pitchFamily="34" charset="-120"/>
              </a:rPr>
              <a:t>L'obiettivo è minimizzare il costo, senza mai lasciare l'edificio senza energia e sprecando il meno possibile la produzione rinnovabile.</a:t>
            </a:r>
            <a:endParaRPr lang="en-US" sz="1600" dirty="0"/>
          </a:p>
        </p:txBody>
      </p:sp>
      <p:sp>
        <p:nvSpPr>
          <p:cNvPr id="5" name="Shape 3"/>
          <p:cNvSpPr/>
          <p:nvPr/>
        </p:nvSpPr>
        <p:spPr>
          <a:xfrm>
            <a:off x="7315200" y="2331720"/>
            <a:ext cx="4297680" cy="3566160"/>
          </a:xfrm>
          <a:prstGeom prst="roundRect">
            <a:avLst>
              <a:gd name="adj" fmla="val 2051"/>
            </a:avLst>
          </a:prstGeom>
          <a:solidFill>
            <a:srgbClr val="0B3D59"/>
          </a:solidFill>
          <a:ln w="12700">
            <a:solidFill>
              <a:srgbClr val="0B3D59"/>
            </a:solidFill>
            <a:prstDash val="solid"/>
          </a:ln>
        </p:spPr>
      </p:sp>
      <p:sp>
        <p:nvSpPr>
          <p:cNvPr id="6" name="Text 4"/>
          <p:cNvSpPr/>
          <p:nvPr/>
        </p:nvSpPr>
        <p:spPr>
          <a:xfrm>
            <a:off x="7635240" y="2606040"/>
            <a:ext cx="3657600" cy="548640"/>
          </a:xfrm>
          <a:prstGeom prst="rect">
            <a:avLst/>
          </a:prstGeom>
          <a:noFill/>
          <a:ln/>
        </p:spPr>
        <p:txBody>
          <a:bodyPr wrap="square" lIns="0" tIns="0" rIns="0" bIns="0" rtlCol="0" anchor="ctr"/>
          <a:lstStyle/>
          <a:p>
            <a:pPr indent="0" marL="0">
              <a:buNone/>
            </a:pPr>
            <a:r>
              <a:rPr lang="en-US" sz="1250" b="1" spc="100" kern="0" dirty="0">
                <a:solidFill>
                  <a:srgbClr val="FFB100"/>
                </a:solidFill>
                <a:latin typeface="Calibri" pitchFamily="34" charset="0"/>
                <a:ea typeface="Calibri" pitchFamily="34" charset="-122"/>
                <a:cs typeface="Calibri" pitchFamily="34" charset="-120"/>
              </a:rPr>
              <a:t>4 OBIETTIVI DA RISPETTARE</a:t>
            </a:r>
            <a:endParaRPr lang="en-US" sz="1250" dirty="0"/>
          </a:p>
          <a:p>
            <a:pPr indent="0" marL="0">
              <a:buNone/>
            </a:pPr>
            <a:r>
              <a:rPr lang="en-US" sz="1250" b="1" spc="100" kern="0" dirty="0">
                <a:solidFill>
                  <a:srgbClr val="FFB100"/>
                </a:solidFill>
                <a:latin typeface="Calibri" pitchFamily="34" charset="0"/>
                <a:ea typeface="Calibri" pitchFamily="34" charset="-122"/>
                <a:cs typeface="Calibri" pitchFamily="34" charset="-120"/>
              </a:rPr>
              <a:t>OGNI ORA</a:t>
            </a:r>
            <a:endParaRPr lang="en-US" sz="1250" dirty="0"/>
          </a:p>
        </p:txBody>
      </p:sp>
      <p:sp>
        <p:nvSpPr>
          <p:cNvPr id="7" name="Shape 5"/>
          <p:cNvSpPr/>
          <p:nvPr/>
        </p:nvSpPr>
        <p:spPr>
          <a:xfrm>
            <a:off x="7808976" y="3264408"/>
            <a:ext cx="384048" cy="384048"/>
          </a:xfrm>
          <a:prstGeom prst="ellipse">
            <a:avLst/>
          </a:prstGeom>
          <a:solidFill>
            <a:srgbClr val="FFB100"/>
          </a:solidFill>
          <a:ln/>
        </p:spPr>
      </p:sp>
      <p:sp>
        <p:nvSpPr>
          <p:cNvPr id="8" name="Text 6"/>
          <p:cNvSpPr/>
          <p:nvPr/>
        </p:nvSpPr>
        <p:spPr>
          <a:xfrm>
            <a:off x="7808976" y="3264408"/>
            <a:ext cx="384048" cy="384048"/>
          </a:xfrm>
          <a:prstGeom prst="rect">
            <a:avLst/>
          </a:prstGeom>
          <a:noFill/>
          <a:ln/>
        </p:spPr>
        <p:txBody>
          <a:bodyPr wrap="square" lIns="0" tIns="0" rIns="0" bIns="0" rtlCol="0" anchor="ctr"/>
          <a:lstStyle/>
          <a:p>
            <a:pPr algn="ctr" indent="0" marL="0">
              <a:buNone/>
            </a:pPr>
            <a:r>
              <a:rPr lang="en-US" sz="1400" b="1" dirty="0">
                <a:solidFill>
                  <a:srgbClr val="082B40"/>
                </a:solidFill>
                <a:latin typeface="Calibri" pitchFamily="34" charset="0"/>
                <a:ea typeface="Calibri" pitchFamily="34" charset="-122"/>
                <a:cs typeface="Calibri" pitchFamily="34" charset="-120"/>
              </a:rPr>
              <a:t>a</a:t>
            </a:r>
            <a:endParaRPr lang="en-US" sz="1400" dirty="0"/>
          </a:p>
        </p:txBody>
      </p:sp>
      <p:sp>
        <p:nvSpPr>
          <p:cNvPr id="9" name="Text 7"/>
          <p:cNvSpPr/>
          <p:nvPr/>
        </p:nvSpPr>
        <p:spPr>
          <a:xfrm>
            <a:off x="8366760" y="3273552"/>
            <a:ext cx="3063240" cy="502920"/>
          </a:xfrm>
          <a:prstGeom prst="rect">
            <a:avLst/>
          </a:prstGeom>
          <a:noFill/>
          <a:ln/>
        </p:spPr>
        <p:txBody>
          <a:bodyPr wrap="square" lIns="0" tIns="0" rIns="0" bIns="0" rtlCol="0" anchor="ctr"/>
          <a:lstStyle/>
          <a:p>
            <a:pPr indent="0" marL="0">
              <a:lnSpc>
                <a:spcPct val="110000"/>
              </a:lnSpc>
              <a:buNone/>
            </a:pPr>
            <a:r>
              <a:rPr lang="en-US" sz="1300" dirty="0">
                <a:solidFill>
                  <a:srgbClr val="FFFFFF"/>
                </a:solidFill>
                <a:latin typeface="Calibri" pitchFamily="34" charset="0"/>
                <a:ea typeface="Calibri" pitchFamily="34" charset="-122"/>
                <a:cs typeface="Calibri" pitchFamily="34" charset="-120"/>
              </a:rPr>
              <a:t>Minimizzare il costo netto di mercato</a:t>
            </a:r>
            <a:endParaRPr lang="en-US" sz="1300" dirty="0"/>
          </a:p>
        </p:txBody>
      </p:sp>
      <p:sp>
        <p:nvSpPr>
          <p:cNvPr id="10" name="Shape 8"/>
          <p:cNvSpPr/>
          <p:nvPr/>
        </p:nvSpPr>
        <p:spPr>
          <a:xfrm>
            <a:off x="7808976" y="3886200"/>
            <a:ext cx="384048" cy="384048"/>
          </a:xfrm>
          <a:prstGeom prst="ellipse">
            <a:avLst/>
          </a:prstGeom>
          <a:solidFill>
            <a:srgbClr val="FFB100"/>
          </a:solidFill>
          <a:ln/>
        </p:spPr>
      </p:sp>
      <p:sp>
        <p:nvSpPr>
          <p:cNvPr id="11" name="Text 9"/>
          <p:cNvSpPr/>
          <p:nvPr/>
        </p:nvSpPr>
        <p:spPr>
          <a:xfrm>
            <a:off x="7808976" y="3886200"/>
            <a:ext cx="384048" cy="384048"/>
          </a:xfrm>
          <a:prstGeom prst="rect">
            <a:avLst/>
          </a:prstGeom>
          <a:noFill/>
          <a:ln/>
        </p:spPr>
        <p:txBody>
          <a:bodyPr wrap="square" lIns="0" tIns="0" rIns="0" bIns="0" rtlCol="0" anchor="ctr"/>
          <a:lstStyle/>
          <a:p>
            <a:pPr algn="ctr" indent="0" marL="0">
              <a:buNone/>
            </a:pPr>
            <a:r>
              <a:rPr lang="en-US" sz="1400" b="1" dirty="0">
                <a:solidFill>
                  <a:srgbClr val="082B40"/>
                </a:solidFill>
                <a:latin typeface="Calibri" pitchFamily="34" charset="0"/>
                <a:ea typeface="Calibri" pitchFamily="34" charset="-122"/>
                <a:cs typeface="Calibri" pitchFamily="34" charset="-120"/>
              </a:rPr>
              <a:t>b</a:t>
            </a:r>
            <a:endParaRPr lang="en-US" sz="1400" dirty="0"/>
          </a:p>
        </p:txBody>
      </p:sp>
      <p:sp>
        <p:nvSpPr>
          <p:cNvPr id="12" name="Text 10"/>
          <p:cNvSpPr/>
          <p:nvPr/>
        </p:nvSpPr>
        <p:spPr>
          <a:xfrm>
            <a:off x="8366760" y="3895344"/>
            <a:ext cx="3063240" cy="502920"/>
          </a:xfrm>
          <a:prstGeom prst="rect">
            <a:avLst/>
          </a:prstGeom>
          <a:noFill/>
          <a:ln/>
        </p:spPr>
        <p:txBody>
          <a:bodyPr wrap="square" lIns="0" tIns="0" rIns="0" bIns="0" rtlCol="0" anchor="ctr"/>
          <a:lstStyle/>
          <a:p>
            <a:pPr indent="0" marL="0">
              <a:lnSpc>
                <a:spcPct val="110000"/>
              </a:lnSpc>
              <a:buNone/>
            </a:pPr>
            <a:r>
              <a:rPr lang="en-US" sz="1300" dirty="0">
                <a:solidFill>
                  <a:srgbClr val="FFFFFF"/>
                </a:solidFill>
                <a:latin typeface="Calibri" pitchFamily="34" charset="0"/>
                <a:ea typeface="Calibri" pitchFamily="34" charset="-122"/>
                <a:cs typeface="Calibri" pitchFamily="34" charset="-120"/>
              </a:rPr>
              <a:t>Soddisfare sempre il carico dell'edificio</a:t>
            </a:r>
            <a:endParaRPr lang="en-US" sz="1300" dirty="0"/>
          </a:p>
        </p:txBody>
      </p:sp>
      <p:sp>
        <p:nvSpPr>
          <p:cNvPr id="13" name="Shape 11"/>
          <p:cNvSpPr/>
          <p:nvPr/>
        </p:nvSpPr>
        <p:spPr>
          <a:xfrm>
            <a:off x="7808976" y="4507992"/>
            <a:ext cx="384048" cy="384048"/>
          </a:xfrm>
          <a:prstGeom prst="ellipse">
            <a:avLst/>
          </a:prstGeom>
          <a:solidFill>
            <a:srgbClr val="FFB100"/>
          </a:solidFill>
          <a:ln/>
        </p:spPr>
      </p:sp>
      <p:sp>
        <p:nvSpPr>
          <p:cNvPr id="14" name="Text 12"/>
          <p:cNvSpPr/>
          <p:nvPr/>
        </p:nvSpPr>
        <p:spPr>
          <a:xfrm>
            <a:off x="7808976" y="4507992"/>
            <a:ext cx="384048" cy="384048"/>
          </a:xfrm>
          <a:prstGeom prst="rect">
            <a:avLst/>
          </a:prstGeom>
          <a:noFill/>
          <a:ln/>
        </p:spPr>
        <p:txBody>
          <a:bodyPr wrap="square" lIns="0" tIns="0" rIns="0" bIns="0" rtlCol="0" anchor="ctr"/>
          <a:lstStyle/>
          <a:p>
            <a:pPr algn="ctr" indent="0" marL="0">
              <a:buNone/>
            </a:pPr>
            <a:r>
              <a:rPr lang="en-US" sz="1400" b="1" dirty="0">
                <a:solidFill>
                  <a:srgbClr val="082B40"/>
                </a:solidFill>
                <a:latin typeface="Calibri" pitchFamily="34" charset="0"/>
                <a:ea typeface="Calibri" pitchFamily="34" charset="-122"/>
                <a:cs typeface="Calibri" pitchFamily="34" charset="-120"/>
              </a:rPr>
              <a:t>c</a:t>
            </a:r>
            <a:endParaRPr lang="en-US" sz="1400" dirty="0"/>
          </a:p>
        </p:txBody>
      </p:sp>
      <p:sp>
        <p:nvSpPr>
          <p:cNvPr id="15" name="Text 13"/>
          <p:cNvSpPr/>
          <p:nvPr/>
        </p:nvSpPr>
        <p:spPr>
          <a:xfrm>
            <a:off x="8366760" y="4517136"/>
            <a:ext cx="3063240" cy="502920"/>
          </a:xfrm>
          <a:prstGeom prst="rect">
            <a:avLst/>
          </a:prstGeom>
          <a:noFill/>
          <a:ln/>
        </p:spPr>
        <p:txBody>
          <a:bodyPr wrap="square" lIns="0" tIns="0" rIns="0" bIns="0" rtlCol="0" anchor="ctr"/>
          <a:lstStyle/>
          <a:p>
            <a:pPr indent="0" marL="0">
              <a:lnSpc>
                <a:spcPct val="110000"/>
              </a:lnSpc>
              <a:buNone/>
            </a:pPr>
            <a:r>
              <a:rPr lang="en-US" sz="1300" dirty="0">
                <a:solidFill>
                  <a:srgbClr val="FFFFFF"/>
                </a:solidFill>
                <a:latin typeface="Calibri" pitchFamily="34" charset="0"/>
                <a:ea typeface="Calibri" pitchFamily="34" charset="-122"/>
                <a:cs typeface="Calibri" pitchFamily="34" charset="-120"/>
              </a:rPr>
              <a:t>Batteria sempre tra il 10% e il 90%</a:t>
            </a:r>
            <a:endParaRPr lang="en-US" sz="1300" dirty="0"/>
          </a:p>
        </p:txBody>
      </p:sp>
      <p:sp>
        <p:nvSpPr>
          <p:cNvPr id="16" name="Shape 14"/>
          <p:cNvSpPr/>
          <p:nvPr/>
        </p:nvSpPr>
        <p:spPr>
          <a:xfrm>
            <a:off x="7808976" y="5129784"/>
            <a:ext cx="384048" cy="384048"/>
          </a:xfrm>
          <a:prstGeom prst="ellipse">
            <a:avLst/>
          </a:prstGeom>
          <a:solidFill>
            <a:srgbClr val="FFB100"/>
          </a:solidFill>
          <a:ln/>
        </p:spPr>
      </p:sp>
      <p:sp>
        <p:nvSpPr>
          <p:cNvPr id="17" name="Text 15"/>
          <p:cNvSpPr/>
          <p:nvPr/>
        </p:nvSpPr>
        <p:spPr>
          <a:xfrm>
            <a:off x="7808976" y="5129784"/>
            <a:ext cx="384048" cy="384048"/>
          </a:xfrm>
          <a:prstGeom prst="rect">
            <a:avLst/>
          </a:prstGeom>
          <a:noFill/>
          <a:ln/>
        </p:spPr>
        <p:txBody>
          <a:bodyPr wrap="square" lIns="0" tIns="0" rIns="0" bIns="0" rtlCol="0" anchor="ctr"/>
          <a:lstStyle/>
          <a:p>
            <a:pPr algn="ctr" indent="0" marL="0">
              <a:buNone/>
            </a:pPr>
            <a:r>
              <a:rPr lang="en-US" sz="1400" b="1" dirty="0">
                <a:solidFill>
                  <a:srgbClr val="082B40"/>
                </a:solidFill>
                <a:latin typeface="Calibri" pitchFamily="34" charset="0"/>
                <a:ea typeface="Calibri" pitchFamily="34" charset="-122"/>
                <a:cs typeface="Calibri" pitchFamily="34" charset="-120"/>
              </a:rPr>
              <a:t>d</a:t>
            </a:r>
            <a:endParaRPr lang="en-US" sz="1400" dirty="0"/>
          </a:p>
        </p:txBody>
      </p:sp>
      <p:sp>
        <p:nvSpPr>
          <p:cNvPr id="18" name="Text 16"/>
          <p:cNvSpPr/>
          <p:nvPr/>
        </p:nvSpPr>
        <p:spPr>
          <a:xfrm>
            <a:off x="8366760" y="5138928"/>
            <a:ext cx="3063240" cy="502920"/>
          </a:xfrm>
          <a:prstGeom prst="rect">
            <a:avLst/>
          </a:prstGeom>
          <a:noFill/>
          <a:ln/>
        </p:spPr>
        <p:txBody>
          <a:bodyPr wrap="square" lIns="0" tIns="0" rIns="0" bIns="0" rtlCol="0" anchor="ctr"/>
          <a:lstStyle/>
          <a:p>
            <a:pPr indent="0" marL="0">
              <a:lnSpc>
                <a:spcPct val="110000"/>
              </a:lnSpc>
              <a:buNone/>
            </a:pPr>
            <a:r>
              <a:rPr lang="en-US" sz="1300" dirty="0">
                <a:solidFill>
                  <a:srgbClr val="FFFFFF"/>
                </a:solidFill>
                <a:latin typeface="Calibri" pitchFamily="34" charset="0"/>
                <a:ea typeface="Calibri" pitchFamily="34" charset="-122"/>
                <a:cs typeface="Calibri" pitchFamily="34" charset="-120"/>
              </a:rPr>
              <a:t>Minimizzare lo spreco di rinnovabile</a:t>
            </a:r>
            <a:endParaRPr lang="en-US" sz="1300" dirty="0"/>
          </a:p>
        </p:txBody>
      </p:sp>
      <p:sp>
        <p:nvSpPr>
          <p:cNvPr id="20" name="Text 17"/>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A85"/>
                </a:solidFill>
                <a:latin typeface="Calibri" pitchFamily="34" charset="0"/>
                <a:ea typeface="Calibri" pitchFamily="34" charset="-122"/>
                <a:cs typeface="Calibri" pitchFamily="34" charset="-120"/>
              </a:rPr>
              <a:t>Project 16 — Controllo MPC di un sistema energetico industriale</a:t>
            </a:r>
            <a:endParaRPr lang="en-US" sz="900" dirty="0"/>
          </a:p>
        </p:txBody>
      </p:sp>
      <p:sp>
        <p:nvSpPr>
          <p:cNvPr id="21" name="Text 18"/>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6B7A8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4415"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02 · IL SISTEMA FISICO</a:t>
            </a:r>
            <a:endParaRPr lang="en-US" sz="1300" dirty="0"/>
          </a:p>
        </p:txBody>
      </p:sp>
      <p:sp>
        <p:nvSpPr>
          <p:cNvPr id="3" name="Text 1"/>
          <p:cNvSpPr/>
          <p:nvPr/>
        </p:nvSpPr>
        <p:spPr>
          <a:xfrm>
            <a:off x="548640" y="713232"/>
            <a:ext cx="11094415" cy="777240"/>
          </a:xfrm>
          <a:prstGeom prst="rect">
            <a:avLst/>
          </a:prstGeom>
          <a:noFill/>
          <a:ln/>
        </p:spPr>
        <p:txBody>
          <a:bodyPr wrap="square" lIns="0" tIns="0" rIns="0" bIns="0" rtlCol="0" anchor="ctr"/>
          <a:lstStyle/>
          <a:p>
            <a:pPr indent="0" marL="0">
              <a:buNone/>
            </a:pPr>
            <a:r>
              <a:rPr lang="en-US" sz="3000" b="1" dirty="0">
                <a:solidFill>
                  <a:srgbClr val="0B3D59"/>
                </a:solidFill>
                <a:latin typeface="Cambria" pitchFamily="34" charset="0"/>
                <a:ea typeface="Cambria" pitchFamily="34" charset="-122"/>
                <a:cs typeface="Cambria" pitchFamily="34" charset="-120"/>
              </a:rPr>
              <a:t>Come è fatto l'impianto</a:t>
            </a:r>
            <a:endParaRPr lang="en-US" sz="3000" dirty="0"/>
          </a:p>
        </p:txBody>
      </p:sp>
      <p:sp>
        <p:nvSpPr>
          <p:cNvPr id="4" name="Shape 2"/>
          <p:cNvSpPr/>
          <p:nvPr/>
        </p:nvSpPr>
        <p:spPr>
          <a:xfrm>
            <a:off x="3017520" y="3771900"/>
            <a:ext cx="1912468" cy="9144"/>
          </a:xfrm>
          <a:prstGeom prst="line">
            <a:avLst/>
          </a:prstGeom>
          <a:noFill/>
          <a:ln w="25400">
            <a:solidFill>
              <a:srgbClr val="AEB9C2"/>
            </a:solidFill>
            <a:prstDash val="solid"/>
          </a:ln>
        </p:spPr>
      </p:sp>
      <p:sp>
        <p:nvSpPr>
          <p:cNvPr id="5" name="Shape 3"/>
          <p:cNvSpPr/>
          <p:nvPr/>
        </p:nvSpPr>
        <p:spPr>
          <a:xfrm>
            <a:off x="7261708" y="3771900"/>
            <a:ext cx="1912468" cy="9144"/>
          </a:xfrm>
          <a:prstGeom prst="line">
            <a:avLst/>
          </a:prstGeom>
          <a:noFill/>
          <a:ln w="25400">
            <a:solidFill>
              <a:srgbClr val="AEB9C2"/>
            </a:solidFill>
            <a:prstDash val="solid"/>
          </a:ln>
        </p:spPr>
      </p:sp>
      <p:sp>
        <p:nvSpPr>
          <p:cNvPr id="6" name="Shape 4"/>
          <p:cNvSpPr/>
          <p:nvPr/>
        </p:nvSpPr>
        <p:spPr>
          <a:xfrm flipV="1">
            <a:off x="6095848" y="2560320"/>
            <a:ext cx="9144" cy="685800"/>
          </a:xfrm>
          <a:prstGeom prst="line">
            <a:avLst/>
          </a:prstGeom>
          <a:noFill/>
          <a:ln w="25400">
            <a:solidFill>
              <a:srgbClr val="AEB9C2"/>
            </a:solidFill>
            <a:prstDash val="solid"/>
          </a:ln>
        </p:spPr>
      </p:sp>
      <p:sp>
        <p:nvSpPr>
          <p:cNvPr id="7" name="Shape 5"/>
          <p:cNvSpPr/>
          <p:nvPr/>
        </p:nvSpPr>
        <p:spPr>
          <a:xfrm flipV="1">
            <a:off x="3261208" y="4297680"/>
            <a:ext cx="2377440" cy="685800"/>
          </a:xfrm>
          <a:prstGeom prst="line">
            <a:avLst/>
          </a:prstGeom>
          <a:noFill/>
          <a:ln w="25400">
            <a:solidFill>
              <a:srgbClr val="AEB9C2"/>
            </a:solidFill>
            <a:prstDash val="solid"/>
          </a:ln>
        </p:spPr>
      </p:sp>
      <p:sp>
        <p:nvSpPr>
          <p:cNvPr id="8" name="Shape 6"/>
          <p:cNvSpPr/>
          <p:nvPr/>
        </p:nvSpPr>
        <p:spPr>
          <a:xfrm flipH="1" flipV="1">
            <a:off x="6553048" y="4297680"/>
            <a:ext cx="2377440" cy="685800"/>
          </a:xfrm>
          <a:prstGeom prst="line">
            <a:avLst/>
          </a:prstGeom>
          <a:noFill/>
          <a:ln w="25400">
            <a:solidFill>
              <a:srgbClr val="AEB9C2"/>
            </a:solidFill>
            <a:prstDash val="solid"/>
          </a:ln>
        </p:spPr>
      </p:sp>
      <p:sp>
        <p:nvSpPr>
          <p:cNvPr id="9" name="Shape 7"/>
          <p:cNvSpPr/>
          <p:nvPr/>
        </p:nvSpPr>
        <p:spPr>
          <a:xfrm>
            <a:off x="685800" y="3246120"/>
            <a:ext cx="2331720" cy="1051560"/>
          </a:xfrm>
          <a:prstGeom prst="roundRect">
            <a:avLst>
              <a:gd name="adj" fmla="val 7826"/>
            </a:avLst>
          </a:prstGeom>
          <a:solidFill>
            <a:srgbClr val="2F8F4E"/>
          </a:solidFill>
          <a:ln/>
          <a:effectLst>
            <a:outerShdw sx="100000" sy="100000" kx="0" ky="0" algn="bl" rotWithShape="0" blurRad="63500" dist="25400" dir="5400000">
              <a:srgbClr val="9AA7AF">
                <a:alpha val="30000"/>
              </a:srgbClr>
            </a:outerShdw>
          </a:effectLst>
        </p:spPr>
      </p:sp>
      <p:sp>
        <p:nvSpPr>
          <p:cNvPr id="10" name="Text 8"/>
          <p:cNvSpPr/>
          <p:nvPr/>
        </p:nvSpPr>
        <p:spPr>
          <a:xfrm>
            <a:off x="777240" y="3374136"/>
            <a:ext cx="21488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RINNOVABILI</a:t>
            </a:r>
            <a:endParaRPr lang="en-US" sz="1300" dirty="0"/>
          </a:p>
        </p:txBody>
      </p:sp>
      <p:sp>
        <p:nvSpPr>
          <p:cNvPr id="11" name="Text 9"/>
          <p:cNvSpPr/>
          <p:nvPr/>
        </p:nvSpPr>
        <p:spPr>
          <a:xfrm>
            <a:off x="777240" y="3776472"/>
            <a:ext cx="2148840" cy="457200"/>
          </a:xfrm>
          <a:prstGeom prst="rect">
            <a:avLst/>
          </a:prstGeom>
          <a:noFill/>
          <a:ln/>
        </p:spPr>
        <p:txBody>
          <a:bodyPr wrap="square" lIns="0" tIns="0" rIns="0" bIns="0" rtlCol="0" anchor="ctr"/>
          <a:lstStyle/>
          <a:p>
            <a:pPr algn="ctr" indent="0" marL="0">
              <a:lnSpc>
                <a:spcPct val="105000"/>
              </a:lnSpc>
              <a:buNone/>
            </a:pPr>
            <a:r>
              <a:rPr lang="en-US" sz="1050" dirty="0">
                <a:solidFill>
                  <a:srgbClr val="EAF0F3"/>
                </a:solidFill>
                <a:latin typeface="Calibri" pitchFamily="34" charset="0"/>
                <a:ea typeface="Calibri" pitchFamily="34" charset="-122"/>
                <a:cs typeface="Calibri" pitchFamily="34" charset="-120"/>
              </a:rPr>
              <a:t>PV 4 MW + Eolico 8 MW</a:t>
            </a:r>
            <a:endParaRPr lang="en-US" sz="1050" dirty="0"/>
          </a:p>
        </p:txBody>
      </p:sp>
      <p:sp>
        <p:nvSpPr>
          <p:cNvPr id="12" name="Shape 10"/>
          <p:cNvSpPr/>
          <p:nvPr/>
        </p:nvSpPr>
        <p:spPr>
          <a:xfrm>
            <a:off x="4929988" y="3246120"/>
            <a:ext cx="2331720" cy="1051560"/>
          </a:xfrm>
          <a:prstGeom prst="roundRect">
            <a:avLst>
              <a:gd name="adj" fmla="val 7826"/>
            </a:avLst>
          </a:prstGeom>
          <a:solidFill>
            <a:srgbClr val="0B3D59"/>
          </a:solidFill>
          <a:ln/>
          <a:effectLst>
            <a:outerShdw sx="100000" sy="100000" kx="0" ky="0" algn="bl" rotWithShape="0" blurRad="63500" dist="25400" dir="5400000">
              <a:srgbClr val="9AA7AF">
                <a:alpha val="30000"/>
              </a:srgbClr>
            </a:outerShdw>
          </a:effectLst>
        </p:spPr>
      </p:sp>
      <p:sp>
        <p:nvSpPr>
          <p:cNvPr id="13" name="Text 11"/>
          <p:cNvSpPr/>
          <p:nvPr/>
        </p:nvSpPr>
        <p:spPr>
          <a:xfrm>
            <a:off x="5021428" y="3374136"/>
            <a:ext cx="21488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BUS ENERGETICO</a:t>
            </a:r>
            <a:endParaRPr lang="en-US" sz="1300" dirty="0"/>
          </a:p>
        </p:txBody>
      </p:sp>
      <p:sp>
        <p:nvSpPr>
          <p:cNvPr id="14" name="Text 12"/>
          <p:cNvSpPr/>
          <p:nvPr/>
        </p:nvSpPr>
        <p:spPr>
          <a:xfrm>
            <a:off x="5021428" y="3776472"/>
            <a:ext cx="2148840" cy="457200"/>
          </a:xfrm>
          <a:prstGeom prst="rect">
            <a:avLst/>
          </a:prstGeom>
          <a:noFill/>
          <a:ln/>
        </p:spPr>
        <p:txBody>
          <a:bodyPr wrap="square" lIns="0" tIns="0" rIns="0" bIns="0" rtlCol="0" anchor="ctr"/>
          <a:lstStyle/>
          <a:p>
            <a:pPr algn="ctr" indent="0" marL="0">
              <a:lnSpc>
                <a:spcPct val="105000"/>
              </a:lnSpc>
              <a:buNone/>
            </a:pPr>
            <a:r>
              <a:rPr lang="en-US" sz="1050" dirty="0">
                <a:solidFill>
                  <a:srgbClr val="EAF0F3"/>
                </a:solidFill>
                <a:latin typeface="Calibri" pitchFamily="34" charset="0"/>
                <a:ea typeface="Calibri" pitchFamily="34" charset="-122"/>
                <a:cs typeface="Calibri" pitchFamily="34" charset="-120"/>
              </a:rPr>
              <a:t>Bilancio di potenza</a:t>
            </a:r>
            <a:endParaRPr lang="en-US" sz="1050" dirty="0"/>
          </a:p>
        </p:txBody>
      </p:sp>
      <p:sp>
        <p:nvSpPr>
          <p:cNvPr id="15" name="Shape 13"/>
          <p:cNvSpPr/>
          <p:nvPr/>
        </p:nvSpPr>
        <p:spPr>
          <a:xfrm>
            <a:off x="9174175" y="3246120"/>
            <a:ext cx="2331720" cy="1051560"/>
          </a:xfrm>
          <a:prstGeom prst="roundRect">
            <a:avLst>
              <a:gd name="adj" fmla="val 7826"/>
            </a:avLst>
          </a:prstGeom>
          <a:solidFill>
            <a:srgbClr val="1C7293"/>
          </a:solidFill>
          <a:ln/>
          <a:effectLst>
            <a:outerShdw sx="100000" sy="100000" kx="0" ky="0" algn="bl" rotWithShape="0" blurRad="63500" dist="25400" dir="5400000">
              <a:srgbClr val="9AA7AF">
                <a:alpha val="30000"/>
              </a:srgbClr>
            </a:outerShdw>
          </a:effectLst>
        </p:spPr>
      </p:sp>
      <p:sp>
        <p:nvSpPr>
          <p:cNvPr id="16" name="Text 14"/>
          <p:cNvSpPr/>
          <p:nvPr/>
        </p:nvSpPr>
        <p:spPr>
          <a:xfrm>
            <a:off x="9265615" y="3374136"/>
            <a:ext cx="21488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RETE ELETTRICA</a:t>
            </a:r>
            <a:endParaRPr lang="en-US" sz="1300" dirty="0"/>
          </a:p>
        </p:txBody>
      </p:sp>
      <p:sp>
        <p:nvSpPr>
          <p:cNvPr id="17" name="Text 15"/>
          <p:cNvSpPr/>
          <p:nvPr/>
        </p:nvSpPr>
        <p:spPr>
          <a:xfrm>
            <a:off x="9265615" y="3776472"/>
            <a:ext cx="2148840" cy="457200"/>
          </a:xfrm>
          <a:prstGeom prst="rect">
            <a:avLst/>
          </a:prstGeom>
          <a:noFill/>
          <a:ln/>
        </p:spPr>
        <p:txBody>
          <a:bodyPr wrap="square" lIns="0" tIns="0" rIns="0" bIns="0" rtlCol="0" anchor="ctr"/>
          <a:lstStyle/>
          <a:p>
            <a:pPr algn="ctr" indent="0" marL="0">
              <a:lnSpc>
                <a:spcPct val="105000"/>
              </a:lnSpc>
              <a:buNone/>
            </a:pPr>
            <a:r>
              <a:rPr lang="en-US" sz="1050" dirty="0">
                <a:solidFill>
                  <a:srgbClr val="EAF0F3"/>
                </a:solidFill>
                <a:latin typeface="Calibri" pitchFamily="34" charset="0"/>
                <a:ea typeface="Calibri" pitchFamily="34" charset="-122"/>
                <a:cs typeface="Calibri" pitchFamily="34" charset="-120"/>
              </a:rPr>
              <a:t>Import 12 MW / Export 10 MW</a:t>
            </a:r>
            <a:endParaRPr lang="en-US" sz="1050" dirty="0"/>
          </a:p>
        </p:txBody>
      </p:sp>
      <p:sp>
        <p:nvSpPr>
          <p:cNvPr id="18" name="Shape 16"/>
          <p:cNvSpPr/>
          <p:nvPr/>
        </p:nvSpPr>
        <p:spPr>
          <a:xfrm>
            <a:off x="2095348" y="4983480"/>
            <a:ext cx="2331720" cy="1051560"/>
          </a:xfrm>
          <a:prstGeom prst="roundRect">
            <a:avLst>
              <a:gd name="adj" fmla="val 7826"/>
            </a:avLst>
          </a:prstGeom>
          <a:solidFill>
            <a:srgbClr val="8A5CBF"/>
          </a:solidFill>
          <a:ln/>
          <a:effectLst>
            <a:outerShdw sx="100000" sy="100000" kx="0" ky="0" algn="bl" rotWithShape="0" blurRad="63500" dist="25400" dir="5400000">
              <a:srgbClr val="9AA7AF">
                <a:alpha val="30000"/>
              </a:srgbClr>
            </a:outerShdw>
          </a:effectLst>
        </p:spPr>
      </p:sp>
      <p:sp>
        <p:nvSpPr>
          <p:cNvPr id="19" name="Text 17"/>
          <p:cNvSpPr/>
          <p:nvPr/>
        </p:nvSpPr>
        <p:spPr>
          <a:xfrm>
            <a:off x="2186788" y="5111496"/>
            <a:ext cx="21488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BATTERIA</a:t>
            </a:r>
            <a:endParaRPr lang="en-US" sz="1300" dirty="0"/>
          </a:p>
        </p:txBody>
      </p:sp>
      <p:sp>
        <p:nvSpPr>
          <p:cNvPr id="20" name="Text 18"/>
          <p:cNvSpPr/>
          <p:nvPr/>
        </p:nvSpPr>
        <p:spPr>
          <a:xfrm>
            <a:off x="2186788" y="5513832"/>
            <a:ext cx="2148840" cy="457200"/>
          </a:xfrm>
          <a:prstGeom prst="rect">
            <a:avLst/>
          </a:prstGeom>
          <a:noFill/>
          <a:ln/>
        </p:spPr>
        <p:txBody>
          <a:bodyPr wrap="square" lIns="0" tIns="0" rIns="0" bIns="0" rtlCol="0" anchor="ctr"/>
          <a:lstStyle/>
          <a:p>
            <a:pPr algn="ctr" indent="0" marL="0">
              <a:lnSpc>
                <a:spcPct val="105000"/>
              </a:lnSpc>
              <a:buNone/>
            </a:pPr>
            <a:r>
              <a:rPr lang="en-US" sz="1050" dirty="0">
                <a:solidFill>
                  <a:srgbClr val="EAF0F3"/>
                </a:solidFill>
                <a:latin typeface="Calibri" pitchFamily="34" charset="0"/>
                <a:ea typeface="Calibri" pitchFamily="34" charset="-122"/>
                <a:cs typeface="Calibri" pitchFamily="34" charset="-120"/>
              </a:rPr>
              <a:t>1 MW / 1 MWh, η 0.95</a:t>
            </a:r>
            <a:endParaRPr lang="en-US" sz="1050" dirty="0"/>
          </a:p>
        </p:txBody>
      </p:sp>
      <p:sp>
        <p:nvSpPr>
          <p:cNvPr id="21" name="Shape 19"/>
          <p:cNvSpPr/>
          <p:nvPr/>
        </p:nvSpPr>
        <p:spPr>
          <a:xfrm>
            <a:off x="7764628" y="4983480"/>
            <a:ext cx="2331720" cy="1051560"/>
          </a:xfrm>
          <a:prstGeom prst="roundRect">
            <a:avLst>
              <a:gd name="adj" fmla="val 7826"/>
            </a:avLst>
          </a:prstGeom>
          <a:solidFill>
            <a:srgbClr val="C0433A"/>
          </a:solidFill>
          <a:ln/>
          <a:effectLst>
            <a:outerShdw sx="100000" sy="100000" kx="0" ky="0" algn="bl" rotWithShape="0" blurRad="63500" dist="25400" dir="5400000">
              <a:srgbClr val="9AA7AF">
                <a:alpha val="30000"/>
              </a:srgbClr>
            </a:outerShdw>
          </a:effectLst>
        </p:spPr>
      </p:sp>
      <p:sp>
        <p:nvSpPr>
          <p:cNvPr id="22" name="Text 20"/>
          <p:cNvSpPr/>
          <p:nvPr/>
        </p:nvSpPr>
        <p:spPr>
          <a:xfrm>
            <a:off x="7856068" y="5111496"/>
            <a:ext cx="21488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SISTEMA A IDROGENO</a:t>
            </a:r>
            <a:endParaRPr lang="en-US" sz="1300" dirty="0"/>
          </a:p>
        </p:txBody>
      </p:sp>
      <p:sp>
        <p:nvSpPr>
          <p:cNvPr id="23" name="Text 21"/>
          <p:cNvSpPr/>
          <p:nvPr/>
        </p:nvSpPr>
        <p:spPr>
          <a:xfrm>
            <a:off x="7856068" y="5513832"/>
            <a:ext cx="2148840" cy="457200"/>
          </a:xfrm>
          <a:prstGeom prst="rect">
            <a:avLst/>
          </a:prstGeom>
          <a:noFill/>
          <a:ln/>
        </p:spPr>
        <p:txBody>
          <a:bodyPr wrap="square" lIns="0" tIns="0" rIns="0" bIns="0" rtlCol="0" anchor="ctr"/>
          <a:lstStyle/>
          <a:p>
            <a:pPr algn="ctr" indent="0" marL="0">
              <a:lnSpc>
                <a:spcPct val="105000"/>
              </a:lnSpc>
              <a:buNone/>
            </a:pPr>
            <a:r>
              <a:rPr lang="en-US" sz="1050" dirty="0">
                <a:solidFill>
                  <a:srgbClr val="EAF0F3"/>
                </a:solidFill>
                <a:latin typeface="Calibri" pitchFamily="34" charset="0"/>
                <a:ea typeface="Calibri" pitchFamily="34" charset="-122"/>
                <a:cs typeface="Calibri" pitchFamily="34" charset="-120"/>
              </a:rPr>
              <a:t>20 MWh, elettrolizz. + fuel cell</a:t>
            </a:r>
            <a:endParaRPr lang="en-US" sz="1050" dirty="0"/>
          </a:p>
        </p:txBody>
      </p:sp>
      <p:sp>
        <p:nvSpPr>
          <p:cNvPr id="24" name="Shape 22"/>
          <p:cNvSpPr/>
          <p:nvPr/>
        </p:nvSpPr>
        <p:spPr>
          <a:xfrm>
            <a:off x="4929988" y="1508760"/>
            <a:ext cx="2331720" cy="1051560"/>
          </a:xfrm>
          <a:prstGeom prst="roundRect">
            <a:avLst>
              <a:gd name="adj" fmla="val 7826"/>
            </a:avLst>
          </a:prstGeom>
          <a:solidFill>
            <a:srgbClr val="6B7A85"/>
          </a:solidFill>
          <a:ln/>
          <a:effectLst>
            <a:outerShdw sx="100000" sy="100000" kx="0" ky="0" algn="bl" rotWithShape="0" blurRad="63500" dist="25400" dir="5400000">
              <a:srgbClr val="9AA7AF">
                <a:alpha val="30000"/>
              </a:srgbClr>
            </a:outerShdw>
          </a:effectLst>
        </p:spPr>
      </p:sp>
      <p:sp>
        <p:nvSpPr>
          <p:cNvPr id="25" name="Text 23"/>
          <p:cNvSpPr/>
          <p:nvPr/>
        </p:nvSpPr>
        <p:spPr>
          <a:xfrm>
            <a:off x="5021428" y="1636776"/>
            <a:ext cx="214884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CARICO EDIFICIO</a:t>
            </a:r>
            <a:endParaRPr lang="en-US" sz="1300" dirty="0"/>
          </a:p>
        </p:txBody>
      </p:sp>
      <p:sp>
        <p:nvSpPr>
          <p:cNvPr id="26" name="Text 24"/>
          <p:cNvSpPr/>
          <p:nvPr/>
        </p:nvSpPr>
        <p:spPr>
          <a:xfrm>
            <a:off x="5021428" y="2039112"/>
            <a:ext cx="2148840" cy="457200"/>
          </a:xfrm>
          <a:prstGeom prst="rect">
            <a:avLst/>
          </a:prstGeom>
          <a:noFill/>
          <a:ln/>
        </p:spPr>
        <p:txBody>
          <a:bodyPr wrap="square" lIns="0" tIns="0" rIns="0" bIns="0" rtlCol="0" anchor="ctr"/>
          <a:lstStyle/>
          <a:p>
            <a:pPr algn="ctr" indent="0" marL="0">
              <a:lnSpc>
                <a:spcPct val="105000"/>
              </a:lnSpc>
              <a:buNone/>
            </a:pPr>
            <a:r>
              <a:rPr lang="en-US" sz="1050" dirty="0">
                <a:solidFill>
                  <a:srgbClr val="EAF0F3"/>
                </a:solidFill>
                <a:latin typeface="Calibri" pitchFamily="34" charset="0"/>
                <a:ea typeface="Calibri" pitchFamily="34" charset="-122"/>
                <a:cs typeface="Calibri" pitchFamily="34" charset="-120"/>
              </a:rPr>
              <a:t>Consumo non controllabile</a:t>
            </a:r>
            <a:endParaRPr lang="en-US" sz="1050" dirty="0"/>
          </a:p>
        </p:txBody>
      </p:sp>
      <p:sp>
        <p:nvSpPr>
          <p:cNvPr id="27" name="Text 25"/>
          <p:cNvSpPr/>
          <p:nvPr/>
        </p:nvSpPr>
        <p:spPr>
          <a:xfrm>
            <a:off x="548640" y="5806440"/>
            <a:ext cx="11094415" cy="548640"/>
          </a:xfrm>
          <a:prstGeom prst="rect">
            <a:avLst/>
          </a:prstGeom>
          <a:noFill/>
          <a:ln/>
        </p:spPr>
        <p:txBody>
          <a:bodyPr wrap="square" lIns="0" tIns="0" rIns="0" bIns="0" rtlCol="0" anchor="ctr"/>
          <a:lstStyle/>
          <a:p>
            <a:pPr algn="ctr" indent="0" marL="0">
              <a:lnSpc>
                <a:spcPct val="115000"/>
              </a:lnSpc>
              <a:buNone/>
            </a:pPr>
            <a:r>
              <a:rPr lang="en-US" sz="1250" i="1" dirty="0">
                <a:solidFill>
                  <a:srgbClr val="6B7A85"/>
                </a:solidFill>
                <a:latin typeface="Calibri" pitchFamily="34" charset="0"/>
                <a:ea typeface="Calibri" pitchFamily="34" charset="-122"/>
                <a:cs typeface="Calibri" pitchFamily="34" charset="-120"/>
              </a:rPr>
              <a:t>Ogni ora il bus energetico deve bilanciarsi: tutto ciò che entra (rinnovabile, import, scarica batteria, fuel cell) deve uguagliare tutto ciò che esce (carico, export, carica batteria, elettrolizzatore).</a:t>
            </a:r>
            <a:endParaRPr lang="en-US" sz="1250" dirty="0"/>
          </a:p>
        </p:txBody>
      </p:sp>
      <p:sp>
        <p:nvSpPr>
          <p:cNvPr id="29" name="Text 26"/>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A85"/>
                </a:solidFill>
                <a:latin typeface="Calibri" pitchFamily="34" charset="0"/>
                <a:ea typeface="Calibri" pitchFamily="34" charset="-122"/>
                <a:cs typeface="Calibri" pitchFamily="34" charset="-120"/>
              </a:rPr>
              <a:t>Project 16 — Controllo MPC di un sistema energetico industriale</a:t>
            </a:r>
            <a:endParaRPr lang="en-US" sz="900" dirty="0"/>
          </a:p>
        </p:txBody>
      </p:sp>
      <p:sp>
        <p:nvSpPr>
          <p:cNvPr id="30" name="Text 27"/>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6B7A8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4415"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02 · IL SISTEMA FISICO</a:t>
            </a:r>
            <a:endParaRPr lang="en-US" sz="1300" dirty="0"/>
          </a:p>
        </p:txBody>
      </p:sp>
      <p:sp>
        <p:nvSpPr>
          <p:cNvPr id="3" name="Text 1"/>
          <p:cNvSpPr/>
          <p:nvPr/>
        </p:nvSpPr>
        <p:spPr>
          <a:xfrm>
            <a:off x="548640" y="713232"/>
            <a:ext cx="11094415" cy="777240"/>
          </a:xfrm>
          <a:prstGeom prst="rect">
            <a:avLst/>
          </a:prstGeom>
          <a:noFill/>
          <a:ln/>
        </p:spPr>
        <p:txBody>
          <a:bodyPr wrap="square" lIns="0" tIns="0" rIns="0" bIns="0" rtlCol="0" anchor="ctr"/>
          <a:lstStyle/>
          <a:p>
            <a:pPr indent="0" marL="0">
              <a:buNone/>
            </a:pPr>
            <a:r>
              <a:rPr lang="en-US" sz="3000" b="1" dirty="0">
                <a:solidFill>
                  <a:srgbClr val="0B3D59"/>
                </a:solidFill>
                <a:latin typeface="Cambria" pitchFamily="34" charset="0"/>
                <a:ea typeface="Cambria" pitchFamily="34" charset="-122"/>
                <a:cs typeface="Cambria" pitchFamily="34" charset="-120"/>
              </a:rPr>
              <a:t>Da dove vengono i dati</a:t>
            </a:r>
            <a:endParaRPr lang="en-US" sz="3000" dirty="0"/>
          </a:p>
        </p:txBody>
      </p:sp>
      <p:sp>
        <p:nvSpPr>
          <p:cNvPr id="4" name="Shape 2"/>
          <p:cNvSpPr/>
          <p:nvPr/>
        </p:nvSpPr>
        <p:spPr>
          <a:xfrm>
            <a:off x="548640" y="1965960"/>
            <a:ext cx="3393338" cy="3566160"/>
          </a:xfrm>
          <a:prstGeom prst="roundRect">
            <a:avLst>
              <a:gd name="adj" fmla="val 2156"/>
            </a:avLst>
          </a:prstGeom>
          <a:solidFill>
            <a:srgbClr val="F1F5F8"/>
          </a:solidFill>
          <a:ln w="12700">
            <a:solidFill>
              <a:srgbClr val="DCE6EC"/>
            </a:solidFill>
            <a:prstDash val="solid"/>
          </a:ln>
          <a:effectLst>
            <a:outerShdw sx="100000" sy="100000" kx="0" ky="0" algn="bl" rotWithShape="0" blurRad="76200" dist="25400" dir="5400000">
              <a:srgbClr val="9AA7AF">
                <a:alpha val="25000"/>
              </a:srgbClr>
            </a:outerShdw>
          </a:effectLst>
        </p:spPr>
      </p:sp>
      <p:sp>
        <p:nvSpPr>
          <p:cNvPr id="5" name="Shape 3"/>
          <p:cNvSpPr/>
          <p:nvPr/>
        </p:nvSpPr>
        <p:spPr>
          <a:xfrm>
            <a:off x="548640" y="1965960"/>
            <a:ext cx="3393338" cy="128016"/>
          </a:xfrm>
          <a:prstGeom prst="roundRect">
            <a:avLst/>
          </a:prstGeom>
          <a:solidFill>
            <a:srgbClr val="2F8F4E"/>
          </a:solidFill>
          <a:ln/>
        </p:spPr>
      </p:sp>
      <p:sp>
        <p:nvSpPr>
          <p:cNvPr id="6" name="Text 4"/>
          <p:cNvSpPr/>
          <p:nvPr/>
        </p:nvSpPr>
        <p:spPr>
          <a:xfrm>
            <a:off x="822960" y="2331720"/>
            <a:ext cx="2844698" cy="365760"/>
          </a:xfrm>
          <a:prstGeom prst="rect">
            <a:avLst/>
          </a:prstGeom>
          <a:noFill/>
          <a:ln/>
        </p:spPr>
        <p:txBody>
          <a:bodyPr wrap="square" lIns="0" tIns="0" rIns="0" bIns="0" rtlCol="0" anchor="ctr"/>
          <a:lstStyle/>
          <a:p>
            <a:pPr indent="0" marL="0">
              <a:buNone/>
            </a:pPr>
            <a:r>
              <a:rPr lang="en-US" sz="1300" b="1" spc="100" kern="0" dirty="0">
                <a:solidFill>
                  <a:srgbClr val="2F8F4E"/>
                </a:solidFill>
                <a:latin typeface="Calibri" pitchFamily="34" charset="0"/>
                <a:ea typeface="Calibri" pitchFamily="34" charset="-122"/>
                <a:cs typeface="Calibri" pitchFamily="34" charset="-120"/>
              </a:rPr>
              <a:t>RINNOVABILE</a:t>
            </a:r>
            <a:endParaRPr lang="en-US" sz="1300" dirty="0"/>
          </a:p>
        </p:txBody>
      </p:sp>
      <p:sp>
        <p:nvSpPr>
          <p:cNvPr id="7" name="Text 5"/>
          <p:cNvSpPr/>
          <p:nvPr/>
        </p:nvSpPr>
        <p:spPr>
          <a:xfrm>
            <a:off x="822960" y="2697480"/>
            <a:ext cx="2844698" cy="457200"/>
          </a:xfrm>
          <a:prstGeom prst="rect">
            <a:avLst/>
          </a:prstGeom>
          <a:noFill/>
          <a:ln/>
        </p:spPr>
        <p:txBody>
          <a:bodyPr wrap="square" lIns="0" tIns="0" rIns="0" bIns="0" rtlCol="0" anchor="ctr"/>
          <a:lstStyle/>
          <a:p>
            <a:pPr indent="0" marL="0">
              <a:buNone/>
            </a:pPr>
            <a:r>
              <a:rPr lang="en-US" sz="1300" b="1" dirty="0">
                <a:solidFill>
                  <a:srgbClr val="0B3D59"/>
                </a:solidFill>
                <a:latin typeface="Courier New" pitchFamily="34" charset="0"/>
                <a:ea typeface="Courier New" pitchFamily="34" charset="-122"/>
                <a:cs typeface="Courier New" pitchFamily="34" charset="-120"/>
              </a:rPr>
              <a:t>res_1_year_pu.mat</a:t>
            </a:r>
            <a:endParaRPr lang="en-US" sz="1300" dirty="0"/>
          </a:p>
        </p:txBody>
      </p:sp>
      <p:sp>
        <p:nvSpPr>
          <p:cNvPr id="8" name="Text 6"/>
          <p:cNvSpPr/>
          <p:nvPr/>
        </p:nvSpPr>
        <p:spPr>
          <a:xfrm>
            <a:off x="822960" y="3291840"/>
            <a:ext cx="2844698" cy="2103120"/>
          </a:xfrm>
          <a:prstGeom prst="rect">
            <a:avLst/>
          </a:prstGeom>
          <a:noFill/>
          <a:ln/>
        </p:spPr>
        <p:txBody>
          <a:bodyPr wrap="square" lIns="0" tIns="0" rIns="0" bIns="0" rtlCol="0" anchor="ctr"/>
          <a:lstStyle/>
          <a:p>
            <a:pPr indent="0" marL="0">
              <a:lnSpc>
                <a:spcPct val="125000"/>
              </a:lnSpc>
              <a:buNone/>
            </a:pPr>
            <a:r>
              <a:rPr lang="en-US" sz="1250" dirty="0">
                <a:solidFill>
                  <a:srgbClr val="20303D"/>
                </a:solidFill>
                <a:latin typeface="Calibri" pitchFamily="34" charset="0"/>
                <a:ea typeface="Calibri" pitchFamily="34" charset="-122"/>
                <a:cs typeface="Calibri" pitchFamily="34" charset="-120"/>
              </a:rPr>
              <a:t>Produzione fotovoltaica ed eolica, un anno intero ora per ora, in valori per unità (0-1) della potenza nominale.</a:t>
            </a:r>
            <a:endParaRPr lang="en-US" sz="1250" dirty="0"/>
          </a:p>
        </p:txBody>
      </p:sp>
      <p:sp>
        <p:nvSpPr>
          <p:cNvPr id="9" name="Shape 7"/>
          <p:cNvSpPr/>
          <p:nvPr/>
        </p:nvSpPr>
        <p:spPr>
          <a:xfrm>
            <a:off x="4399178" y="1965960"/>
            <a:ext cx="3393338" cy="3566160"/>
          </a:xfrm>
          <a:prstGeom prst="roundRect">
            <a:avLst>
              <a:gd name="adj" fmla="val 2156"/>
            </a:avLst>
          </a:prstGeom>
          <a:solidFill>
            <a:srgbClr val="F1F5F8"/>
          </a:solidFill>
          <a:ln w="12700">
            <a:solidFill>
              <a:srgbClr val="DCE6EC"/>
            </a:solidFill>
            <a:prstDash val="solid"/>
          </a:ln>
          <a:effectLst>
            <a:outerShdw sx="100000" sy="100000" kx="0" ky="0" algn="bl" rotWithShape="0" blurRad="76200" dist="25400" dir="5400000">
              <a:srgbClr val="9AA7AF">
                <a:alpha val="25000"/>
              </a:srgbClr>
            </a:outerShdw>
          </a:effectLst>
        </p:spPr>
      </p:sp>
      <p:sp>
        <p:nvSpPr>
          <p:cNvPr id="10" name="Shape 8"/>
          <p:cNvSpPr/>
          <p:nvPr/>
        </p:nvSpPr>
        <p:spPr>
          <a:xfrm>
            <a:off x="4399178" y="1965960"/>
            <a:ext cx="3393338" cy="128016"/>
          </a:xfrm>
          <a:prstGeom prst="roundRect">
            <a:avLst/>
          </a:prstGeom>
          <a:solidFill>
            <a:srgbClr val="6B7A85"/>
          </a:solidFill>
          <a:ln/>
        </p:spPr>
      </p:sp>
      <p:sp>
        <p:nvSpPr>
          <p:cNvPr id="11" name="Text 9"/>
          <p:cNvSpPr/>
          <p:nvPr/>
        </p:nvSpPr>
        <p:spPr>
          <a:xfrm>
            <a:off x="4673498" y="2331720"/>
            <a:ext cx="2844698" cy="365760"/>
          </a:xfrm>
          <a:prstGeom prst="rect">
            <a:avLst/>
          </a:prstGeom>
          <a:noFill/>
          <a:ln/>
        </p:spPr>
        <p:txBody>
          <a:bodyPr wrap="square" lIns="0" tIns="0" rIns="0" bIns="0" rtlCol="0" anchor="ctr"/>
          <a:lstStyle/>
          <a:p>
            <a:pPr indent="0" marL="0">
              <a:buNone/>
            </a:pPr>
            <a:r>
              <a:rPr lang="en-US" sz="1300" b="1" spc="100" kern="0" dirty="0">
                <a:solidFill>
                  <a:srgbClr val="6B7A85"/>
                </a:solidFill>
                <a:latin typeface="Calibri" pitchFamily="34" charset="0"/>
                <a:ea typeface="Calibri" pitchFamily="34" charset="-122"/>
                <a:cs typeface="Calibri" pitchFamily="34" charset="-120"/>
              </a:rPr>
              <a:t>CARICO</a:t>
            </a:r>
            <a:endParaRPr lang="en-US" sz="1300" dirty="0"/>
          </a:p>
        </p:txBody>
      </p:sp>
      <p:sp>
        <p:nvSpPr>
          <p:cNvPr id="12" name="Text 10"/>
          <p:cNvSpPr/>
          <p:nvPr/>
        </p:nvSpPr>
        <p:spPr>
          <a:xfrm>
            <a:off x="4673498" y="2697480"/>
            <a:ext cx="2844698" cy="457200"/>
          </a:xfrm>
          <a:prstGeom prst="rect">
            <a:avLst/>
          </a:prstGeom>
          <a:noFill/>
          <a:ln/>
        </p:spPr>
        <p:txBody>
          <a:bodyPr wrap="square" lIns="0" tIns="0" rIns="0" bIns="0" rtlCol="0" anchor="ctr"/>
          <a:lstStyle/>
          <a:p>
            <a:pPr indent="0" marL="0">
              <a:buNone/>
            </a:pPr>
            <a:r>
              <a:rPr lang="en-US" sz="1300" b="1" dirty="0">
                <a:solidFill>
                  <a:srgbClr val="0B3D59"/>
                </a:solidFill>
                <a:latin typeface="Courier New" pitchFamily="34" charset="0"/>
                <a:ea typeface="Courier New" pitchFamily="34" charset="-122"/>
                <a:cs typeface="Courier New" pitchFamily="34" charset="-120"/>
              </a:rPr>
              <a:t>buildings_load.mat</a:t>
            </a:r>
            <a:endParaRPr lang="en-US" sz="1300" dirty="0"/>
          </a:p>
        </p:txBody>
      </p:sp>
      <p:sp>
        <p:nvSpPr>
          <p:cNvPr id="13" name="Text 11"/>
          <p:cNvSpPr/>
          <p:nvPr/>
        </p:nvSpPr>
        <p:spPr>
          <a:xfrm>
            <a:off x="4673498" y="3291840"/>
            <a:ext cx="2844698" cy="2103120"/>
          </a:xfrm>
          <a:prstGeom prst="rect">
            <a:avLst/>
          </a:prstGeom>
          <a:noFill/>
          <a:ln/>
        </p:spPr>
        <p:txBody>
          <a:bodyPr wrap="square" lIns="0" tIns="0" rIns="0" bIns="0" rtlCol="0" anchor="ctr"/>
          <a:lstStyle/>
          <a:p>
            <a:pPr indent="0" marL="0">
              <a:lnSpc>
                <a:spcPct val="125000"/>
              </a:lnSpc>
              <a:buNone/>
            </a:pPr>
            <a:r>
              <a:rPr lang="en-US" sz="1250" dirty="0">
                <a:solidFill>
                  <a:srgbClr val="20303D"/>
                </a:solidFill>
                <a:latin typeface="Calibri" pitchFamily="34" charset="0"/>
                <a:ea typeface="Calibri" pitchFamily="34" charset="-122"/>
                <a:cs typeface="Calibri" pitchFamily="34" charset="-120"/>
              </a:rPr>
              <a:t>Consumi dell'edificio ora per ora, in energia oraria (kWh), convertiti in potenza media (MW).</a:t>
            </a:r>
            <a:endParaRPr lang="en-US" sz="1250" dirty="0"/>
          </a:p>
        </p:txBody>
      </p:sp>
      <p:sp>
        <p:nvSpPr>
          <p:cNvPr id="14" name="Shape 12"/>
          <p:cNvSpPr/>
          <p:nvPr/>
        </p:nvSpPr>
        <p:spPr>
          <a:xfrm>
            <a:off x="8249717" y="1965960"/>
            <a:ext cx="3393338" cy="3566160"/>
          </a:xfrm>
          <a:prstGeom prst="roundRect">
            <a:avLst>
              <a:gd name="adj" fmla="val 2156"/>
            </a:avLst>
          </a:prstGeom>
          <a:solidFill>
            <a:srgbClr val="F1F5F8"/>
          </a:solidFill>
          <a:ln w="12700">
            <a:solidFill>
              <a:srgbClr val="DCE6EC"/>
            </a:solidFill>
            <a:prstDash val="solid"/>
          </a:ln>
          <a:effectLst>
            <a:outerShdw sx="100000" sy="100000" kx="0" ky="0" algn="bl" rotWithShape="0" blurRad="76200" dist="25400" dir="5400000">
              <a:srgbClr val="9AA7AF">
                <a:alpha val="25000"/>
              </a:srgbClr>
            </a:outerShdw>
          </a:effectLst>
        </p:spPr>
      </p:sp>
      <p:sp>
        <p:nvSpPr>
          <p:cNvPr id="15" name="Shape 13"/>
          <p:cNvSpPr/>
          <p:nvPr/>
        </p:nvSpPr>
        <p:spPr>
          <a:xfrm>
            <a:off x="8249717" y="1965960"/>
            <a:ext cx="3393338" cy="128016"/>
          </a:xfrm>
          <a:prstGeom prst="roundRect">
            <a:avLst/>
          </a:prstGeom>
          <a:solidFill>
            <a:srgbClr val="1C7293"/>
          </a:solidFill>
          <a:ln/>
        </p:spPr>
      </p:sp>
      <p:sp>
        <p:nvSpPr>
          <p:cNvPr id="16" name="Text 14"/>
          <p:cNvSpPr/>
          <p:nvPr/>
        </p:nvSpPr>
        <p:spPr>
          <a:xfrm>
            <a:off x="8524037" y="2331720"/>
            <a:ext cx="2844698" cy="365760"/>
          </a:xfrm>
          <a:prstGeom prst="rect">
            <a:avLst/>
          </a:prstGeom>
          <a:noFill/>
          <a:ln/>
        </p:spPr>
        <p:txBody>
          <a:bodyPr wrap="square" lIns="0" tIns="0" rIns="0" bIns="0" rtlCol="0" anchor="ctr"/>
          <a:lstStyle/>
          <a:p>
            <a:pPr indent="0" marL="0">
              <a:buNone/>
            </a:pPr>
            <a:r>
              <a:rPr lang="en-US" sz="1300" b="1" spc="100" kern="0" dirty="0">
                <a:solidFill>
                  <a:srgbClr val="1C7293"/>
                </a:solidFill>
                <a:latin typeface="Calibri" pitchFamily="34" charset="0"/>
                <a:ea typeface="Calibri" pitchFamily="34" charset="-122"/>
                <a:cs typeface="Calibri" pitchFamily="34" charset="-120"/>
              </a:rPr>
              <a:t>PREZZO DI VENDITA</a:t>
            </a:r>
            <a:endParaRPr lang="en-US" sz="1300" dirty="0"/>
          </a:p>
        </p:txBody>
      </p:sp>
      <p:sp>
        <p:nvSpPr>
          <p:cNvPr id="17" name="Text 15"/>
          <p:cNvSpPr/>
          <p:nvPr/>
        </p:nvSpPr>
        <p:spPr>
          <a:xfrm>
            <a:off x="8524037" y="2697480"/>
            <a:ext cx="2844698" cy="457200"/>
          </a:xfrm>
          <a:prstGeom prst="rect">
            <a:avLst/>
          </a:prstGeom>
          <a:noFill/>
          <a:ln/>
        </p:spPr>
        <p:txBody>
          <a:bodyPr wrap="square" lIns="0" tIns="0" rIns="0" bIns="0" rtlCol="0" anchor="ctr"/>
          <a:lstStyle/>
          <a:p>
            <a:pPr indent="0" marL="0">
              <a:buNone/>
            </a:pPr>
            <a:r>
              <a:rPr lang="en-US" sz="1300" b="1" dirty="0">
                <a:solidFill>
                  <a:srgbClr val="0B3D59"/>
                </a:solidFill>
                <a:latin typeface="Courier New" pitchFamily="34" charset="0"/>
                <a:ea typeface="Courier New" pitchFamily="34" charset="-122"/>
                <a:cs typeface="Courier New" pitchFamily="34" charset="-120"/>
              </a:rPr>
              <a:t>PUN_2022.mat</a:t>
            </a:r>
            <a:endParaRPr lang="en-US" sz="1300" dirty="0"/>
          </a:p>
        </p:txBody>
      </p:sp>
      <p:sp>
        <p:nvSpPr>
          <p:cNvPr id="18" name="Text 16"/>
          <p:cNvSpPr/>
          <p:nvPr/>
        </p:nvSpPr>
        <p:spPr>
          <a:xfrm>
            <a:off x="8524037" y="3291840"/>
            <a:ext cx="2844698" cy="2103120"/>
          </a:xfrm>
          <a:prstGeom prst="rect">
            <a:avLst/>
          </a:prstGeom>
          <a:noFill/>
          <a:ln/>
        </p:spPr>
        <p:txBody>
          <a:bodyPr wrap="square" lIns="0" tIns="0" rIns="0" bIns="0" rtlCol="0" anchor="ctr"/>
          <a:lstStyle/>
          <a:p>
            <a:pPr indent="0" marL="0">
              <a:lnSpc>
                <a:spcPct val="125000"/>
              </a:lnSpc>
              <a:buNone/>
            </a:pPr>
            <a:r>
              <a:rPr lang="en-US" sz="1250" dirty="0">
                <a:solidFill>
                  <a:srgbClr val="20303D"/>
                </a:solidFill>
                <a:latin typeface="Calibri" pitchFamily="34" charset="0"/>
                <a:ea typeface="Calibri" pitchFamily="34" charset="-122"/>
                <a:cs typeface="Calibri" pitchFamily="34" charset="-120"/>
              </a:rPr>
              <a:t>Prezzo unico nazionale dell'energia, un valore di mercato reale per ogni ora dell'anno.</a:t>
            </a:r>
            <a:endParaRPr lang="en-US" sz="1250" dirty="0"/>
          </a:p>
        </p:txBody>
      </p:sp>
      <p:sp>
        <p:nvSpPr>
          <p:cNvPr id="19" name="Text 17"/>
          <p:cNvSpPr/>
          <p:nvPr/>
        </p:nvSpPr>
        <p:spPr>
          <a:xfrm>
            <a:off x="548640" y="5760720"/>
            <a:ext cx="11094415" cy="548640"/>
          </a:xfrm>
          <a:prstGeom prst="rect">
            <a:avLst/>
          </a:prstGeom>
          <a:noFill/>
          <a:ln/>
        </p:spPr>
        <p:txBody>
          <a:bodyPr wrap="square" lIns="0" tIns="0" rIns="0" bIns="0" rtlCol="0" anchor="ctr"/>
          <a:lstStyle/>
          <a:p>
            <a:pPr algn="ctr" indent="0" marL="0">
              <a:lnSpc>
                <a:spcPct val="115000"/>
              </a:lnSpc>
              <a:buNone/>
            </a:pPr>
            <a:r>
              <a:rPr lang="en-US" sz="1250" i="1" dirty="0">
                <a:solidFill>
                  <a:srgbClr val="6B7A85"/>
                </a:solidFill>
                <a:latin typeface="Calibri" pitchFamily="34" charset="0"/>
                <a:ea typeface="Calibri" pitchFamily="34" charset="-122"/>
                <a:cs typeface="Calibri" pitchFamily="34" charset="-120"/>
              </a:rPr>
              <a:t>Il prezzo di acquisto invece non arriva da un file: segue una regola fissa a tre fasce orarie (F1 punta, F2 intermedia, F3 fuori punta), definita nel codice.</a:t>
            </a:r>
            <a:endParaRPr lang="en-US" sz="1250" dirty="0"/>
          </a:p>
        </p:txBody>
      </p:sp>
      <p:sp>
        <p:nvSpPr>
          <p:cNvPr id="21" name="Text 18"/>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A85"/>
                </a:solidFill>
                <a:latin typeface="Calibri" pitchFamily="34" charset="0"/>
                <a:ea typeface="Calibri" pitchFamily="34" charset="-122"/>
                <a:cs typeface="Calibri" pitchFamily="34" charset="-120"/>
              </a:rPr>
              <a:t>Project 16 — Controllo MPC di un sistema energetico industriale</a:t>
            </a:r>
            <a:endParaRPr lang="en-US" sz="900" dirty="0"/>
          </a:p>
        </p:txBody>
      </p:sp>
      <p:sp>
        <p:nvSpPr>
          <p:cNvPr id="22" name="Text 19"/>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6B7A8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4415"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03 · IL CONTROLLO MPC</a:t>
            </a:r>
            <a:endParaRPr lang="en-US" sz="1300" dirty="0"/>
          </a:p>
        </p:txBody>
      </p:sp>
      <p:sp>
        <p:nvSpPr>
          <p:cNvPr id="3" name="Text 1"/>
          <p:cNvSpPr/>
          <p:nvPr/>
        </p:nvSpPr>
        <p:spPr>
          <a:xfrm>
            <a:off x="548640" y="713232"/>
            <a:ext cx="11094415" cy="777240"/>
          </a:xfrm>
          <a:prstGeom prst="rect">
            <a:avLst/>
          </a:prstGeom>
          <a:noFill/>
          <a:ln/>
        </p:spPr>
        <p:txBody>
          <a:bodyPr wrap="square" lIns="0" tIns="0" rIns="0" bIns="0" rtlCol="0" anchor="ctr"/>
          <a:lstStyle/>
          <a:p>
            <a:pPr indent="0" marL="0">
              <a:buNone/>
            </a:pPr>
            <a:r>
              <a:rPr lang="en-US" sz="3000" b="1" dirty="0">
                <a:solidFill>
                  <a:srgbClr val="0B3D59"/>
                </a:solidFill>
                <a:latin typeface="Cambria" pitchFamily="34" charset="0"/>
                <a:ea typeface="Cambria" pitchFamily="34" charset="-122"/>
                <a:cs typeface="Cambria" pitchFamily="34" charset="-120"/>
              </a:rPr>
              <a:t>Decidere guardando avanti, un'ora alla volta</a:t>
            </a:r>
            <a:endParaRPr lang="en-US" sz="3000" dirty="0"/>
          </a:p>
        </p:txBody>
      </p:sp>
      <p:sp>
        <p:nvSpPr>
          <p:cNvPr id="4" name="Text 2"/>
          <p:cNvSpPr/>
          <p:nvPr/>
        </p:nvSpPr>
        <p:spPr>
          <a:xfrm>
            <a:off x="548640" y="1874520"/>
            <a:ext cx="11094415" cy="1828800"/>
          </a:xfrm>
          <a:prstGeom prst="rect">
            <a:avLst/>
          </a:prstGeom>
          <a:noFill/>
          <a:ln/>
        </p:spPr>
        <p:txBody>
          <a:bodyPr wrap="square" rtlCol="0" anchor="ctr"/>
          <a:lstStyle/>
          <a:p>
            <a:pPr marL="342900" indent="-342900">
              <a:lnSpc>
                <a:spcPct val="125000"/>
              </a:lnSpc>
              <a:spcAft>
                <a:spcPts val="1200"/>
              </a:spcAft>
              <a:buSzPct val="100000"/>
              <a:buChar char="•"/>
            </a:pPr>
            <a:r>
              <a:rPr lang="en-US" sz="1600" dirty="0">
                <a:solidFill>
                  <a:srgbClr val="20303D"/>
                </a:solidFill>
                <a:latin typeface="Calibri" pitchFamily="34" charset="0"/>
                <a:ea typeface="Calibri" pitchFamily="34" charset="-122"/>
                <a:cs typeface="Calibri" pitchFamily="34" charset="-120"/>
              </a:rPr>
              <a:t>Model Predictive Control: ad ogni ora, il sistema guarda le prossime 24 ore e calcola il piano migliore per quel periodo.</a:t>
            </a:r>
            <a:endParaRPr lang="en-US" sz="1600" dirty="0"/>
          </a:p>
          <a:p>
            <a:pPr marL="342900" indent="-342900">
              <a:lnSpc>
                <a:spcPct val="125000"/>
              </a:lnSpc>
              <a:spcAft>
                <a:spcPts val="1200"/>
              </a:spcAft>
              <a:buSzPct val="100000"/>
              <a:buChar char="•"/>
            </a:pPr>
            <a:r>
              <a:rPr lang="en-US" sz="1600" dirty="0">
                <a:solidFill>
                  <a:srgbClr val="20303D"/>
                </a:solidFill>
                <a:latin typeface="Calibri" pitchFamily="34" charset="0"/>
                <a:ea typeface="Calibri" pitchFamily="34" charset="-122"/>
                <a:cs typeface="Calibri" pitchFamily="34" charset="-120"/>
              </a:rPr>
              <a:t>Il piano usa le previsioni per le ore future, perché quelle ore non sono ancora successe e il valore vero non si conosce.</a:t>
            </a:r>
            <a:endParaRPr lang="en-US" sz="1600" dirty="0"/>
          </a:p>
          <a:p>
            <a:pPr marL="342900" indent="-342900">
              <a:lnSpc>
                <a:spcPct val="125000"/>
              </a:lnSpc>
              <a:spcAft>
                <a:spcPts val="1200"/>
              </a:spcAft>
              <a:buSzPct val="100000"/>
              <a:buChar char="•"/>
            </a:pPr>
            <a:r>
              <a:rPr lang="en-US" sz="1600" dirty="0">
                <a:solidFill>
                  <a:srgbClr val="20303D"/>
                </a:solidFill>
                <a:latin typeface="Calibri" pitchFamily="34" charset="0"/>
                <a:ea typeface="Calibri" pitchFamily="34" charset="-122"/>
                <a:cs typeface="Calibri" pitchFamily="34" charset="-120"/>
              </a:rPr>
              <a:t>È come pianificare la settimana sapendo che il meteo di domani è quasi certo, ma quello di venerdì è solo una stima.</a:t>
            </a:r>
            <a:endParaRPr lang="en-US" sz="1600" dirty="0"/>
          </a:p>
        </p:txBody>
      </p:sp>
      <p:sp>
        <p:nvSpPr>
          <p:cNvPr id="5" name="Shape 3"/>
          <p:cNvSpPr/>
          <p:nvPr/>
        </p:nvSpPr>
        <p:spPr>
          <a:xfrm>
            <a:off x="2173072" y="3977640"/>
            <a:ext cx="384048" cy="502920"/>
          </a:xfrm>
          <a:prstGeom prst="roundRect">
            <a:avLst>
              <a:gd name="adj" fmla="val 9524"/>
            </a:avLst>
          </a:prstGeom>
          <a:solidFill>
            <a:srgbClr val="FFB100"/>
          </a:solidFill>
          <a:ln/>
        </p:spPr>
      </p:sp>
      <p:sp>
        <p:nvSpPr>
          <p:cNvPr id="6" name="Shape 4"/>
          <p:cNvSpPr/>
          <p:nvPr/>
        </p:nvSpPr>
        <p:spPr>
          <a:xfrm>
            <a:off x="2611984" y="3977640"/>
            <a:ext cx="384048" cy="502920"/>
          </a:xfrm>
          <a:prstGeom prst="roundRect">
            <a:avLst>
              <a:gd name="adj" fmla="val 9524"/>
            </a:avLst>
          </a:prstGeom>
          <a:solidFill>
            <a:srgbClr val="5FA8C7"/>
          </a:solidFill>
          <a:ln/>
        </p:spPr>
      </p:sp>
      <p:sp>
        <p:nvSpPr>
          <p:cNvPr id="7" name="Shape 5"/>
          <p:cNvSpPr/>
          <p:nvPr/>
        </p:nvSpPr>
        <p:spPr>
          <a:xfrm>
            <a:off x="3050896" y="3977640"/>
            <a:ext cx="384048" cy="502920"/>
          </a:xfrm>
          <a:prstGeom prst="roundRect">
            <a:avLst>
              <a:gd name="adj" fmla="val 9524"/>
            </a:avLst>
          </a:prstGeom>
          <a:solidFill>
            <a:srgbClr val="5FA8C7"/>
          </a:solidFill>
          <a:ln/>
        </p:spPr>
      </p:sp>
      <p:sp>
        <p:nvSpPr>
          <p:cNvPr id="8" name="Shape 6"/>
          <p:cNvSpPr/>
          <p:nvPr/>
        </p:nvSpPr>
        <p:spPr>
          <a:xfrm>
            <a:off x="3489808" y="3977640"/>
            <a:ext cx="384048" cy="502920"/>
          </a:xfrm>
          <a:prstGeom prst="roundRect">
            <a:avLst>
              <a:gd name="adj" fmla="val 9524"/>
            </a:avLst>
          </a:prstGeom>
          <a:solidFill>
            <a:srgbClr val="5FA8C7"/>
          </a:solidFill>
          <a:ln/>
        </p:spPr>
      </p:sp>
      <p:sp>
        <p:nvSpPr>
          <p:cNvPr id="9" name="Shape 7"/>
          <p:cNvSpPr/>
          <p:nvPr/>
        </p:nvSpPr>
        <p:spPr>
          <a:xfrm>
            <a:off x="3928720" y="3977640"/>
            <a:ext cx="384048" cy="502920"/>
          </a:xfrm>
          <a:prstGeom prst="roundRect">
            <a:avLst>
              <a:gd name="adj" fmla="val 9524"/>
            </a:avLst>
          </a:prstGeom>
          <a:solidFill>
            <a:srgbClr val="5FA8C7"/>
          </a:solidFill>
          <a:ln/>
        </p:spPr>
      </p:sp>
      <p:sp>
        <p:nvSpPr>
          <p:cNvPr id="10" name="Shape 8"/>
          <p:cNvSpPr/>
          <p:nvPr/>
        </p:nvSpPr>
        <p:spPr>
          <a:xfrm>
            <a:off x="4367632" y="3977640"/>
            <a:ext cx="384048" cy="502920"/>
          </a:xfrm>
          <a:prstGeom prst="roundRect">
            <a:avLst>
              <a:gd name="adj" fmla="val 9524"/>
            </a:avLst>
          </a:prstGeom>
          <a:solidFill>
            <a:srgbClr val="5FA8C7"/>
          </a:solidFill>
          <a:ln/>
        </p:spPr>
      </p:sp>
      <p:sp>
        <p:nvSpPr>
          <p:cNvPr id="11" name="Shape 9"/>
          <p:cNvSpPr/>
          <p:nvPr/>
        </p:nvSpPr>
        <p:spPr>
          <a:xfrm>
            <a:off x="4806544" y="3977640"/>
            <a:ext cx="384048" cy="502920"/>
          </a:xfrm>
          <a:prstGeom prst="roundRect">
            <a:avLst>
              <a:gd name="adj" fmla="val 9524"/>
            </a:avLst>
          </a:prstGeom>
          <a:solidFill>
            <a:srgbClr val="5FA8C7"/>
          </a:solidFill>
          <a:ln/>
        </p:spPr>
      </p:sp>
      <p:sp>
        <p:nvSpPr>
          <p:cNvPr id="12" name="Shape 10"/>
          <p:cNvSpPr/>
          <p:nvPr/>
        </p:nvSpPr>
        <p:spPr>
          <a:xfrm>
            <a:off x="5245456" y="3977640"/>
            <a:ext cx="384048" cy="502920"/>
          </a:xfrm>
          <a:prstGeom prst="roundRect">
            <a:avLst>
              <a:gd name="adj" fmla="val 9524"/>
            </a:avLst>
          </a:prstGeom>
          <a:solidFill>
            <a:srgbClr val="5FA8C7"/>
          </a:solidFill>
          <a:ln/>
        </p:spPr>
      </p:sp>
      <p:sp>
        <p:nvSpPr>
          <p:cNvPr id="13" name="Shape 11"/>
          <p:cNvSpPr/>
          <p:nvPr/>
        </p:nvSpPr>
        <p:spPr>
          <a:xfrm>
            <a:off x="5684368" y="3977640"/>
            <a:ext cx="384048" cy="502920"/>
          </a:xfrm>
          <a:prstGeom prst="roundRect">
            <a:avLst>
              <a:gd name="adj" fmla="val 9524"/>
            </a:avLst>
          </a:prstGeom>
          <a:solidFill>
            <a:srgbClr val="5FA8C7"/>
          </a:solidFill>
          <a:ln/>
        </p:spPr>
      </p:sp>
      <p:sp>
        <p:nvSpPr>
          <p:cNvPr id="14" name="Shape 12"/>
          <p:cNvSpPr/>
          <p:nvPr/>
        </p:nvSpPr>
        <p:spPr>
          <a:xfrm>
            <a:off x="6123280" y="3977640"/>
            <a:ext cx="384048" cy="502920"/>
          </a:xfrm>
          <a:prstGeom prst="roundRect">
            <a:avLst>
              <a:gd name="adj" fmla="val 9524"/>
            </a:avLst>
          </a:prstGeom>
          <a:solidFill>
            <a:srgbClr val="5FA8C7"/>
          </a:solidFill>
          <a:ln/>
        </p:spPr>
      </p:sp>
      <p:sp>
        <p:nvSpPr>
          <p:cNvPr id="15" name="Shape 13"/>
          <p:cNvSpPr/>
          <p:nvPr/>
        </p:nvSpPr>
        <p:spPr>
          <a:xfrm>
            <a:off x="6562192" y="3977640"/>
            <a:ext cx="384048" cy="502920"/>
          </a:xfrm>
          <a:prstGeom prst="roundRect">
            <a:avLst>
              <a:gd name="adj" fmla="val 9524"/>
            </a:avLst>
          </a:prstGeom>
          <a:solidFill>
            <a:srgbClr val="5FA8C7"/>
          </a:solidFill>
          <a:ln/>
        </p:spPr>
      </p:sp>
      <p:sp>
        <p:nvSpPr>
          <p:cNvPr id="16" name="Shape 14"/>
          <p:cNvSpPr/>
          <p:nvPr/>
        </p:nvSpPr>
        <p:spPr>
          <a:xfrm>
            <a:off x="7001104" y="3977640"/>
            <a:ext cx="384048" cy="502920"/>
          </a:xfrm>
          <a:prstGeom prst="roundRect">
            <a:avLst>
              <a:gd name="adj" fmla="val 9524"/>
            </a:avLst>
          </a:prstGeom>
          <a:solidFill>
            <a:srgbClr val="5FA8C7"/>
          </a:solidFill>
          <a:ln/>
        </p:spPr>
      </p:sp>
      <p:sp>
        <p:nvSpPr>
          <p:cNvPr id="17" name="Shape 15"/>
          <p:cNvSpPr/>
          <p:nvPr/>
        </p:nvSpPr>
        <p:spPr>
          <a:xfrm>
            <a:off x="7440016" y="3977640"/>
            <a:ext cx="384048" cy="502920"/>
          </a:xfrm>
          <a:prstGeom prst="roundRect">
            <a:avLst>
              <a:gd name="adj" fmla="val 9524"/>
            </a:avLst>
          </a:prstGeom>
          <a:solidFill>
            <a:srgbClr val="5FA8C7"/>
          </a:solidFill>
          <a:ln/>
        </p:spPr>
      </p:sp>
      <p:sp>
        <p:nvSpPr>
          <p:cNvPr id="18" name="Shape 16"/>
          <p:cNvSpPr/>
          <p:nvPr/>
        </p:nvSpPr>
        <p:spPr>
          <a:xfrm>
            <a:off x="7878928" y="3977640"/>
            <a:ext cx="384048" cy="502920"/>
          </a:xfrm>
          <a:prstGeom prst="roundRect">
            <a:avLst>
              <a:gd name="adj" fmla="val 9524"/>
            </a:avLst>
          </a:prstGeom>
          <a:solidFill>
            <a:srgbClr val="5FA8C7"/>
          </a:solidFill>
          <a:ln/>
        </p:spPr>
      </p:sp>
      <p:sp>
        <p:nvSpPr>
          <p:cNvPr id="19" name="Shape 17"/>
          <p:cNvSpPr/>
          <p:nvPr/>
        </p:nvSpPr>
        <p:spPr>
          <a:xfrm>
            <a:off x="8317840" y="3977640"/>
            <a:ext cx="384048" cy="502920"/>
          </a:xfrm>
          <a:prstGeom prst="roundRect">
            <a:avLst>
              <a:gd name="adj" fmla="val 9524"/>
            </a:avLst>
          </a:prstGeom>
          <a:solidFill>
            <a:srgbClr val="5FA8C7"/>
          </a:solidFill>
          <a:ln/>
        </p:spPr>
      </p:sp>
      <p:sp>
        <p:nvSpPr>
          <p:cNvPr id="20" name="Shape 18"/>
          <p:cNvSpPr/>
          <p:nvPr/>
        </p:nvSpPr>
        <p:spPr>
          <a:xfrm>
            <a:off x="8756752" y="3977640"/>
            <a:ext cx="384048" cy="502920"/>
          </a:xfrm>
          <a:prstGeom prst="roundRect">
            <a:avLst>
              <a:gd name="adj" fmla="val 9524"/>
            </a:avLst>
          </a:prstGeom>
          <a:solidFill>
            <a:srgbClr val="5FA8C7"/>
          </a:solidFill>
          <a:ln/>
        </p:spPr>
      </p:sp>
      <p:sp>
        <p:nvSpPr>
          <p:cNvPr id="21" name="Shape 19"/>
          <p:cNvSpPr/>
          <p:nvPr/>
        </p:nvSpPr>
        <p:spPr>
          <a:xfrm>
            <a:off x="9195664" y="3977640"/>
            <a:ext cx="384048" cy="502920"/>
          </a:xfrm>
          <a:prstGeom prst="roundRect">
            <a:avLst>
              <a:gd name="adj" fmla="val 9524"/>
            </a:avLst>
          </a:prstGeom>
          <a:solidFill>
            <a:srgbClr val="5FA8C7"/>
          </a:solidFill>
          <a:ln/>
        </p:spPr>
      </p:sp>
      <p:sp>
        <p:nvSpPr>
          <p:cNvPr id="22" name="Shape 20"/>
          <p:cNvSpPr/>
          <p:nvPr/>
        </p:nvSpPr>
        <p:spPr>
          <a:xfrm>
            <a:off x="9634576" y="3977640"/>
            <a:ext cx="384048" cy="502920"/>
          </a:xfrm>
          <a:prstGeom prst="roundRect">
            <a:avLst>
              <a:gd name="adj" fmla="val 9524"/>
            </a:avLst>
          </a:prstGeom>
          <a:solidFill>
            <a:srgbClr val="5FA8C7"/>
          </a:solidFill>
          <a:ln/>
        </p:spPr>
      </p:sp>
      <p:sp>
        <p:nvSpPr>
          <p:cNvPr id="23" name="Text 21"/>
          <p:cNvSpPr/>
          <p:nvPr/>
        </p:nvSpPr>
        <p:spPr>
          <a:xfrm>
            <a:off x="1624432" y="4544568"/>
            <a:ext cx="1554480" cy="457200"/>
          </a:xfrm>
          <a:prstGeom prst="rect">
            <a:avLst/>
          </a:prstGeom>
          <a:noFill/>
          <a:ln/>
        </p:spPr>
        <p:txBody>
          <a:bodyPr wrap="square" lIns="0" tIns="0" rIns="0" bIns="0" rtlCol="0" anchor="ctr"/>
          <a:lstStyle/>
          <a:p>
            <a:pPr algn="l" indent="0" marL="0">
              <a:lnSpc>
                <a:spcPct val="100000"/>
              </a:lnSpc>
              <a:buNone/>
            </a:pPr>
            <a:r>
              <a:rPr lang="en-US" sz="1050" b="1" dirty="0">
                <a:solidFill>
                  <a:srgbClr val="0B3D59"/>
                </a:solidFill>
                <a:latin typeface="Calibri" pitchFamily="34" charset="0"/>
                <a:ea typeface="Calibri" pitchFamily="34" charset="-122"/>
                <a:cs typeface="Calibri" pitchFamily="34" charset="-120"/>
              </a:rPr>
              <a:t>ora corrente</a:t>
            </a:r>
            <a:endParaRPr lang="en-US" sz="1050" dirty="0"/>
          </a:p>
          <a:p>
            <a:pPr algn="l" indent="0" marL="0">
              <a:lnSpc>
                <a:spcPct val="100000"/>
              </a:lnSpc>
              <a:buNone/>
            </a:pPr>
            <a:r>
              <a:rPr lang="en-US" sz="1050" b="1" dirty="0">
                <a:solidFill>
                  <a:srgbClr val="0B3D59"/>
                </a:solidFill>
                <a:latin typeface="Calibri" pitchFamily="34" charset="0"/>
                <a:ea typeface="Calibri" pitchFamily="34" charset="-122"/>
                <a:cs typeface="Calibri" pitchFamily="34" charset="-120"/>
              </a:rPr>
              <a:t>(dato vero)</a:t>
            </a:r>
            <a:endParaRPr lang="en-US" sz="1050" dirty="0"/>
          </a:p>
        </p:txBody>
      </p:sp>
      <p:sp>
        <p:nvSpPr>
          <p:cNvPr id="24" name="Text 22"/>
          <p:cNvSpPr/>
          <p:nvPr/>
        </p:nvSpPr>
        <p:spPr>
          <a:xfrm>
            <a:off x="2611984" y="4544568"/>
            <a:ext cx="7845552" cy="365760"/>
          </a:xfrm>
          <a:prstGeom prst="rect">
            <a:avLst/>
          </a:prstGeom>
          <a:noFill/>
          <a:ln/>
        </p:spPr>
        <p:txBody>
          <a:bodyPr wrap="square" lIns="0" tIns="0" rIns="0" bIns="0" rtlCol="0" anchor="ctr"/>
          <a:lstStyle/>
          <a:p>
            <a:pPr algn="l" indent="0" marL="0">
              <a:buNone/>
            </a:pPr>
            <a:r>
              <a:rPr lang="en-US" sz="1050" dirty="0">
                <a:solidFill>
                  <a:srgbClr val="6B7A85"/>
                </a:solidFill>
                <a:latin typeface="Calibri" pitchFamily="34" charset="0"/>
                <a:ea typeface="Calibri" pitchFamily="34" charset="-122"/>
                <a:cs typeface="Calibri" pitchFamily="34" charset="-120"/>
              </a:rPr>
              <a:t>prossime 23 ore della finestra (previsione)</a:t>
            </a:r>
            <a:endParaRPr lang="en-US" sz="1050" dirty="0"/>
          </a:p>
        </p:txBody>
      </p:sp>
      <p:sp>
        <p:nvSpPr>
          <p:cNvPr id="25" name="Text 23"/>
          <p:cNvSpPr/>
          <p:nvPr/>
        </p:nvSpPr>
        <p:spPr>
          <a:xfrm>
            <a:off x="2173072" y="3593592"/>
            <a:ext cx="7845552" cy="320040"/>
          </a:xfrm>
          <a:prstGeom prst="rect">
            <a:avLst/>
          </a:prstGeom>
          <a:noFill/>
          <a:ln/>
        </p:spPr>
        <p:txBody>
          <a:bodyPr wrap="square" lIns="0" tIns="0" rIns="0" bIns="0" rtlCol="0" anchor="ctr"/>
          <a:lstStyle/>
          <a:p>
            <a:pPr indent="0" marL="0">
              <a:buNone/>
            </a:pPr>
            <a:r>
              <a:rPr lang="en-US" sz="1150" b="1" dirty="0">
                <a:solidFill>
                  <a:srgbClr val="0B3D59"/>
                </a:solidFill>
                <a:latin typeface="Calibri" pitchFamily="34" charset="0"/>
                <a:ea typeface="Calibri" pitchFamily="34" charset="-122"/>
                <a:cs typeface="Calibri" pitchFamily="34" charset="-120"/>
              </a:rPr>
              <a:t>finestra di 24 ore ricalcolata ad ogni passo →</a:t>
            </a:r>
            <a:endParaRPr lang="en-US" sz="1150" dirty="0"/>
          </a:p>
        </p:txBody>
      </p:sp>
      <p:sp>
        <p:nvSpPr>
          <p:cNvPr id="27" name="Text 24"/>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A85"/>
                </a:solidFill>
                <a:latin typeface="Calibri" pitchFamily="34" charset="0"/>
                <a:ea typeface="Calibri" pitchFamily="34" charset="-122"/>
                <a:cs typeface="Calibri" pitchFamily="34" charset="-120"/>
              </a:rPr>
              <a:t>Project 16 — Controllo MPC di un sistema energetico industriale</a:t>
            </a:r>
            <a:endParaRPr lang="en-US" sz="900" dirty="0"/>
          </a:p>
        </p:txBody>
      </p:sp>
      <p:sp>
        <p:nvSpPr>
          <p:cNvPr id="28" name="Text 25"/>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6B7A8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3D59"/>
        </a:solidFill>
      </p:bgPr>
    </p:bg>
    <p:spTree>
      <p:nvGrpSpPr>
        <p:cNvPr id="1" name=""/>
        <p:cNvGrpSpPr/>
        <p:nvPr/>
      </p:nvGrpSpPr>
      <p:grpSpPr>
        <a:xfrm>
          <a:off x="0" y="0"/>
          <a:ext cx="0" cy="0"/>
          <a:chOff x="0" y="0"/>
          <a:chExt cx="0" cy="0"/>
        </a:xfrm>
      </p:grpSpPr>
      <p:sp>
        <p:nvSpPr>
          <p:cNvPr id="2" name="Text 0"/>
          <p:cNvSpPr/>
          <p:nvPr/>
        </p:nvSpPr>
        <p:spPr>
          <a:xfrm>
            <a:off x="548640" y="411480"/>
            <a:ext cx="11094415" cy="320040"/>
          </a:xfrm>
          <a:prstGeom prst="rect">
            <a:avLst/>
          </a:prstGeom>
          <a:noFill/>
          <a:ln/>
        </p:spPr>
        <p:txBody>
          <a:bodyPr wrap="square" lIns="0" tIns="0" rIns="0" bIns="0" rtlCol="0" anchor="ctr"/>
          <a:lstStyle/>
          <a:p>
            <a:pPr indent="0" marL="0">
              <a:buNone/>
            </a:pPr>
            <a:r>
              <a:rPr lang="en-US" sz="1300" b="1" spc="200" kern="0" dirty="0">
                <a:solidFill>
                  <a:srgbClr val="FFB100"/>
                </a:solidFill>
                <a:latin typeface="Calibri" pitchFamily="34" charset="0"/>
                <a:ea typeface="Calibri" pitchFamily="34" charset="-122"/>
                <a:cs typeface="Calibri" pitchFamily="34" charset="-120"/>
              </a:rPr>
              <a:t>03 · IL CONTROLLO MPC</a:t>
            </a:r>
            <a:endParaRPr lang="en-US" sz="1300" dirty="0"/>
          </a:p>
        </p:txBody>
      </p:sp>
      <p:sp>
        <p:nvSpPr>
          <p:cNvPr id="3" name="Text 1"/>
          <p:cNvSpPr/>
          <p:nvPr/>
        </p:nvSpPr>
        <p:spPr>
          <a:xfrm>
            <a:off x="548640" y="713232"/>
            <a:ext cx="11094415" cy="7772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Perché si applica solo la prima decisione?</a:t>
            </a:r>
            <a:endParaRPr lang="en-US" sz="3000" dirty="0"/>
          </a:p>
        </p:txBody>
      </p:sp>
      <p:sp>
        <p:nvSpPr>
          <p:cNvPr id="4" name="Shape 2"/>
          <p:cNvSpPr/>
          <p:nvPr/>
        </p:nvSpPr>
        <p:spPr>
          <a:xfrm>
            <a:off x="548640" y="2103120"/>
            <a:ext cx="2499284" cy="3291840"/>
          </a:xfrm>
          <a:prstGeom prst="roundRect">
            <a:avLst>
              <a:gd name="adj" fmla="val 2927"/>
            </a:avLst>
          </a:prstGeom>
          <a:solidFill>
            <a:srgbClr val="082B40"/>
          </a:solidFill>
          <a:ln w="12700">
            <a:solidFill>
              <a:srgbClr val="082B40"/>
            </a:solidFill>
            <a:prstDash val="solid"/>
          </a:ln>
        </p:spPr>
      </p:sp>
      <p:sp>
        <p:nvSpPr>
          <p:cNvPr id="5" name="Shape 3"/>
          <p:cNvSpPr/>
          <p:nvPr/>
        </p:nvSpPr>
        <p:spPr>
          <a:xfrm>
            <a:off x="1478242" y="2377440"/>
            <a:ext cx="640080" cy="640080"/>
          </a:xfrm>
          <a:prstGeom prst="ellipse">
            <a:avLst/>
          </a:prstGeom>
          <a:solidFill>
            <a:srgbClr val="FFB100"/>
          </a:solidFill>
          <a:ln/>
        </p:spPr>
      </p:sp>
      <p:sp>
        <p:nvSpPr>
          <p:cNvPr id="6" name="Text 4"/>
          <p:cNvSpPr/>
          <p:nvPr/>
        </p:nvSpPr>
        <p:spPr>
          <a:xfrm>
            <a:off x="1478242" y="2377440"/>
            <a:ext cx="640080" cy="640080"/>
          </a:xfrm>
          <a:prstGeom prst="rect">
            <a:avLst/>
          </a:prstGeom>
          <a:noFill/>
          <a:ln/>
        </p:spPr>
        <p:txBody>
          <a:bodyPr wrap="square" lIns="0" tIns="0" rIns="0" bIns="0" rtlCol="0" anchor="ctr"/>
          <a:lstStyle/>
          <a:p>
            <a:pPr algn="ctr" indent="0" marL="0">
              <a:buNone/>
            </a:pPr>
            <a:r>
              <a:rPr lang="en-US" sz="2000" b="1" dirty="0">
                <a:solidFill>
                  <a:srgbClr val="082B40"/>
                </a:solidFill>
                <a:latin typeface="Calibri" pitchFamily="34" charset="0"/>
                <a:ea typeface="Calibri" pitchFamily="34" charset="-122"/>
                <a:cs typeface="Calibri" pitchFamily="34" charset="-120"/>
              </a:rPr>
              <a:t>1</a:t>
            </a:r>
            <a:endParaRPr lang="en-US" sz="2000" dirty="0"/>
          </a:p>
        </p:txBody>
      </p:sp>
      <p:sp>
        <p:nvSpPr>
          <p:cNvPr id="7" name="Text 5"/>
          <p:cNvSpPr/>
          <p:nvPr/>
        </p:nvSpPr>
        <p:spPr>
          <a:xfrm>
            <a:off x="777240" y="3291840"/>
            <a:ext cx="2042084" cy="822960"/>
          </a:xfrm>
          <a:prstGeom prst="rect">
            <a:avLst/>
          </a:prstGeom>
          <a:noFill/>
          <a:ln/>
        </p:spPr>
        <p:txBody>
          <a:bodyPr wrap="square" lIns="0" tIns="0" rIns="0" bIns="0" rtlCol="0" anchor="ctr"/>
          <a:lstStyle/>
          <a:p>
            <a:pPr algn="ctr" indent="0" marL="0">
              <a:lnSpc>
                <a:spcPct val="115000"/>
              </a:lnSpc>
              <a:buNone/>
            </a:pPr>
            <a:r>
              <a:rPr lang="en-US" sz="1400" b="1" dirty="0">
                <a:solidFill>
                  <a:srgbClr val="FFFFFF"/>
                </a:solidFill>
                <a:latin typeface="Calibri" pitchFamily="34" charset="0"/>
                <a:ea typeface="Calibri" pitchFamily="34" charset="-122"/>
                <a:cs typeface="Calibri" pitchFamily="34" charset="-120"/>
              </a:rPr>
              <a:t>Si calcola il piano ottimo per 24 ore</a:t>
            </a:r>
            <a:endParaRPr lang="en-US" sz="1400" dirty="0"/>
          </a:p>
        </p:txBody>
      </p:sp>
      <p:sp>
        <p:nvSpPr>
          <p:cNvPr id="8" name="Text 6"/>
          <p:cNvSpPr/>
          <p:nvPr/>
        </p:nvSpPr>
        <p:spPr>
          <a:xfrm>
            <a:off x="777240" y="4160520"/>
            <a:ext cx="2042084" cy="1097280"/>
          </a:xfrm>
          <a:prstGeom prst="rect">
            <a:avLst/>
          </a:prstGeom>
          <a:noFill/>
          <a:ln/>
        </p:spPr>
        <p:txBody>
          <a:bodyPr wrap="square" lIns="0" tIns="0" rIns="0" bIns="0" rtlCol="0" anchor="ctr"/>
          <a:lstStyle/>
          <a:p>
            <a:pPr algn="ctr" indent="0" marL="0">
              <a:lnSpc>
                <a:spcPct val="120000"/>
              </a:lnSpc>
              <a:buNone/>
            </a:pPr>
            <a:r>
              <a:rPr lang="en-US" sz="1150" dirty="0">
                <a:solidFill>
                  <a:srgbClr val="B9C9D4"/>
                </a:solidFill>
                <a:latin typeface="Calibri" pitchFamily="34" charset="0"/>
                <a:ea typeface="Calibri" pitchFamily="34" charset="-122"/>
                <a:cs typeface="Calibri" pitchFamily="34" charset="-120"/>
              </a:rPr>
              <a:t>usando le previsioni disponibili in quel momento</a:t>
            </a:r>
            <a:endParaRPr lang="en-US" sz="1150" dirty="0"/>
          </a:p>
        </p:txBody>
      </p:sp>
      <p:sp>
        <p:nvSpPr>
          <p:cNvPr id="9" name="Text 7"/>
          <p:cNvSpPr/>
          <p:nvPr/>
        </p:nvSpPr>
        <p:spPr>
          <a:xfrm>
            <a:off x="3047924" y="3383280"/>
            <a:ext cx="365760" cy="457200"/>
          </a:xfrm>
          <a:prstGeom prst="rect">
            <a:avLst/>
          </a:prstGeom>
          <a:noFill/>
          <a:ln/>
        </p:spPr>
        <p:txBody>
          <a:bodyPr wrap="square" lIns="0" tIns="0" rIns="0" bIns="0" rtlCol="0" anchor="ctr"/>
          <a:lstStyle/>
          <a:p>
            <a:pPr algn="ctr" indent="0" marL="0">
              <a:buNone/>
            </a:pPr>
            <a:r>
              <a:rPr lang="en-US" sz="2200" dirty="0">
                <a:solidFill>
                  <a:srgbClr val="FFB100"/>
                </a:solidFill>
                <a:latin typeface="Calibri" pitchFamily="34" charset="0"/>
                <a:ea typeface="Calibri" pitchFamily="34" charset="-122"/>
                <a:cs typeface="Calibri" pitchFamily="34" charset="-120"/>
              </a:rPr>
              <a:t>→</a:t>
            </a:r>
            <a:endParaRPr lang="en-US" sz="2200" dirty="0"/>
          </a:p>
        </p:txBody>
      </p:sp>
      <p:sp>
        <p:nvSpPr>
          <p:cNvPr id="10" name="Shape 8"/>
          <p:cNvSpPr/>
          <p:nvPr/>
        </p:nvSpPr>
        <p:spPr>
          <a:xfrm>
            <a:off x="3413684" y="2103120"/>
            <a:ext cx="2499284" cy="3291840"/>
          </a:xfrm>
          <a:prstGeom prst="roundRect">
            <a:avLst>
              <a:gd name="adj" fmla="val 2927"/>
            </a:avLst>
          </a:prstGeom>
          <a:solidFill>
            <a:srgbClr val="082B40"/>
          </a:solidFill>
          <a:ln w="12700">
            <a:solidFill>
              <a:srgbClr val="082B40"/>
            </a:solidFill>
            <a:prstDash val="solid"/>
          </a:ln>
        </p:spPr>
      </p:sp>
      <p:sp>
        <p:nvSpPr>
          <p:cNvPr id="11" name="Shape 9"/>
          <p:cNvSpPr/>
          <p:nvPr/>
        </p:nvSpPr>
        <p:spPr>
          <a:xfrm>
            <a:off x="4343286" y="2377440"/>
            <a:ext cx="640080" cy="640080"/>
          </a:xfrm>
          <a:prstGeom prst="ellipse">
            <a:avLst/>
          </a:prstGeom>
          <a:solidFill>
            <a:srgbClr val="FFB100"/>
          </a:solidFill>
          <a:ln/>
        </p:spPr>
      </p:sp>
      <p:sp>
        <p:nvSpPr>
          <p:cNvPr id="12" name="Text 10"/>
          <p:cNvSpPr/>
          <p:nvPr/>
        </p:nvSpPr>
        <p:spPr>
          <a:xfrm>
            <a:off x="4343286" y="2377440"/>
            <a:ext cx="640080" cy="640080"/>
          </a:xfrm>
          <a:prstGeom prst="rect">
            <a:avLst/>
          </a:prstGeom>
          <a:noFill/>
          <a:ln/>
        </p:spPr>
        <p:txBody>
          <a:bodyPr wrap="square" lIns="0" tIns="0" rIns="0" bIns="0" rtlCol="0" anchor="ctr"/>
          <a:lstStyle/>
          <a:p>
            <a:pPr algn="ctr" indent="0" marL="0">
              <a:buNone/>
            </a:pPr>
            <a:r>
              <a:rPr lang="en-US" sz="2000" b="1" dirty="0">
                <a:solidFill>
                  <a:srgbClr val="082B40"/>
                </a:solidFill>
                <a:latin typeface="Calibri" pitchFamily="34" charset="0"/>
                <a:ea typeface="Calibri" pitchFamily="34" charset="-122"/>
                <a:cs typeface="Calibri" pitchFamily="34" charset="-120"/>
              </a:rPr>
              <a:t>2</a:t>
            </a:r>
            <a:endParaRPr lang="en-US" sz="2000" dirty="0"/>
          </a:p>
        </p:txBody>
      </p:sp>
      <p:sp>
        <p:nvSpPr>
          <p:cNvPr id="13" name="Text 11"/>
          <p:cNvSpPr/>
          <p:nvPr/>
        </p:nvSpPr>
        <p:spPr>
          <a:xfrm>
            <a:off x="3642284" y="3291840"/>
            <a:ext cx="2042084" cy="822960"/>
          </a:xfrm>
          <a:prstGeom prst="rect">
            <a:avLst/>
          </a:prstGeom>
          <a:noFill/>
          <a:ln/>
        </p:spPr>
        <p:txBody>
          <a:bodyPr wrap="square" lIns="0" tIns="0" rIns="0" bIns="0" rtlCol="0" anchor="ctr"/>
          <a:lstStyle/>
          <a:p>
            <a:pPr algn="ctr" indent="0" marL="0">
              <a:lnSpc>
                <a:spcPct val="115000"/>
              </a:lnSpc>
              <a:buNone/>
            </a:pPr>
            <a:r>
              <a:rPr lang="en-US" sz="1400" b="1" dirty="0">
                <a:solidFill>
                  <a:srgbClr val="FFFFFF"/>
                </a:solidFill>
                <a:latin typeface="Calibri" pitchFamily="34" charset="0"/>
                <a:ea typeface="Calibri" pitchFamily="34" charset="-122"/>
                <a:cs typeface="Calibri" pitchFamily="34" charset="-120"/>
              </a:rPr>
              <a:t>Si applica solo la decisione della 1ª ora</a:t>
            </a:r>
            <a:endParaRPr lang="en-US" sz="1400" dirty="0"/>
          </a:p>
        </p:txBody>
      </p:sp>
      <p:sp>
        <p:nvSpPr>
          <p:cNvPr id="14" name="Text 12"/>
          <p:cNvSpPr/>
          <p:nvPr/>
        </p:nvSpPr>
        <p:spPr>
          <a:xfrm>
            <a:off x="3642284" y="4160520"/>
            <a:ext cx="2042084" cy="1097280"/>
          </a:xfrm>
          <a:prstGeom prst="rect">
            <a:avLst/>
          </a:prstGeom>
          <a:noFill/>
          <a:ln/>
        </p:spPr>
        <p:txBody>
          <a:bodyPr wrap="square" lIns="0" tIns="0" rIns="0" bIns="0" rtlCol="0" anchor="ctr"/>
          <a:lstStyle/>
          <a:p>
            <a:pPr algn="ctr" indent="0" marL="0">
              <a:lnSpc>
                <a:spcPct val="120000"/>
              </a:lnSpc>
              <a:buNone/>
            </a:pPr>
            <a:r>
              <a:rPr lang="en-US" sz="1150" dirty="0">
                <a:solidFill>
                  <a:srgbClr val="B9C9D4"/>
                </a:solidFill>
                <a:latin typeface="Calibri" pitchFamily="34" charset="0"/>
                <a:ea typeface="Calibri" pitchFamily="34" charset="-122"/>
                <a:cs typeface="Calibri" pitchFamily="34" charset="-120"/>
              </a:rPr>
              <a:t>quella per cui, per costruzione, si usa il dato vero</a:t>
            </a:r>
            <a:endParaRPr lang="en-US" sz="1150" dirty="0"/>
          </a:p>
        </p:txBody>
      </p:sp>
      <p:sp>
        <p:nvSpPr>
          <p:cNvPr id="15" name="Text 13"/>
          <p:cNvSpPr/>
          <p:nvPr/>
        </p:nvSpPr>
        <p:spPr>
          <a:xfrm>
            <a:off x="5912968" y="3383280"/>
            <a:ext cx="365760" cy="457200"/>
          </a:xfrm>
          <a:prstGeom prst="rect">
            <a:avLst/>
          </a:prstGeom>
          <a:noFill/>
          <a:ln/>
        </p:spPr>
        <p:txBody>
          <a:bodyPr wrap="square" lIns="0" tIns="0" rIns="0" bIns="0" rtlCol="0" anchor="ctr"/>
          <a:lstStyle/>
          <a:p>
            <a:pPr algn="ctr" indent="0" marL="0">
              <a:buNone/>
            </a:pPr>
            <a:r>
              <a:rPr lang="en-US" sz="2200" dirty="0">
                <a:solidFill>
                  <a:srgbClr val="FFB100"/>
                </a:solidFill>
                <a:latin typeface="Calibri" pitchFamily="34" charset="0"/>
                <a:ea typeface="Calibri" pitchFamily="34" charset="-122"/>
                <a:cs typeface="Calibri" pitchFamily="34" charset="-120"/>
              </a:rPr>
              <a:t>→</a:t>
            </a:r>
            <a:endParaRPr lang="en-US" sz="2200" dirty="0"/>
          </a:p>
        </p:txBody>
      </p:sp>
      <p:sp>
        <p:nvSpPr>
          <p:cNvPr id="16" name="Shape 14"/>
          <p:cNvSpPr/>
          <p:nvPr/>
        </p:nvSpPr>
        <p:spPr>
          <a:xfrm>
            <a:off x="6278728" y="2103120"/>
            <a:ext cx="2499284" cy="3291840"/>
          </a:xfrm>
          <a:prstGeom prst="roundRect">
            <a:avLst>
              <a:gd name="adj" fmla="val 2927"/>
            </a:avLst>
          </a:prstGeom>
          <a:solidFill>
            <a:srgbClr val="082B40"/>
          </a:solidFill>
          <a:ln w="12700">
            <a:solidFill>
              <a:srgbClr val="082B40"/>
            </a:solidFill>
            <a:prstDash val="solid"/>
          </a:ln>
        </p:spPr>
      </p:sp>
      <p:sp>
        <p:nvSpPr>
          <p:cNvPr id="17" name="Shape 15"/>
          <p:cNvSpPr/>
          <p:nvPr/>
        </p:nvSpPr>
        <p:spPr>
          <a:xfrm>
            <a:off x="7208330" y="2377440"/>
            <a:ext cx="640080" cy="640080"/>
          </a:xfrm>
          <a:prstGeom prst="ellipse">
            <a:avLst/>
          </a:prstGeom>
          <a:solidFill>
            <a:srgbClr val="FFB100"/>
          </a:solidFill>
          <a:ln/>
        </p:spPr>
      </p:sp>
      <p:sp>
        <p:nvSpPr>
          <p:cNvPr id="18" name="Text 16"/>
          <p:cNvSpPr/>
          <p:nvPr/>
        </p:nvSpPr>
        <p:spPr>
          <a:xfrm>
            <a:off x="7208330" y="2377440"/>
            <a:ext cx="640080" cy="640080"/>
          </a:xfrm>
          <a:prstGeom prst="rect">
            <a:avLst/>
          </a:prstGeom>
          <a:noFill/>
          <a:ln/>
        </p:spPr>
        <p:txBody>
          <a:bodyPr wrap="square" lIns="0" tIns="0" rIns="0" bIns="0" rtlCol="0" anchor="ctr"/>
          <a:lstStyle/>
          <a:p>
            <a:pPr algn="ctr" indent="0" marL="0">
              <a:buNone/>
            </a:pPr>
            <a:r>
              <a:rPr lang="en-US" sz="2000" b="1" dirty="0">
                <a:solidFill>
                  <a:srgbClr val="082B40"/>
                </a:solidFill>
                <a:latin typeface="Calibri" pitchFamily="34" charset="0"/>
                <a:ea typeface="Calibri" pitchFamily="34" charset="-122"/>
                <a:cs typeface="Calibri" pitchFamily="34" charset="-120"/>
              </a:rPr>
              <a:t>3</a:t>
            </a:r>
            <a:endParaRPr lang="en-US" sz="2000" dirty="0"/>
          </a:p>
        </p:txBody>
      </p:sp>
      <p:sp>
        <p:nvSpPr>
          <p:cNvPr id="19" name="Text 17"/>
          <p:cNvSpPr/>
          <p:nvPr/>
        </p:nvSpPr>
        <p:spPr>
          <a:xfrm>
            <a:off x="6507328" y="3291840"/>
            <a:ext cx="2042084" cy="822960"/>
          </a:xfrm>
          <a:prstGeom prst="rect">
            <a:avLst/>
          </a:prstGeom>
          <a:noFill/>
          <a:ln/>
        </p:spPr>
        <p:txBody>
          <a:bodyPr wrap="square" lIns="0" tIns="0" rIns="0" bIns="0" rtlCol="0" anchor="ctr"/>
          <a:lstStyle/>
          <a:p>
            <a:pPr algn="ctr" indent="0" marL="0">
              <a:lnSpc>
                <a:spcPct val="115000"/>
              </a:lnSpc>
              <a:buNone/>
            </a:pPr>
            <a:r>
              <a:rPr lang="en-US" sz="1400" b="1" dirty="0">
                <a:solidFill>
                  <a:srgbClr val="FFFFFF"/>
                </a:solidFill>
                <a:latin typeface="Calibri" pitchFamily="34" charset="0"/>
                <a:ea typeface="Calibri" pitchFamily="34" charset="-122"/>
                <a:cs typeface="Calibri" pitchFamily="34" charset="-120"/>
              </a:rPr>
              <a:t>Si aggiorna lo stato reale</a:t>
            </a:r>
            <a:endParaRPr lang="en-US" sz="1400" dirty="0"/>
          </a:p>
        </p:txBody>
      </p:sp>
      <p:sp>
        <p:nvSpPr>
          <p:cNvPr id="20" name="Text 18"/>
          <p:cNvSpPr/>
          <p:nvPr/>
        </p:nvSpPr>
        <p:spPr>
          <a:xfrm>
            <a:off x="6507328" y="4160520"/>
            <a:ext cx="2042084" cy="1097280"/>
          </a:xfrm>
          <a:prstGeom prst="rect">
            <a:avLst/>
          </a:prstGeom>
          <a:noFill/>
          <a:ln/>
        </p:spPr>
        <p:txBody>
          <a:bodyPr wrap="square" lIns="0" tIns="0" rIns="0" bIns="0" rtlCol="0" anchor="ctr"/>
          <a:lstStyle/>
          <a:p>
            <a:pPr algn="ctr" indent="0" marL="0">
              <a:lnSpc>
                <a:spcPct val="120000"/>
              </a:lnSpc>
              <a:buNone/>
            </a:pPr>
            <a:r>
              <a:rPr lang="en-US" sz="1150" dirty="0">
                <a:solidFill>
                  <a:srgbClr val="B9C9D4"/>
                </a:solidFill>
                <a:latin typeface="Calibri" pitchFamily="34" charset="0"/>
                <a:ea typeface="Calibri" pitchFamily="34" charset="-122"/>
                <a:cs typeface="Calibri" pitchFamily="34" charset="-120"/>
              </a:rPr>
              <a:t>il nuovo livello di batteria e idrogeno diventa il punto di partenza</a:t>
            </a:r>
            <a:endParaRPr lang="en-US" sz="1150" dirty="0"/>
          </a:p>
        </p:txBody>
      </p:sp>
      <p:sp>
        <p:nvSpPr>
          <p:cNvPr id="21" name="Text 19"/>
          <p:cNvSpPr/>
          <p:nvPr/>
        </p:nvSpPr>
        <p:spPr>
          <a:xfrm>
            <a:off x="8778011" y="3383280"/>
            <a:ext cx="365760" cy="457200"/>
          </a:xfrm>
          <a:prstGeom prst="rect">
            <a:avLst/>
          </a:prstGeom>
          <a:noFill/>
          <a:ln/>
        </p:spPr>
        <p:txBody>
          <a:bodyPr wrap="square" lIns="0" tIns="0" rIns="0" bIns="0" rtlCol="0" anchor="ctr"/>
          <a:lstStyle/>
          <a:p>
            <a:pPr algn="ctr" indent="0" marL="0">
              <a:buNone/>
            </a:pPr>
            <a:r>
              <a:rPr lang="en-US" sz="2200" dirty="0">
                <a:solidFill>
                  <a:srgbClr val="FFB100"/>
                </a:solidFill>
                <a:latin typeface="Calibri" pitchFamily="34" charset="0"/>
                <a:ea typeface="Calibri" pitchFamily="34" charset="-122"/>
                <a:cs typeface="Calibri" pitchFamily="34" charset="-120"/>
              </a:rPr>
              <a:t>→</a:t>
            </a:r>
            <a:endParaRPr lang="en-US" sz="2200" dirty="0"/>
          </a:p>
        </p:txBody>
      </p:sp>
      <p:sp>
        <p:nvSpPr>
          <p:cNvPr id="22" name="Shape 20"/>
          <p:cNvSpPr/>
          <p:nvPr/>
        </p:nvSpPr>
        <p:spPr>
          <a:xfrm>
            <a:off x="9143771" y="2103120"/>
            <a:ext cx="2499284" cy="3291840"/>
          </a:xfrm>
          <a:prstGeom prst="roundRect">
            <a:avLst>
              <a:gd name="adj" fmla="val 2927"/>
            </a:avLst>
          </a:prstGeom>
          <a:solidFill>
            <a:srgbClr val="082B40"/>
          </a:solidFill>
          <a:ln w="12700">
            <a:solidFill>
              <a:srgbClr val="082B40"/>
            </a:solidFill>
            <a:prstDash val="solid"/>
          </a:ln>
        </p:spPr>
      </p:sp>
      <p:sp>
        <p:nvSpPr>
          <p:cNvPr id="23" name="Shape 21"/>
          <p:cNvSpPr/>
          <p:nvPr/>
        </p:nvSpPr>
        <p:spPr>
          <a:xfrm>
            <a:off x="10073373" y="2377440"/>
            <a:ext cx="640080" cy="640080"/>
          </a:xfrm>
          <a:prstGeom prst="ellipse">
            <a:avLst/>
          </a:prstGeom>
          <a:solidFill>
            <a:srgbClr val="FFB100"/>
          </a:solidFill>
          <a:ln/>
        </p:spPr>
      </p:sp>
      <p:sp>
        <p:nvSpPr>
          <p:cNvPr id="24" name="Text 22"/>
          <p:cNvSpPr/>
          <p:nvPr/>
        </p:nvSpPr>
        <p:spPr>
          <a:xfrm>
            <a:off x="10073373" y="2377440"/>
            <a:ext cx="640080" cy="640080"/>
          </a:xfrm>
          <a:prstGeom prst="rect">
            <a:avLst/>
          </a:prstGeom>
          <a:noFill/>
          <a:ln/>
        </p:spPr>
        <p:txBody>
          <a:bodyPr wrap="square" lIns="0" tIns="0" rIns="0" bIns="0" rtlCol="0" anchor="ctr"/>
          <a:lstStyle/>
          <a:p>
            <a:pPr algn="ctr" indent="0" marL="0">
              <a:buNone/>
            </a:pPr>
            <a:r>
              <a:rPr lang="en-US" sz="2000" b="1" dirty="0">
                <a:solidFill>
                  <a:srgbClr val="082B40"/>
                </a:solidFill>
                <a:latin typeface="Calibri" pitchFamily="34" charset="0"/>
                <a:ea typeface="Calibri" pitchFamily="34" charset="-122"/>
                <a:cs typeface="Calibri" pitchFamily="34" charset="-120"/>
              </a:rPr>
              <a:t>4</a:t>
            </a:r>
            <a:endParaRPr lang="en-US" sz="2000" dirty="0"/>
          </a:p>
        </p:txBody>
      </p:sp>
      <p:sp>
        <p:nvSpPr>
          <p:cNvPr id="25" name="Text 23"/>
          <p:cNvSpPr/>
          <p:nvPr/>
        </p:nvSpPr>
        <p:spPr>
          <a:xfrm>
            <a:off x="9372371" y="3291840"/>
            <a:ext cx="2042084" cy="822960"/>
          </a:xfrm>
          <a:prstGeom prst="rect">
            <a:avLst/>
          </a:prstGeom>
          <a:noFill/>
          <a:ln/>
        </p:spPr>
        <p:txBody>
          <a:bodyPr wrap="square" lIns="0" tIns="0" rIns="0" bIns="0" rtlCol="0" anchor="ctr"/>
          <a:lstStyle/>
          <a:p>
            <a:pPr algn="ctr" indent="0" marL="0">
              <a:lnSpc>
                <a:spcPct val="115000"/>
              </a:lnSpc>
              <a:buNone/>
            </a:pPr>
            <a:r>
              <a:rPr lang="en-US" sz="1400" b="1" dirty="0">
                <a:solidFill>
                  <a:srgbClr val="FFFFFF"/>
                </a:solidFill>
                <a:latin typeface="Calibri" pitchFamily="34" charset="0"/>
                <a:ea typeface="Calibri" pitchFamily="34" charset="-122"/>
                <a:cs typeface="Calibri" pitchFamily="34" charset="-120"/>
              </a:rPr>
              <a:t>Si ricalcola tutto per l'ora successiva</a:t>
            </a:r>
            <a:endParaRPr lang="en-US" sz="1400" dirty="0"/>
          </a:p>
        </p:txBody>
      </p:sp>
      <p:sp>
        <p:nvSpPr>
          <p:cNvPr id="26" name="Text 24"/>
          <p:cNvSpPr/>
          <p:nvPr/>
        </p:nvSpPr>
        <p:spPr>
          <a:xfrm>
            <a:off x="9372371" y="4160520"/>
            <a:ext cx="2042084" cy="1097280"/>
          </a:xfrm>
          <a:prstGeom prst="rect">
            <a:avLst/>
          </a:prstGeom>
          <a:noFill/>
          <a:ln/>
        </p:spPr>
        <p:txBody>
          <a:bodyPr wrap="square" lIns="0" tIns="0" rIns="0" bIns="0" rtlCol="0" anchor="ctr"/>
          <a:lstStyle/>
          <a:p>
            <a:pPr algn="ctr" indent="0" marL="0">
              <a:lnSpc>
                <a:spcPct val="120000"/>
              </a:lnSpc>
              <a:buNone/>
            </a:pPr>
            <a:r>
              <a:rPr lang="en-US" sz="1150" dirty="0">
                <a:solidFill>
                  <a:srgbClr val="B9C9D4"/>
                </a:solidFill>
                <a:latin typeface="Calibri" pitchFamily="34" charset="0"/>
                <a:ea typeface="Calibri" pitchFamily="34" charset="-122"/>
                <a:cs typeface="Calibri" pitchFamily="34" charset="-120"/>
              </a:rPr>
              <a:t>con dati più aggiornati, invece di seguire un piano vecchio</a:t>
            </a:r>
            <a:endParaRPr lang="en-US" sz="1150" dirty="0"/>
          </a:p>
        </p:txBody>
      </p:sp>
      <p:sp>
        <p:nvSpPr>
          <p:cNvPr id="27" name="Text 25"/>
          <p:cNvSpPr/>
          <p:nvPr/>
        </p:nvSpPr>
        <p:spPr>
          <a:xfrm>
            <a:off x="548640" y="5760720"/>
            <a:ext cx="11094415" cy="457200"/>
          </a:xfrm>
          <a:prstGeom prst="rect">
            <a:avLst/>
          </a:prstGeom>
          <a:noFill/>
          <a:ln/>
        </p:spPr>
        <p:txBody>
          <a:bodyPr wrap="square" lIns="0" tIns="0" rIns="0" bIns="0" rtlCol="0" anchor="ctr"/>
          <a:lstStyle/>
          <a:p>
            <a:pPr algn="ctr" indent="0" marL="0">
              <a:buNone/>
            </a:pPr>
            <a:r>
              <a:rPr lang="en-US" sz="1300" i="1" dirty="0">
                <a:solidFill>
                  <a:srgbClr val="CADCE8"/>
                </a:solidFill>
                <a:latin typeface="Calibri" pitchFamily="34" charset="0"/>
                <a:ea typeface="Calibri" pitchFamily="34" charset="-122"/>
                <a:cs typeface="Calibri" pitchFamily="34" charset="-120"/>
              </a:rPr>
              <a:t>Così il sistema si corregge continuamente, invece di seguire alla cieca un piano lungo basato su previsioni ormai superate.</a:t>
            </a:r>
            <a:endParaRPr lang="en-US" sz="1300" dirty="0"/>
          </a:p>
        </p:txBody>
      </p:sp>
      <p:sp>
        <p:nvSpPr>
          <p:cNvPr id="29" name="Text 26"/>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A85"/>
                </a:solidFill>
                <a:latin typeface="Calibri" pitchFamily="34" charset="0"/>
                <a:ea typeface="Calibri" pitchFamily="34" charset="-122"/>
                <a:cs typeface="Calibri" pitchFamily="34" charset="-120"/>
              </a:rPr>
              <a:t>Project 16 — Controllo MPC di un sistema energetico industriale</a:t>
            </a:r>
            <a:endParaRPr lang="en-US" sz="900" dirty="0"/>
          </a:p>
        </p:txBody>
      </p:sp>
      <p:sp>
        <p:nvSpPr>
          <p:cNvPr id="30" name="Text 27"/>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6B7A8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4415"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04 · IL MODELLO MATEMATICO</a:t>
            </a:r>
            <a:endParaRPr lang="en-US" sz="1300" dirty="0"/>
          </a:p>
        </p:txBody>
      </p:sp>
      <p:sp>
        <p:nvSpPr>
          <p:cNvPr id="3" name="Text 1"/>
          <p:cNvSpPr/>
          <p:nvPr/>
        </p:nvSpPr>
        <p:spPr>
          <a:xfrm>
            <a:off x="548640" y="713232"/>
            <a:ext cx="11094415" cy="777240"/>
          </a:xfrm>
          <a:prstGeom prst="rect">
            <a:avLst/>
          </a:prstGeom>
          <a:noFill/>
          <a:ln/>
        </p:spPr>
        <p:txBody>
          <a:bodyPr wrap="square" lIns="0" tIns="0" rIns="0" bIns="0" rtlCol="0" anchor="ctr"/>
          <a:lstStyle/>
          <a:p>
            <a:pPr indent="0" marL="0">
              <a:buNone/>
            </a:pPr>
            <a:r>
              <a:rPr lang="en-US" sz="3000" b="1" dirty="0">
                <a:solidFill>
                  <a:srgbClr val="0B3D59"/>
                </a:solidFill>
                <a:latin typeface="Cambria" pitchFamily="34" charset="0"/>
                <a:ea typeface="Cambria" pitchFamily="34" charset="-122"/>
                <a:cs typeface="Cambria" pitchFamily="34" charset="-120"/>
              </a:rPr>
              <a:t>Un problema di ottimizzazione: il MILP</a:t>
            </a:r>
            <a:endParaRPr lang="en-US" sz="3000" dirty="0"/>
          </a:p>
        </p:txBody>
      </p:sp>
      <p:sp>
        <p:nvSpPr>
          <p:cNvPr id="4" name="Text 2"/>
          <p:cNvSpPr/>
          <p:nvPr/>
        </p:nvSpPr>
        <p:spPr>
          <a:xfrm>
            <a:off x="548640" y="1828800"/>
            <a:ext cx="11094415" cy="685800"/>
          </a:xfrm>
          <a:prstGeom prst="rect">
            <a:avLst/>
          </a:prstGeom>
          <a:noFill/>
          <a:ln/>
        </p:spPr>
        <p:txBody>
          <a:bodyPr wrap="square" lIns="0" tIns="0" rIns="0" bIns="0" rtlCol="0" anchor="ctr"/>
          <a:lstStyle/>
          <a:p>
            <a:pPr indent="0" marL="0">
              <a:lnSpc>
                <a:spcPct val="120000"/>
              </a:lnSpc>
              <a:buNone/>
            </a:pPr>
            <a:r>
              <a:rPr lang="en-US" sz="1550" dirty="0">
                <a:solidFill>
                  <a:srgbClr val="20303D"/>
                </a:solidFill>
                <a:latin typeface="Calibri" pitchFamily="34" charset="0"/>
                <a:ea typeface="Calibri" pitchFamily="34" charset="-122"/>
                <a:cs typeface="Calibri" pitchFamily="34" charset="-120"/>
              </a:rPr>
              <a:t>Ad ogni ora, per calcolare la finestra di 24 ore, si costruisce un modello matematico con Pyomo e lo si risolve con un solver (Gurobi o HiGHS). Il modello ha tre parti:</a:t>
            </a:r>
            <a:endParaRPr lang="en-US" sz="1550" dirty="0"/>
          </a:p>
        </p:txBody>
      </p:sp>
      <p:sp>
        <p:nvSpPr>
          <p:cNvPr id="5" name="Shape 3"/>
          <p:cNvSpPr/>
          <p:nvPr/>
        </p:nvSpPr>
        <p:spPr>
          <a:xfrm>
            <a:off x="548640" y="2743200"/>
            <a:ext cx="3393338" cy="2834640"/>
          </a:xfrm>
          <a:prstGeom prst="roundRect">
            <a:avLst>
              <a:gd name="adj" fmla="val 2581"/>
            </a:avLst>
          </a:prstGeom>
          <a:solidFill>
            <a:srgbClr val="1C7293"/>
          </a:solidFill>
          <a:ln w="12700">
            <a:solidFill>
              <a:srgbClr val="1C7293"/>
            </a:solidFill>
            <a:prstDash val="solid"/>
          </a:ln>
        </p:spPr>
      </p:sp>
      <p:sp>
        <p:nvSpPr>
          <p:cNvPr id="6" name="Text 4"/>
          <p:cNvSpPr/>
          <p:nvPr/>
        </p:nvSpPr>
        <p:spPr>
          <a:xfrm>
            <a:off x="822960" y="3017520"/>
            <a:ext cx="2844698" cy="365760"/>
          </a:xfrm>
          <a:prstGeom prst="rect">
            <a:avLst/>
          </a:prstGeom>
          <a:noFill/>
          <a:ln/>
        </p:spPr>
        <p:txBody>
          <a:bodyPr wrap="square" lIns="0" tIns="0" rIns="0" bIns="0" rtlCol="0" anchor="ctr"/>
          <a:lstStyle/>
          <a:p>
            <a:pPr indent="0" marL="0">
              <a:buNone/>
            </a:pPr>
            <a:r>
              <a:rPr lang="en-US" sz="1250" b="1" spc="150" kern="0" dirty="0">
                <a:solidFill>
                  <a:srgbClr val="FFB100"/>
                </a:solidFill>
                <a:latin typeface="Calibri" pitchFamily="34" charset="0"/>
                <a:ea typeface="Calibri" pitchFamily="34" charset="-122"/>
                <a:cs typeface="Calibri" pitchFamily="34" charset="-120"/>
              </a:rPr>
              <a:t>VARIABILI</a:t>
            </a:r>
            <a:endParaRPr lang="en-US" sz="1250" dirty="0"/>
          </a:p>
        </p:txBody>
      </p:sp>
      <p:sp>
        <p:nvSpPr>
          <p:cNvPr id="7" name="Text 5"/>
          <p:cNvSpPr/>
          <p:nvPr/>
        </p:nvSpPr>
        <p:spPr>
          <a:xfrm>
            <a:off x="822960" y="3429000"/>
            <a:ext cx="2844698" cy="777240"/>
          </a:xfrm>
          <a:prstGeom prst="rect">
            <a:avLst/>
          </a:prstGeom>
          <a:noFill/>
          <a:ln/>
        </p:spPr>
        <p:txBody>
          <a:bodyPr wrap="square" lIns="0" tIns="0" rIns="0" bIns="0" rtlCol="0" anchor="ctr"/>
          <a:lstStyle/>
          <a:p>
            <a:pPr indent="0" marL="0">
              <a:lnSpc>
                <a:spcPct val="110000"/>
              </a:lnSpc>
              <a:buNone/>
            </a:pPr>
            <a:r>
              <a:rPr lang="en-US" sz="1700" b="1" dirty="0">
                <a:solidFill>
                  <a:srgbClr val="FFFFFF"/>
                </a:solidFill>
                <a:latin typeface="Cambria" pitchFamily="34" charset="0"/>
                <a:ea typeface="Cambria" pitchFamily="34" charset="-122"/>
                <a:cs typeface="Cambria" pitchFamily="34" charset="-120"/>
              </a:rPr>
              <a:t>Cosa può decidere il modello</a:t>
            </a:r>
            <a:endParaRPr lang="en-US" sz="1700" dirty="0"/>
          </a:p>
        </p:txBody>
      </p:sp>
      <p:sp>
        <p:nvSpPr>
          <p:cNvPr id="8" name="Text 6"/>
          <p:cNvSpPr/>
          <p:nvPr/>
        </p:nvSpPr>
        <p:spPr>
          <a:xfrm>
            <a:off x="822960" y="4251960"/>
            <a:ext cx="2844698" cy="1234440"/>
          </a:xfrm>
          <a:prstGeom prst="rect">
            <a:avLst/>
          </a:prstGeom>
          <a:noFill/>
          <a:ln/>
        </p:spPr>
        <p:txBody>
          <a:bodyPr wrap="square" lIns="0" tIns="0" rIns="0" bIns="0" rtlCol="0" anchor="ctr"/>
          <a:lstStyle/>
          <a:p>
            <a:pPr indent="0" marL="0">
              <a:lnSpc>
                <a:spcPct val="125000"/>
              </a:lnSpc>
              <a:buNone/>
            </a:pPr>
            <a:r>
              <a:rPr lang="en-US" sz="1250" dirty="0">
                <a:solidFill>
                  <a:srgbClr val="EAF0F3"/>
                </a:solidFill>
                <a:latin typeface="Calibri" pitchFamily="34" charset="0"/>
                <a:ea typeface="Calibri" pitchFamily="34" charset="-122"/>
                <a:cs typeface="Calibri" pitchFamily="34" charset="-120"/>
              </a:rPr>
              <a:t>Quanta energia importare, esportare, caricare o scaricare, produrre o consumare come idrogeno, ora per ora.</a:t>
            </a:r>
            <a:endParaRPr lang="en-US" sz="1250" dirty="0"/>
          </a:p>
        </p:txBody>
      </p:sp>
      <p:sp>
        <p:nvSpPr>
          <p:cNvPr id="9" name="Shape 7"/>
          <p:cNvSpPr/>
          <p:nvPr/>
        </p:nvSpPr>
        <p:spPr>
          <a:xfrm>
            <a:off x="4399178" y="2743200"/>
            <a:ext cx="3393338" cy="2834640"/>
          </a:xfrm>
          <a:prstGeom prst="roundRect">
            <a:avLst>
              <a:gd name="adj" fmla="val 2581"/>
            </a:avLst>
          </a:prstGeom>
          <a:solidFill>
            <a:srgbClr val="0B3D59"/>
          </a:solidFill>
          <a:ln w="12700">
            <a:solidFill>
              <a:srgbClr val="0B3D59"/>
            </a:solidFill>
            <a:prstDash val="solid"/>
          </a:ln>
        </p:spPr>
      </p:sp>
      <p:sp>
        <p:nvSpPr>
          <p:cNvPr id="10" name="Text 8"/>
          <p:cNvSpPr/>
          <p:nvPr/>
        </p:nvSpPr>
        <p:spPr>
          <a:xfrm>
            <a:off x="4673498" y="3017520"/>
            <a:ext cx="2844698" cy="365760"/>
          </a:xfrm>
          <a:prstGeom prst="rect">
            <a:avLst/>
          </a:prstGeom>
          <a:noFill/>
          <a:ln/>
        </p:spPr>
        <p:txBody>
          <a:bodyPr wrap="square" lIns="0" tIns="0" rIns="0" bIns="0" rtlCol="0" anchor="ctr"/>
          <a:lstStyle/>
          <a:p>
            <a:pPr indent="0" marL="0">
              <a:buNone/>
            </a:pPr>
            <a:r>
              <a:rPr lang="en-US" sz="1250" b="1" spc="150" kern="0" dirty="0">
                <a:solidFill>
                  <a:srgbClr val="FFB100"/>
                </a:solidFill>
                <a:latin typeface="Calibri" pitchFamily="34" charset="0"/>
                <a:ea typeface="Calibri" pitchFamily="34" charset="-122"/>
                <a:cs typeface="Calibri" pitchFamily="34" charset="-120"/>
              </a:rPr>
              <a:t>VINCOLI</a:t>
            </a:r>
            <a:endParaRPr lang="en-US" sz="1250" dirty="0"/>
          </a:p>
        </p:txBody>
      </p:sp>
      <p:sp>
        <p:nvSpPr>
          <p:cNvPr id="11" name="Text 9"/>
          <p:cNvSpPr/>
          <p:nvPr/>
        </p:nvSpPr>
        <p:spPr>
          <a:xfrm>
            <a:off x="4673498" y="3429000"/>
            <a:ext cx="2844698" cy="777240"/>
          </a:xfrm>
          <a:prstGeom prst="rect">
            <a:avLst/>
          </a:prstGeom>
          <a:noFill/>
          <a:ln/>
        </p:spPr>
        <p:txBody>
          <a:bodyPr wrap="square" lIns="0" tIns="0" rIns="0" bIns="0" rtlCol="0" anchor="ctr"/>
          <a:lstStyle/>
          <a:p>
            <a:pPr indent="0" marL="0">
              <a:lnSpc>
                <a:spcPct val="110000"/>
              </a:lnSpc>
              <a:buNone/>
            </a:pPr>
            <a:r>
              <a:rPr lang="en-US" sz="1700" b="1" dirty="0">
                <a:solidFill>
                  <a:srgbClr val="FFFFFF"/>
                </a:solidFill>
                <a:latin typeface="Cambria" pitchFamily="34" charset="0"/>
                <a:ea typeface="Cambria" pitchFamily="34" charset="-122"/>
                <a:cs typeface="Cambria" pitchFamily="34" charset="-120"/>
              </a:rPr>
              <a:t>Cosa non può violare</a:t>
            </a:r>
            <a:endParaRPr lang="en-US" sz="1700" dirty="0"/>
          </a:p>
        </p:txBody>
      </p:sp>
      <p:sp>
        <p:nvSpPr>
          <p:cNvPr id="12" name="Text 10"/>
          <p:cNvSpPr/>
          <p:nvPr/>
        </p:nvSpPr>
        <p:spPr>
          <a:xfrm>
            <a:off x="4673498" y="4251960"/>
            <a:ext cx="2844698" cy="1234440"/>
          </a:xfrm>
          <a:prstGeom prst="rect">
            <a:avLst/>
          </a:prstGeom>
          <a:noFill/>
          <a:ln/>
        </p:spPr>
        <p:txBody>
          <a:bodyPr wrap="square" lIns="0" tIns="0" rIns="0" bIns="0" rtlCol="0" anchor="ctr"/>
          <a:lstStyle/>
          <a:p>
            <a:pPr indent="0" marL="0">
              <a:lnSpc>
                <a:spcPct val="125000"/>
              </a:lnSpc>
              <a:buNone/>
            </a:pPr>
            <a:r>
              <a:rPr lang="en-US" sz="1250" dirty="0">
                <a:solidFill>
                  <a:srgbClr val="EAF0F3"/>
                </a:solidFill>
                <a:latin typeface="Calibri" pitchFamily="34" charset="0"/>
                <a:ea typeface="Calibri" pitchFamily="34" charset="-122"/>
                <a:cs typeface="Calibri" pitchFamily="34" charset="-120"/>
              </a:rPr>
              <a:t>Il bilancio di potenza, i limiti di rete, batteria e idrogeno, gli stati minimi e massimi ammessi.</a:t>
            </a:r>
            <a:endParaRPr lang="en-US" sz="1250" dirty="0"/>
          </a:p>
        </p:txBody>
      </p:sp>
      <p:sp>
        <p:nvSpPr>
          <p:cNvPr id="13" name="Shape 11"/>
          <p:cNvSpPr/>
          <p:nvPr/>
        </p:nvSpPr>
        <p:spPr>
          <a:xfrm>
            <a:off x="8249717" y="2743200"/>
            <a:ext cx="3393338" cy="2834640"/>
          </a:xfrm>
          <a:prstGeom prst="roundRect">
            <a:avLst>
              <a:gd name="adj" fmla="val 2581"/>
            </a:avLst>
          </a:prstGeom>
          <a:solidFill>
            <a:srgbClr val="C0433A"/>
          </a:solidFill>
          <a:ln w="12700">
            <a:solidFill>
              <a:srgbClr val="C0433A"/>
            </a:solidFill>
            <a:prstDash val="solid"/>
          </a:ln>
        </p:spPr>
      </p:sp>
      <p:sp>
        <p:nvSpPr>
          <p:cNvPr id="14" name="Text 12"/>
          <p:cNvSpPr/>
          <p:nvPr/>
        </p:nvSpPr>
        <p:spPr>
          <a:xfrm>
            <a:off x="8524037" y="3017520"/>
            <a:ext cx="2844698" cy="365760"/>
          </a:xfrm>
          <a:prstGeom prst="rect">
            <a:avLst/>
          </a:prstGeom>
          <a:noFill/>
          <a:ln/>
        </p:spPr>
        <p:txBody>
          <a:bodyPr wrap="square" lIns="0" tIns="0" rIns="0" bIns="0" rtlCol="0" anchor="ctr"/>
          <a:lstStyle/>
          <a:p>
            <a:pPr indent="0" marL="0">
              <a:buNone/>
            </a:pPr>
            <a:r>
              <a:rPr lang="en-US" sz="1250" b="1" spc="150" kern="0" dirty="0">
                <a:solidFill>
                  <a:srgbClr val="FFB100"/>
                </a:solidFill>
                <a:latin typeface="Calibri" pitchFamily="34" charset="0"/>
                <a:ea typeface="Calibri" pitchFamily="34" charset="-122"/>
                <a:cs typeface="Calibri" pitchFamily="34" charset="-120"/>
              </a:rPr>
              <a:t>OBIETTIVO</a:t>
            </a:r>
            <a:endParaRPr lang="en-US" sz="1250" dirty="0"/>
          </a:p>
        </p:txBody>
      </p:sp>
      <p:sp>
        <p:nvSpPr>
          <p:cNvPr id="15" name="Text 13"/>
          <p:cNvSpPr/>
          <p:nvPr/>
        </p:nvSpPr>
        <p:spPr>
          <a:xfrm>
            <a:off x="8524037" y="3429000"/>
            <a:ext cx="2844698" cy="777240"/>
          </a:xfrm>
          <a:prstGeom prst="rect">
            <a:avLst/>
          </a:prstGeom>
          <a:noFill/>
          <a:ln/>
        </p:spPr>
        <p:txBody>
          <a:bodyPr wrap="square" lIns="0" tIns="0" rIns="0" bIns="0" rtlCol="0" anchor="ctr"/>
          <a:lstStyle/>
          <a:p>
            <a:pPr indent="0" marL="0">
              <a:lnSpc>
                <a:spcPct val="110000"/>
              </a:lnSpc>
              <a:buNone/>
            </a:pPr>
            <a:r>
              <a:rPr lang="en-US" sz="1700" b="1" dirty="0">
                <a:solidFill>
                  <a:srgbClr val="FFFFFF"/>
                </a:solidFill>
                <a:latin typeface="Cambria" pitchFamily="34" charset="0"/>
                <a:ea typeface="Cambria" pitchFamily="34" charset="-122"/>
                <a:cs typeface="Cambria" pitchFamily="34" charset="-120"/>
              </a:rPr>
              <a:t>Cosa deve minimizzare</a:t>
            </a:r>
            <a:endParaRPr lang="en-US" sz="1700" dirty="0"/>
          </a:p>
        </p:txBody>
      </p:sp>
      <p:sp>
        <p:nvSpPr>
          <p:cNvPr id="16" name="Text 14"/>
          <p:cNvSpPr/>
          <p:nvPr/>
        </p:nvSpPr>
        <p:spPr>
          <a:xfrm>
            <a:off x="8524037" y="4251960"/>
            <a:ext cx="2844698" cy="1234440"/>
          </a:xfrm>
          <a:prstGeom prst="rect">
            <a:avLst/>
          </a:prstGeom>
          <a:noFill/>
          <a:ln/>
        </p:spPr>
        <p:txBody>
          <a:bodyPr wrap="square" lIns="0" tIns="0" rIns="0" bIns="0" rtlCol="0" anchor="ctr"/>
          <a:lstStyle/>
          <a:p>
            <a:pPr indent="0" marL="0">
              <a:lnSpc>
                <a:spcPct val="125000"/>
              </a:lnSpc>
              <a:buNone/>
            </a:pPr>
            <a:r>
              <a:rPr lang="en-US" sz="1250" dirty="0">
                <a:solidFill>
                  <a:srgbClr val="EAF0F3"/>
                </a:solidFill>
                <a:latin typeface="Calibri" pitchFamily="34" charset="0"/>
                <a:ea typeface="Calibri" pitchFamily="34" charset="-122"/>
                <a:cs typeface="Calibri" pitchFamily="34" charset="-120"/>
              </a:rPr>
              <a:t>Il costo netto di mercato, più una penalità per ogni MW di rinnovabile sprecato.</a:t>
            </a:r>
            <a:endParaRPr lang="en-US" sz="1250" dirty="0"/>
          </a:p>
        </p:txBody>
      </p:sp>
      <p:sp>
        <p:nvSpPr>
          <p:cNvPr id="18" name="Text 15"/>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A85"/>
                </a:solidFill>
                <a:latin typeface="Calibri" pitchFamily="34" charset="0"/>
                <a:ea typeface="Calibri" pitchFamily="34" charset="-122"/>
                <a:cs typeface="Calibri" pitchFamily="34" charset="-120"/>
              </a:rPr>
              <a:t>Project 16 — Controllo MPC di un sistema energetico industriale</a:t>
            </a:r>
            <a:endParaRPr lang="en-US" sz="900" dirty="0"/>
          </a:p>
        </p:txBody>
      </p:sp>
      <p:sp>
        <p:nvSpPr>
          <p:cNvPr id="19" name="Text 16"/>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6B7A8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4415"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04 · IL MODELLO MATEMATICO</a:t>
            </a:r>
            <a:endParaRPr lang="en-US" sz="1300" dirty="0"/>
          </a:p>
        </p:txBody>
      </p:sp>
      <p:sp>
        <p:nvSpPr>
          <p:cNvPr id="3" name="Text 1"/>
          <p:cNvSpPr/>
          <p:nvPr/>
        </p:nvSpPr>
        <p:spPr>
          <a:xfrm>
            <a:off x="548640" y="713232"/>
            <a:ext cx="11094415" cy="777240"/>
          </a:xfrm>
          <a:prstGeom prst="rect">
            <a:avLst/>
          </a:prstGeom>
          <a:noFill/>
          <a:ln/>
        </p:spPr>
        <p:txBody>
          <a:bodyPr wrap="square" lIns="0" tIns="0" rIns="0" bIns="0" rtlCol="0" anchor="ctr"/>
          <a:lstStyle/>
          <a:p>
            <a:pPr indent="0" marL="0">
              <a:buNone/>
            </a:pPr>
            <a:r>
              <a:rPr lang="en-US" sz="3000" b="1" dirty="0">
                <a:solidFill>
                  <a:srgbClr val="0B3D59"/>
                </a:solidFill>
                <a:latin typeface="Cambria" pitchFamily="34" charset="0"/>
                <a:ea typeface="Cambria" pitchFamily="34" charset="-122"/>
                <a:cs typeface="Cambria" pitchFamily="34" charset="-120"/>
              </a:rPr>
              <a:t>Le variabili, ora per ora</a:t>
            </a:r>
            <a:endParaRPr lang="en-US" sz="3000" dirty="0"/>
          </a:p>
        </p:txBody>
      </p:sp>
      <p:sp>
        <p:nvSpPr>
          <p:cNvPr id="4" name="Shape 2"/>
          <p:cNvSpPr/>
          <p:nvPr/>
        </p:nvSpPr>
        <p:spPr>
          <a:xfrm>
            <a:off x="548640" y="1783080"/>
            <a:ext cx="11094415" cy="1115568"/>
          </a:xfrm>
          <a:prstGeom prst="roundRect">
            <a:avLst>
              <a:gd name="adj" fmla="val 6557"/>
            </a:avLst>
          </a:prstGeom>
          <a:solidFill>
            <a:srgbClr val="F1F5F8"/>
          </a:solidFill>
          <a:ln w="12700">
            <a:solidFill>
              <a:srgbClr val="DCE6EC"/>
            </a:solidFill>
            <a:prstDash val="solid"/>
          </a:ln>
          <a:effectLst>
            <a:outerShdw sx="100000" sy="100000" kx="0" ky="0" algn="bl" rotWithShape="0" blurRad="76200" dist="25400" dir="5400000">
              <a:srgbClr val="9AA7AF">
                <a:alpha val="25000"/>
              </a:srgbClr>
            </a:outerShdw>
          </a:effectLst>
        </p:spPr>
      </p:sp>
      <p:sp>
        <p:nvSpPr>
          <p:cNvPr id="5" name="Shape 3"/>
          <p:cNvSpPr/>
          <p:nvPr/>
        </p:nvSpPr>
        <p:spPr>
          <a:xfrm>
            <a:off x="548640" y="1783080"/>
            <a:ext cx="128016" cy="1115568"/>
          </a:xfrm>
          <a:prstGeom prst="roundRect">
            <a:avLst/>
          </a:prstGeom>
          <a:solidFill>
            <a:srgbClr val="1C7293"/>
          </a:solidFill>
          <a:ln/>
        </p:spPr>
      </p:sp>
      <p:sp>
        <p:nvSpPr>
          <p:cNvPr id="6" name="Text 4"/>
          <p:cNvSpPr/>
          <p:nvPr/>
        </p:nvSpPr>
        <p:spPr>
          <a:xfrm>
            <a:off x="914400" y="1929384"/>
            <a:ext cx="3291840" cy="822960"/>
          </a:xfrm>
          <a:prstGeom prst="rect">
            <a:avLst/>
          </a:prstGeom>
          <a:noFill/>
          <a:ln/>
        </p:spPr>
        <p:txBody>
          <a:bodyPr wrap="square" lIns="0" tIns="0" rIns="0" bIns="0" rtlCol="0" anchor="ctr"/>
          <a:lstStyle/>
          <a:p>
            <a:pPr indent="0" marL="0">
              <a:lnSpc>
                <a:spcPct val="110000"/>
              </a:lnSpc>
              <a:buNone/>
            </a:pPr>
            <a:r>
              <a:rPr lang="en-US" sz="1500" b="1" dirty="0">
                <a:solidFill>
                  <a:srgbClr val="0B3D59"/>
                </a:solidFill>
                <a:latin typeface="Calibri" pitchFamily="34" charset="0"/>
                <a:ea typeface="Calibri" pitchFamily="34" charset="-122"/>
                <a:cs typeface="Calibri" pitchFamily="34" charset="-120"/>
              </a:rPr>
              <a:t>Potenze continue [MW]</a:t>
            </a:r>
            <a:endParaRPr lang="en-US" sz="1500" dirty="0"/>
          </a:p>
        </p:txBody>
      </p:sp>
      <p:sp>
        <p:nvSpPr>
          <p:cNvPr id="7" name="Text 5"/>
          <p:cNvSpPr/>
          <p:nvPr/>
        </p:nvSpPr>
        <p:spPr>
          <a:xfrm>
            <a:off x="4389120" y="1929384"/>
            <a:ext cx="6979615" cy="822960"/>
          </a:xfrm>
          <a:prstGeom prst="rect">
            <a:avLst/>
          </a:prstGeom>
          <a:noFill/>
          <a:ln/>
        </p:spPr>
        <p:txBody>
          <a:bodyPr wrap="square" lIns="0" tIns="0" rIns="0" bIns="0" rtlCol="0" anchor="ctr"/>
          <a:lstStyle/>
          <a:p>
            <a:pPr indent="0" marL="0">
              <a:lnSpc>
                <a:spcPct val="120000"/>
              </a:lnSpc>
              <a:buNone/>
            </a:pPr>
            <a:r>
              <a:rPr lang="en-US" sz="1200" dirty="0">
                <a:solidFill>
                  <a:srgbClr val="20303D"/>
                </a:solidFill>
                <a:latin typeface="Courier New" pitchFamily="34" charset="0"/>
                <a:ea typeface="Courier New" pitchFamily="34" charset="-122"/>
                <a:cs typeface="Courier New" pitchFamily="34" charset="-120"/>
              </a:rPr>
              <a:t>P_import, P_export, P_curtailment, P_charge, P_discharge, P_electrolyzer, P_fuel_cell</a:t>
            </a:r>
            <a:endParaRPr lang="en-US" sz="1200" dirty="0"/>
          </a:p>
        </p:txBody>
      </p:sp>
      <p:sp>
        <p:nvSpPr>
          <p:cNvPr id="8" name="Shape 6"/>
          <p:cNvSpPr/>
          <p:nvPr/>
        </p:nvSpPr>
        <p:spPr>
          <a:xfrm>
            <a:off x="548640" y="3063240"/>
            <a:ext cx="11094415" cy="1115568"/>
          </a:xfrm>
          <a:prstGeom prst="roundRect">
            <a:avLst>
              <a:gd name="adj" fmla="val 6557"/>
            </a:avLst>
          </a:prstGeom>
          <a:solidFill>
            <a:srgbClr val="F1F5F8"/>
          </a:solidFill>
          <a:ln w="12700">
            <a:solidFill>
              <a:srgbClr val="DCE6EC"/>
            </a:solidFill>
            <a:prstDash val="solid"/>
          </a:ln>
          <a:effectLst>
            <a:outerShdw sx="100000" sy="100000" kx="0" ky="0" algn="bl" rotWithShape="0" blurRad="76200" dist="25400" dir="5400000">
              <a:srgbClr val="9AA7AF">
                <a:alpha val="25000"/>
              </a:srgbClr>
            </a:outerShdw>
          </a:effectLst>
        </p:spPr>
      </p:sp>
      <p:sp>
        <p:nvSpPr>
          <p:cNvPr id="9" name="Shape 7"/>
          <p:cNvSpPr/>
          <p:nvPr/>
        </p:nvSpPr>
        <p:spPr>
          <a:xfrm>
            <a:off x="548640" y="3063240"/>
            <a:ext cx="128016" cy="1115568"/>
          </a:xfrm>
          <a:prstGeom prst="roundRect">
            <a:avLst/>
          </a:prstGeom>
          <a:solidFill>
            <a:srgbClr val="0B3D59"/>
          </a:solidFill>
          <a:ln/>
        </p:spPr>
      </p:sp>
      <p:sp>
        <p:nvSpPr>
          <p:cNvPr id="10" name="Text 8"/>
          <p:cNvSpPr/>
          <p:nvPr/>
        </p:nvSpPr>
        <p:spPr>
          <a:xfrm>
            <a:off x="914400" y="3209544"/>
            <a:ext cx="3291840" cy="822960"/>
          </a:xfrm>
          <a:prstGeom prst="rect">
            <a:avLst/>
          </a:prstGeom>
          <a:noFill/>
          <a:ln/>
        </p:spPr>
        <p:txBody>
          <a:bodyPr wrap="square" lIns="0" tIns="0" rIns="0" bIns="0" rtlCol="0" anchor="ctr"/>
          <a:lstStyle/>
          <a:p>
            <a:pPr indent="0" marL="0">
              <a:lnSpc>
                <a:spcPct val="110000"/>
              </a:lnSpc>
              <a:buNone/>
            </a:pPr>
            <a:r>
              <a:rPr lang="en-US" sz="1500" b="1" dirty="0">
                <a:solidFill>
                  <a:srgbClr val="0B3D59"/>
                </a:solidFill>
                <a:latin typeface="Calibri" pitchFamily="34" charset="0"/>
                <a:ea typeface="Calibri" pitchFamily="34" charset="-122"/>
                <a:cs typeface="Calibri" pitchFamily="34" charset="-120"/>
              </a:rPr>
              <a:t>Stati degli accumuli</a:t>
            </a:r>
            <a:endParaRPr lang="en-US" sz="1500" dirty="0"/>
          </a:p>
        </p:txBody>
      </p:sp>
      <p:sp>
        <p:nvSpPr>
          <p:cNvPr id="11" name="Text 9"/>
          <p:cNvSpPr/>
          <p:nvPr/>
        </p:nvSpPr>
        <p:spPr>
          <a:xfrm>
            <a:off x="4389120" y="3209544"/>
            <a:ext cx="6979615" cy="822960"/>
          </a:xfrm>
          <a:prstGeom prst="rect">
            <a:avLst/>
          </a:prstGeom>
          <a:noFill/>
          <a:ln/>
        </p:spPr>
        <p:txBody>
          <a:bodyPr wrap="square" lIns="0" tIns="0" rIns="0" bIns="0" rtlCol="0" anchor="ctr"/>
          <a:lstStyle/>
          <a:p>
            <a:pPr indent="0" marL="0">
              <a:lnSpc>
                <a:spcPct val="120000"/>
              </a:lnSpc>
              <a:buNone/>
            </a:pPr>
            <a:r>
              <a:rPr lang="en-US" sz="1200" dirty="0">
                <a:solidFill>
                  <a:srgbClr val="20303D"/>
                </a:solidFill>
                <a:latin typeface="Courier New" pitchFamily="34" charset="0"/>
                <a:ea typeface="Courier New" pitchFamily="34" charset="-122"/>
                <a:cs typeface="Courier New" pitchFamily="34" charset="-120"/>
              </a:rPr>
              <a:t>SoC (batteria) e SoH (idrogeno): frazione tra 0 e 1, con i limiti minimo e massimo del progetto</a:t>
            </a:r>
            <a:endParaRPr lang="en-US" sz="1200" dirty="0"/>
          </a:p>
        </p:txBody>
      </p:sp>
      <p:sp>
        <p:nvSpPr>
          <p:cNvPr id="12" name="Shape 10"/>
          <p:cNvSpPr/>
          <p:nvPr/>
        </p:nvSpPr>
        <p:spPr>
          <a:xfrm>
            <a:off x="548640" y="4343400"/>
            <a:ext cx="11094415" cy="1115568"/>
          </a:xfrm>
          <a:prstGeom prst="roundRect">
            <a:avLst>
              <a:gd name="adj" fmla="val 6557"/>
            </a:avLst>
          </a:prstGeom>
          <a:solidFill>
            <a:srgbClr val="F1F5F8"/>
          </a:solidFill>
          <a:ln w="12700">
            <a:solidFill>
              <a:srgbClr val="DCE6EC"/>
            </a:solidFill>
            <a:prstDash val="solid"/>
          </a:ln>
          <a:effectLst>
            <a:outerShdw sx="100000" sy="100000" kx="0" ky="0" algn="bl" rotWithShape="0" blurRad="76200" dist="25400" dir="5400000">
              <a:srgbClr val="9AA7AF">
                <a:alpha val="25000"/>
              </a:srgbClr>
            </a:outerShdw>
          </a:effectLst>
        </p:spPr>
      </p:sp>
      <p:sp>
        <p:nvSpPr>
          <p:cNvPr id="13" name="Shape 11"/>
          <p:cNvSpPr/>
          <p:nvPr/>
        </p:nvSpPr>
        <p:spPr>
          <a:xfrm>
            <a:off x="548640" y="4343400"/>
            <a:ext cx="128016" cy="1115568"/>
          </a:xfrm>
          <a:prstGeom prst="roundRect">
            <a:avLst/>
          </a:prstGeom>
          <a:solidFill>
            <a:srgbClr val="C0433A"/>
          </a:solidFill>
          <a:ln/>
        </p:spPr>
      </p:sp>
      <p:sp>
        <p:nvSpPr>
          <p:cNvPr id="14" name="Text 12"/>
          <p:cNvSpPr/>
          <p:nvPr/>
        </p:nvSpPr>
        <p:spPr>
          <a:xfrm>
            <a:off x="914400" y="4489704"/>
            <a:ext cx="3291840" cy="822960"/>
          </a:xfrm>
          <a:prstGeom prst="rect">
            <a:avLst/>
          </a:prstGeom>
          <a:noFill/>
          <a:ln/>
        </p:spPr>
        <p:txBody>
          <a:bodyPr wrap="square" lIns="0" tIns="0" rIns="0" bIns="0" rtlCol="0" anchor="ctr"/>
          <a:lstStyle/>
          <a:p>
            <a:pPr indent="0" marL="0">
              <a:lnSpc>
                <a:spcPct val="110000"/>
              </a:lnSpc>
              <a:buNone/>
            </a:pPr>
            <a:r>
              <a:rPr lang="en-US" sz="1500" b="1" dirty="0">
                <a:solidFill>
                  <a:srgbClr val="0B3D59"/>
                </a:solidFill>
                <a:latin typeface="Calibri" pitchFamily="34" charset="0"/>
                <a:ea typeface="Calibri" pitchFamily="34" charset="-122"/>
                <a:cs typeface="Calibri" pitchFamily="34" charset="-120"/>
              </a:rPr>
              <a:t>Interruttori binari (0 o 1)</a:t>
            </a:r>
            <a:endParaRPr lang="en-US" sz="1500" dirty="0"/>
          </a:p>
        </p:txBody>
      </p:sp>
      <p:sp>
        <p:nvSpPr>
          <p:cNvPr id="15" name="Text 13"/>
          <p:cNvSpPr/>
          <p:nvPr/>
        </p:nvSpPr>
        <p:spPr>
          <a:xfrm>
            <a:off x="4389120" y="4489704"/>
            <a:ext cx="6979615" cy="822960"/>
          </a:xfrm>
          <a:prstGeom prst="rect">
            <a:avLst/>
          </a:prstGeom>
          <a:noFill/>
          <a:ln/>
        </p:spPr>
        <p:txBody>
          <a:bodyPr wrap="square" lIns="0" tIns="0" rIns="0" bIns="0" rtlCol="0" anchor="ctr"/>
          <a:lstStyle/>
          <a:p>
            <a:pPr indent="0" marL="0">
              <a:lnSpc>
                <a:spcPct val="120000"/>
              </a:lnSpc>
              <a:buNone/>
            </a:pPr>
            <a:r>
              <a:rPr lang="en-US" sz="1200" dirty="0">
                <a:solidFill>
                  <a:srgbClr val="20303D"/>
                </a:solidFill>
                <a:latin typeface="Courier New" pitchFamily="34" charset="0"/>
                <a:ea typeface="Courier New" pitchFamily="34" charset="-122"/>
                <a:cs typeface="Courier New" pitchFamily="34" charset="-120"/>
              </a:rPr>
              <a:t>delta_grid, delta_battery, delta_electrolyzer, delta_fuel_cell: impediscono scelte contraddittorie nella stessa ora</a:t>
            </a:r>
            <a:endParaRPr lang="en-US" sz="1200" dirty="0"/>
          </a:p>
        </p:txBody>
      </p:sp>
      <p:sp>
        <p:nvSpPr>
          <p:cNvPr id="16" name="Text 14"/>
          <p:cNvSpPr/>
          <p:nvPr/>
        </p:nvSpPr>
        <p:spPr>
          <a:xfrm>
            <a:off x="548640" y="5715000"/>
            <a:ext cx="11094415" cy="457200"/>
          </a:xfrm>
          <a:prstGeom prst="rect">
            <a:avLst/>
          </a:prstGeom>
          <a:noFill/>
          <a:ln/>
        </p:spPr>
        <p:txBody>
          <a:bodyPr wrap="square" lIns="0" tIns="0" rIns="0" bIns="0" rtlCol="0" anchor="ctr"/>
          <a:lstStyle/>
          <a:p>
            <a:pPr indent="0" marL="0">
              <a:buNone/>
            </a:pPr>
            <a:r>
              <a:rPr lang="en-US" sz="1250" i="1" dirty="0">
                <a:solidFill>
                  <a:srgbClr val="6B7A85"/>
                </a:solidFill>
                <a:latin typeface="Calibri" pitchFamily="34" charset="0"/>
                <a:ea typeface="Calibri" pitchFamily="34" charset="-122"/>
                <a:cs typeface="Calibri" pitchFamily="34" charset="-120"/>
              </a:rPr>
              <a:t>Un interruttore binario, ad esempio, permette di comprare oppure vendere energia in un'ora, ma mai entrambe le cose insieme.</a:t>
            </a:r>
            <a:endParaRPr lang="en-US" sz="1250" dirty="0"/>
          </a:p>
        </p:txBody>
      </p:sp>
      <p:sp>
        <p:nvSpPr>
          <p:cNvPr id="18" name="Text 15"/>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A85"/>
                </a:solidFill>
                <a:latin typeface="Calibri" pitchFamily="34" charset="0"/>
                <a:ea typeface="Calibri" pitchFamily="34" charset="-122"/>
                <a:cs typeface="Calibri" pitchFamily="34" charset="-120"/>
              </a:rPr>
              <a:t>Project 16 — Controllo MPC di un sistema energetico industriale</a:t>
            </a:r>
            <a:endParaRPr lang="en-US" sz="900" dirty="0"/>
          </a:p>
        </p:txBody>
      </p:sp>
      <p:sp>
        <p:nvSpPr>
          <p:cNvPr id="19" name="Text 16"/>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6B7A8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4415"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04 · IL MODELLO MATEMATICO</a:t>
            </a:r>
            <a:endParaRPr lang="en-US" sz="1300" dirty="0"/>
          </a:p>
        </p:txBody>
      </p:sp>
      <p:sp>
        <p:nvSpPr>
          <p:cNvPr id="3" name="Text 1"/>
          <p:cNvSpPr/>
          <p:nvPr/>
        </p:nvSpPr>
        <p:spPr>
          <a:xfrm>
            <a:off x="548640" y="713232"/>
            <a:ext cx="11094415" cy="777240"/>
          </a:xfrm>
          <a:prstGeom prst="rect">
            <a:avLst/>
          </a:prstGeom>
          <a:noFill/>
          <a:ln/>
        </p:spPr>
        <p:txBody>
          <a:bodyPr wrap="square" lIns="0" tIns="0" rIns="0" bIns="0" rtlCol="0" anchor="ctr"/>
          <a:lstStyle/>
          <a:p>
            <a:pPr indent="0" marL="0">
              <a:buNone/>
            </a:pPr>
            <a:r>
              <a:rPr lang="en-US" sz="3000" b="1" dirty="0">
                <a:solidFill>
                  <a:srgbClr val="0B3D59"/>
                </a:solidFill>
                <a:latin typeface="Cambria" pitchFamily="34" charset="0"/>
                <a:ea typeface="Cambria" pitchFamily="34" charset="-122"/>
                <a:cs typeface="Cambria" pitchFamily="34" charset="-120"/>
              </a:rPr>
              <a:t>Il vincolo più importante: il bilancio di potenza</a:t>
            </a:r>
            <a:endParaRPr lang="en-US" sz="3000" dirty="0"/>
          </a:p>
        </p:txBody>
      </p:sp>
      <p:sp>
        <p:nvSpPr>
          <p:cNvPr id="4" name="Text 2"/>
          <p:cNvSpPr/>
          <p:nvPr/>
        </p:nvSpPr>
        <p:spPr>
          <a:xfrm>
            <a:off x="548640" y="1828800"/>
            <a:ext cx="11094415" cy="548640"/>
          </a:xfrm>
          <a:prstGeom prst="rect">
            <a:avLst/>
          </a:prstGeom>
          <a:noFill/>
          <a:ln/>
        </p:spPr>
        <p:txBody>
          <a:bodyPr wrap="square" lIns="0" tIns="0" rIns="0" bIns="0" rtlCol="0" anchor="ctr"/>
          <a:lstStyle/>
          <a:p>
            <a:pPr indent="0" marL="0">
              <a:buNone/>
            </a:pPr>
            <a:r>
              <a:rPr lang="en-US" sz="1550" dirty="0">
                <a:solidFill>
                  <a:srgbClr val="20303D"/>
                </a:solidFill>
                <a:latin typeface="Calibri" pitchFamily="34" charset="0"/>
                <a:ea typeface="Calibri" pitchFamily="34" charset="-122"/>
                <a:cs typeface="Calibri" pitchFamily="34" charset="-120"/>
              </a:rPr>
              <a:t>In ogni ora, tutta l'energia che entra nel sistema deve uguagliare esattamente tutta l'energia che esce.</a:t>
            </a:r>
            <a:endParaRPr lang="en-US" sz="1550" dirty="0"/>
          </a:p>
        </p:txBody>
      </p:sp>
      <p:sp>
        <p:nvSpPr>
          <p:cNvPr id="5" name="Shape 3"/>
          <p:cNvSpPr/>
          <p:nvPr/>
        </p:nvSpPr>
        <p:spPr>
          <a:xfrm>
            <a:off x="548640" y="2606040"/>
            <a:ext cx="4572000" cy="3017520"/>
          </a:xfrm>
          <a:prstGeom prst="roundRect">
            <a:avLst>
              <a:gd name="adj" fmla="val 2424"/>
            </a:avLst>
          </a:prstGeom>
          <a:solidFill>
            <a:srgbClr val="EAF6EE"/>
          </a:solidFill>
          <a:ln w="12700">
            <a:solidFill>
              <a:srgbClr val="2F8F4E"/>
            </a:solidFill>
            <a:prstDash val="solid"/>
          </a:ln>
          <a:effectLst>
            <a:outerShdw sx="100000" sy="100000" kx="0" ky="0" algn="bl" rotWithShape="0" blurRad="76200" dist="25400" dir="5400000">
              <a:srgbClr val="9AA7AF">
                <a:alpha val="25000"/>
              </a:srgbClr>
            </a:outerShdw>
          </a:effectLst>
        </p:spPr>
      </p:sp>
      <p:sp>
        <p:nvSpPr>
          <p:cNvPr id="6" name="Text 4"/>
          <p:cNvSpPr/>
          <p:nvPr/>
        </p:nvSpPr>
        <p:spPr>
          <a:xfrm>
            <a:off x="822960" y="2834640"/>
            <a:ext cx="4023360" cy="320040"/>
          </a:xfrm>
          <a:prstGeom prst="rect">
            <a:avLst/>
          </a:prstGeom>
          <a:noFill/>
          <a:ln/>
        </p:spPr>
        <p:txBody>
          <a:bodyPr wrap="square" lIns="0" tIns="0" rIns="0" bIns="0" rtlCol="0" anchor="ctr"/>
          <a:lstStyle/>
          <a:p>
            <a:pPr indent="0" marL="0">
              <a:buNone/>
            </a:pPr>
            <a:r>
              <a:rPr lang="en-US" sz="1250" b="1" spc="100" kern="0" dirty="0">
                <a:solidFill>
                  <a:srgbClr val="2F8F4E"/>
                </a:solidFill>
                <a:latin typeface="Calibri" pitchFamily="34" charset="0"/>
                <a:ea typeface="Calibri" pitchFamily="34" charset="-122"/>
                <a:cs typeface="Calibri" pitchFamily="34" charset="-120"/>
              </a:rPr>
              <a:t>ENTRA NEL SISTEMA</a:t>
            </a:r>
            <a:endParaRPr lang="en-US" sz="1250" dirty="0"/>
          </a:p>
        </p:txBody>
      </p:sp>
      <p:sp>
        <p:nvSpPr>
          <p:cNvPr id="7" name="Text 5"/>
          <p:cNvSpPr/>
          <p:nvPr/>
        </p:nvSpPr>
        <p:spPr>
          <a:xfrm>
            <a:off x="822960" y="3291840"/>
            <a:ext cx="4023360" cy="502920"/>
          </a:xfrm>
          <a:prstGeom prst="rect">
            <a:avLst/>
          </a:prstGeom>
          <a:noFill/>
          <a:ln/>
        </p:spPr>
        <p:txBody>
          <a:bodyPr wrap="square" lIns="0" tIns="0" rIns="0" bIns="0" rtlCol="0" anchor="ctr"/>
          <a:lstStyle/>
          <a:p>
            <a:pPr indent="0" marL="0">
              <a:buNone/>
            </a:pPr>
            <a:r>
              <a:rPr lang="en-US" sz="1350" dirty="0">
                <a:solidFill>
                  <a:srgbClr val="20303D"/>
                </a:solidFill>
                <a:latin typeface="Calibri" pitchFamily="34" charset="0"/>
                <a:ea typeface="Calibri" pitchFamily="34" charset="-122"/>
                <a:cs typeface="Calibri" pitchFamily="34" charset="-120"/>
              </a:rPr>
              <a:t>Rinnovabile non sprecata</a:t>
            </a:r>
            <a:endParaRPr lang="en-US" sz="1350" dirty="0"/>
          </a:p>
        </p:txBody>
      </p:sp>
      <p:sp>
        <p:nvSpPr>
          <p:cNvPr id="8" name="Text 6"/>
          <p:cNvSpPr/>
          <p:nvPr/>
        </p:nvSpPr>
        <p:spPr>
          <a:xfrm>
            <a:off x="822960" y="3840480"/>
            <a:ext cx="4023360" cy="502920"/>
          </a:xfrm>
          <a:prstGeom prst="rect">
            <a:avLst/>
          </a:prstGeom>
          <a:noFill/>
          <a:ln/>
        </p:spPr>
        <p:txBody>
          <a:bodyPr wrap="square" lIns="0" tIns="0" rIns="0" bIns="0" rtlCol="0" anchor="ctr"/>
          <a:lstStyle/>
          <a:p>
            <a:pPr indent="0" marL="0">
              <a:buNone/>
            </a:pPr>
            <a:r>
              <a:rPr lang="en-US" sz="1350" dirty="0">
                <a:solidFill>
                  <a:srgbClr val="20303D"/>
                </a:solidFill>
                <a:latin typeface="Calibri" pitchFamily="34" charset="0"/>
                <a:ea typeface="Calibri" pitchFamily="34" charset="-122"/>
                <a:cs typeface="Calibri" pitchFamily="34" charset="-120"/>
              </a:rPr>
              <a:t>+ Energia comprata dalla rete</a:t>
            </a:r>
            <a:endParaRPr lang="en-US" sz="1350" dirty="0"/>
          </a:p>
        </p:txBody>
      </p:sp>
      <p:sp>
        <p:nvSpPr>
          <p:cNvPr id="9" name="Text 7"/>
          <p:cNvSpPr/>
          <p:nvPr/>
        </p:nvSpPr>
        <p:spPr>
          <a:xfrm>
            <a:off x="822960" y="4389120"/>
            <a:ext cx="4023360" cy="502920"/>
          </a:xfrm>
          <a:prstGeom prst="rect">
            <a:avLst/>
          </a:prstGeom>
          <a:noFill/>
          <a:ln/>
        </p:spPr>
        <p:txBody>
          <a:bodyPr wrap="square" lIns="0" tIns="0" rIns="0" bIns="0" rtlCol="0" anchor="ctr"/>
          <a:lstStyle/>
          <a:p>
            <a:pPr indent="0" marL="0">
              <a:buNone/>
            </a:pPr>
            <a:r>
              <a:rPr lang="en-US" sz="1350" dirty="0">
                <a:solidFill>
                  <a:srgbClr val="20303D"/>
                </a:solidFill>
                <a:latin typeface="Calibri" pitchFamily="34" charset="0"/>
                <a:ea typeface="Calibri" pitchFamily="34" charset="-122"/>
                <a:cs typeface="Calibri" pitchFamily="34" charset="-120"/>
              </a:rPr>
              <a:t>+ Energia dalla fuel cell</a:t>
            </a:r>
            <a:endParaRPr lang="en-US" sz="1350" dirty="0"/>
          </a:p>
        </p:txBody>
      </p:sp>
      <p:sp>
        <p:nvSpPr>
          <p:cNvPr id="10" name="Text 8"/>
          <p:cNvSpPr/>
          <p:nvPr/>
        </p:nvSpPr>
        <p:spPr>
          <a:xfrm>
            <a:off x="822960" y="4937760"/>
            <a:ext cx="4023360" cy="502920"/>
          </a:xfrm>
          <a:prstGeom prst="rect">
            <a:avLst/>
          </a:prstGeom>
          <a:noFill/>
          <a:ln/>
        </p:spPr>
        <p:txBody>
          <a:bodyPr wrap="square" lIns="0" tIns="0" rIns="0" bIns="0" rtlCol="0" anchor="ctr"/>
          <a:lstStyle/>
          <a:p>
            <a:pPr indent="0" marL="0">
              <a:buNone/>
            </a:pPr>
            <a:r>
              <a:rPr lang="en-US" sz="1350" dirty="0">
                <a:solidFill>
                  <a:srgbClr val="20303D"/>
                </a:solidFill>
                <a:latin typeface="Calibri" pitchFamily="34" charset="0"/>
                <a:ea typeface="Calibri" pitchFamily="34" charset="-122"/>
                <a:cs typeface="Calibri" pitchFamily="34" charset="-120"/>
              </a:rPr>
              <a:t>+ Scarica della batteria</a:t>
            </a:r>
            <a:endParaRPr lang="en-US" sz="1350" dirty="0"/>
          </a:p>
        </p:txBody>
      </p:sp>
      <p:sp>
        <p:nvSpPr>
          <p:cNvPr id="11" name="Shape 9"/>
          <p:cNvSpPr/>
          <p:nvPr/>
        </p:nvSpPr>
        <p:spPr>
          <a:xfrm>
            <a:off x="5752948" y="3771900"/>
            <a:ext cx="685800" cy="685800"/>
          </a:xfrm>
          <a:prstGeom prst="ellipse">
            <a:avLst/>
          </a:prstGeom>
          <a:solidFill>
            <a:srgbClr val="0B3D59"/>
          </a:solidFill>
          <a:ln/>
        </p:spPr>
      </p:sp>
      <p:sp>
        <p:nvSpPr>
          <p:cNvPr id="12" name="Text 10"/>
          <p:cNvSpPr/>
          <p:nvPr/>
        </p:nvSpPr>
        <p:spPr>
          <a:xfrm>
            <a:off x="5752948" y="3771900"/>
            <a:ext cx="685800" cy="685800"/>
          </a:xfrm>
          <a:prstGeom prst="rect">
            <a:avLst/>
          </a:prstGeom>
          <a:noFill/>
          <a:ln/>
        </p:spPr>
        <p:txBody>
          <a:bodyPr wrap="square" lIns="0" tIns="0" rIns="0" bIns="0" rtlCol="0" anchor="ctr"/>
          <a:lstStyle/>
          <a:p>
            <a:pPr algn="ctr" indent="0" marL="0">
              <a:buNone/>
            </a:pPr>
            <a:r>
              <a:rPr lang="en-US" sz="2600" b="1" dirty="0">
                <a:solidFill>
                  <a:srgbClr val="FFFFFF"/>
                </a:solidFill>
                <a:latin typeface="Calibri" pitchFamily="34" charset="0"/>
                <a:ea typeface="Calibri" pitchFamily="34" charset="-122"/>
                <a:cs typeface="Calibri" pitchFamily="34" charset="-120"/>
              </a:rPr>
              <a:t>=</a:t>
            </a:r>
            <a:endParaRPr lang="en-US" sz="2600" dirty="0"/>
          </a:p>
        </p:txBody>
      </p:sp>
      <p:sp>
        <p:nvSpPr>
          <p:cNvPr id="13" name="Shape 11"/>
          <p:cNvSpPr/>
          <p:nvPr/>
        </p:nvSpPr>
        <p:spPr>
          <a:xfrm>
            <a:off x="7071055" y="2606040"/>
            <a:ext cx="4572000" cy="3017520"/>
          </a:xfrm>
          <a:prstGeom prst="roundRect">
            <a:avLst>
              <a:gd name="adj" fmla="val 2424"/>
            </a:avLst>
          </a:prstGeom>
          <a:solidFill>
            <a:srgbClr val="FDEEEC"/>
          </a:solidFill>
          <a:ln w="12700">
            <a:solidFill>
              <a:srgbClr val="C0433A"/>
            </a:solidFill>
            <a:prstDash val="solid"/>
          </a:ln>
          <a:effectLst>
            <a:outerShdw sx="100000" sy="100000" kx="0" ky="0" algn="bl" rotWithShape="0" blurRad="76200" dist="25400" dir="5400000">
              <a:srgbClr val="9AA7AF">
                <a:alpha val="25000"/>
              </a:srgbClr>
            </a:outerShdw>
          </a:effectLst>
        </p:spPr>
      </p:sp>
      <p:sp>
        <p:nvSpPr>
          <p:cNvPr id="14" name="Text 12"/>
          <p:cNvSpPr/>
          <p:nvPr/>
        </p:nvSpPr>
        <p:spPr>
          <a:xfrm>
            <a:off x="7345375" y="2834640"/>
            <a:ext cx="4023360" cy="320040"/>
          </a:xfrm>
          <a:prstGeom prst="rect">
            <a:avLst/>
          </a:prstGeom>
          <a:noFill/>
          <a:ln/>
        </p:spPr>
        <p:txBody>
          <a:bodyPr wrap="square" lIns="0" tIns="0" rIns="0" bIns="0" rtlCol="0" anchor="ctr"/>
          <a:lstStyle/>
          <a:p>
            <a:pPr indent="0" marL="0">
              <a:buNone/>
            </a:pPr>
            <a:r>
              <a:rPr lang="en-US" sz="1250" b="1" spc="100" kern="0" dirty="0">
                <a:solidFill>
                  <a:srgbClr val="C0433A"/>
                </a:solidFill>
                <a:latin typeface="Calibri" pitchFamily="34" charset="0"/>
                <a:ea typeface="Calibri" pitchFamily="34" charset="-122"/>
                <a:cs typeface="Calibri" pitchFamily="34" charset="-120"/>
              </a:rPr>
              <a:t>ESCE DAL SISTEMA</a:t>
            </a:r>
            <a:endParaRPr lang="en-US" sz="1250" dirty="0"/>
          </a:p>
        </p:txBody>
      </p:sp>
      <p:sp>
        <p:nvSpPr>
          <p:cNvPr id="15" name="Text 13"/>
          <p:cNvSpPr/>
          <p:nvPr/>
        </p:nvSpPr>
        <p:spPr>
          <a:xfrm>
            <a:off x="7345375" y="3291840"/>
            <a:ext cx="4023360" cy="502920"/>
          </a:xfrm>
          <a:prstGeom prst="rect">
            <a:avLst/>
          </a:prstGeom>
          <a:noFill/>
          <a:ln/>
        </p:spPr>
        <p:txBody>
          <a:bodyPr wrap="square" lIns="0" tIns="0" rIns="0" bIns="0" rtlCol="0" anchor="ctr"/>
          <a:lstStyle/>
          <a:p>
            <a:pPr indent="0" marL="0">
              <a:buNone/>
            </a:pPr>
            <a:r>
              <a:rPr lang="en-US" sz="1350" dirty="0">
                <a:solidFill>
                  <a:srgbClr val="20303D"/>
                </a:solidFill>
                <a:latin typeface="Calibri" pitchFamily="34" charset="0"/>
                <a:ea typeface="Calibri" pitchFamily="34" charset="-122"/>
                <a:cs typeface="Calibri" pitchFamily="34" charset="-120"/>
              </a:rPr>
              <a:t>Carico dell'edificio</a:t>
            </a:r>
            <a:endParaRPr lang="en-US" sz="1350" dirty="0"/>
          </a:p>
        </p:txBody>
      </p:sp>
      <p:sp>
        <p:nvSpPr>
          <p:cNvPr id="16" name="Text 14"/>
          <p:cNvSpPr/>
          <p:nvPr/>
        </p:nvSpPr>
        <p:spPr>
          <a:xfrm>
            <a:off x="7345375" y="3840480"/>
            <a:ext cx="4023360" cy="502920"/>
          </a:xfrm>
          <a:prstGeom prst="rect">
            <a:avLst/>
          </a:prstGeom>
          <a:noFill/>
          <a:ln/>
        </p:spPr>
        <p:txBody>
          <a:bodyPr wrap="square" lIns="0" tIns="0" rIns="0" bIns="0" rtlCol="0" anchor="ctr"/>
          <a:lstStyle/>
          <a:p>
            <a:pPr indent="0" marL="0">
              <a:buNone/>
            </a:pPr>
            <a:r>
              <a:rPr lang="en-US" sz="1350" dirty="0">
                <a:solidFill>
                  <a:srgbClr val="20303D"/>
                </a:solidFill>
                <a:latin typeface="Calibri" pitchFamily="34" charset="0"/>
                <a:ea typeface="Calibri" pitchFamily="34" charset="-122"/>
                <a:cs typeface="Calibri" pitchFamily="34" charset="-120"/>
              </a:rPr>
              <a:t>+ Energia venduta alla rete</a:t>
            </a:r>
            <a:endParaRPr lang="en-US" sz="1350" dirty="0"/>
          </a:p>
        </p:txBody>
      </p:sp>
      <p:sp>
        <p:nvSpPr>
          <p:cNvPr id="17" name="Text 15"/>
          <p:cNvSpPr/>
          <p:nvPr/>
        </p:nvSpPr>
        <p:spPr>
          <a:xfrm>
            <a:off x="7345375" y="4389120"/>
            <a:ext cx="4023360" cy="502920"/>
          </a:xfrm>
          <a:prstGeom prst="rect">
            <a:avLst/>
          </a:prstGeom>
          <a:noFill/>
          <a:ln/>
        </p:spPr>
        <p:txBody>
          <a:bodyPr wrap="square" lIns="0" tIns="0" rIns="0" bIns="0" rtlCol="0" anchor="ctr"/>
          <a:lstStyle/>
          <a:p>
            <a:pPr indent="0" marL="0">
              <a:buNone/>
            </a:pPr>
            <a:r>
              <a:rPr lang="en-US" sz="1350" dirty="0">
                <a:solidFill>
                  <a:srgbClr val="20303D"/>
                </a:solidFill>
                <a:latin typeface="Calibri" pitchFamily="34" charset="0"/>
                <a:ea typeface="Calibri" pitchFamily="34" charset="-122"/>
                <a:cs typeface="Calibri" pitchFamily="34" charset="-120"/>
              </a:rPr>
              <a:t>+ Energia all'elettrolizzatore</a:t>
            </a:r>
            <a:endParaRPr lang="en-US" sz="1350" dirty="0"/>
          </a:p>
        </p:txBody>
      </p:sp>
      <p:sp>
        <p:nvSpPr>
          <p:cNvPr id="18" name="Text 16"/>
          <p:cNvSpPr/>
          <p:nvPr/>
        </p:nvSpPr>
        <p:spPr>
          <a:xfrm>
            <a:off x="7345375" y="4937760"/>
            <a:ext cx="4023360" cy="502920"/>
          </a:xfrm>
          <a:prstGeom prst="rect">
            <a:avLst/>
          </a:prstGeom>
          <a:noFill/>
          <a:ln/>
        </p:spPr>
        <p:txBody>
          <a:bodyPr wrap="square" lIns="0" tIns="0" rIns="0" bIns="0" rtlCol="0" anchor="ctr"/>
          <a:lstStyle/>
          <a:p>
            <a:pPr indent="0" marL="0">
              <a:buNone/>
            </a:pPr>
            <a:r>
              <a:rPr lang="en-US" sz="1350" dirty="0">
                <a:solidFill>
                  <a:srgbClr val="20303D"/>
                </a:solidFill>
                <a:latin typeface="Calibri" pitchFamily="34" charset="0"/>
                <a:ea typeface="Calibri" pitchFamily="34" charset="-122"/>
                <a:cs typeface="Calibri" pitchFamily="34" charset="-120"/>
              </a:rPr>
              <a:t>+ Carica della batteria</a:t>
            </a:r>
            <a:endParaRPr lang="en-US" sz="1350" dirty="0"/>
          </a:p>
        </p:txBody>
      </p:sp>
      <p:sp>
        <p:nvSpPr>
          <p:cNvPr id="19" name="Text 17"/>
          <p:cNvSpPr/>
          <p:nvPr/>
        </p:nvSpPr>
        <p:spPr>
          <a:xfrm>
            <a:off x="548640" y="5852160"/>
            <a:ext cx="11094415" cy="411480"/>
          </a:xfrm>
          <a:prstGeom prst="rect">
            <a:avLst/>
          </a:prstGeom>
          <a:noFill/>
          <a:ln/>
        </p:spPr>
        <p:txBody>
          <a:bodyPr wrap="square" lIns="0" tIns="0" rIns="0" bIns="0" rtlCol="0" anchor="ctr"/>
          <a:lstStyle/>
          <a:p>
            <a:pPr algn="ctr" indent="0" marL="0">
              <a:buNone/>
            </a:pPr>
            <a:r>
              <a:rPr lang="en-US" sz="1250" i="1" dirty="0">
                <a:solidFill>
                  <a:srgbClr val="6B7A85"/>
                </a:solidFill>
                <a:latin typeface="Calibri" pitchFamily="34" charset="0"/>
                <a:ea typeface="Calibri" pitchFamily="34" charset="-122"/>
                <a:cs typeface="Calibri" pitchFamily="34" charset="-120"/>
              </a:rPr>
              <a:t>Questa equazione vale per ogni singola ora della finestra di 24 ore, non solo per l'ora corrente.</a:t>
            </a:r>
            <a:endParaRPr lang="en-US" sz="1250" dirty="0"/>
          </a:p>
        </p:txBody>
      </p:sp>
      <p:sp>
        <p:nvSpPr>
          <p:cNvPr id="21" name="Text 18"/>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A85"/>
                </a:solidFill>
                <a:latin typeface="Calibri" pitchFamily="34" charset="0"/>
                <a:ea typeface="Calibri" pitchFamily="34" charset="-122"/>
                <a:cs typeface="Calibri" pitchFamily="34" charset="-120"/>
              </a:rPr>
              <a:t>Project 16 — Controllo MPC di un sistema energetico industriale</a:t>
            </a:r>
            <a:endParaRPr lang="en-US" sz="900" dirty="0"/>
          </a:p>
        </p:txBody>
      </p:sp>
      <p:sp>
        <p:nvSpPr>
          <p:cNvPr id="22" name="Text 19"/>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6B7A85"/>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4415"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04 · IL MODELLO MATEMATICO</a:t>
            </a:r>
            <a:endParaRPr lang="en-US" sz="1300" dirty="0"/>
          </a:p>
        </p:txBody>
      </p:sp>
      <p:sp>
        <p:nvSpPr>
          <p:cNvPr id="3" name="Text 1"/>
          <p:cNvSpPr/>
          <p:nvPr/>
        </p:nvSpPr>
        <p:spPr>
          <a:xfrm>
            <a:off x="548640" y="713232"/>
            <a:ext cx="11094415" cy="777240"/>
          </a:xfrm>
          <a:prstGeom prst="rect">
            <a:avLst/>
          </a:prstGeom>
          <a:noFill/>
          <a:ln/>
        </p:spPr>
        <p:txBody>
          <a:bodyPr wrap="square" lIns="0" tIns="0" rIns="0" bIns="0" rtlCol="0" anchor="ctr"/>
          <a:lstStyle/>
          <a:p>
            <a:pPr indent="0" marL="0">
              <a:buNone/>
            </a:pPr>
            <a:r>
              <a:rPr lang="en-US" sz="3000" b="1" dirty="0">
                <a:solidFill>
                  <a:srgbClr val="0B3D59"/>
                </a:solidFill>
                <a:latin typeface="Cambria" pitchFamily="34" charset="0"/>
                <a:ea typeface="Cambria" pitchFamily="34" charset="-122"/>
                <a:cs typeface="Cambria" pitchFamily="34" charset="-120"/>
              </a:rPr>
              <a:t>Batteria e idrogeno: la stessa logica</a:t>
            </a:r>
            <a:endParaRPr lang="en-US" sz="3000" dirty="0"/>
          </a:p>
        </p:txBody>
      </p:sp>
      <p:sp>
        <p:nvSpPr>
          <p:cNvPr id="4" name="Shape 2"/>
          <p:cNvSpPr/>
          <p:nvPr/>
        </p:nvSpPr>
        <p:spPr>
          <a:xfrm>
            <a:off x="548640" y="1874520"/>
            <a:ext cx="5318608" cy="4160520"/>
          </a:xfrm>
          <a:prstGeom prst="roundRect">
            <a:avLst>
              <a:gd name="adj" fmla="val 1758"/>
            </a:avLst>
          </a:prstGeom>
          <a:solidFill>
            <a:srgbClr val="F1F5F8"/>
          </a:solidFill>
          <a:ln w="12700">
            <a:solidFill>
              <a:srgbClr val="DCE6EC"/>
            </a:solidFill>
            <a:prstDash val="solid"/>
          </a:ln>
          <a:effectLst>
            <a:outerShdw sx="100000" sy="100000" kx="0" ky="0" algn="bl" rotWithShape="0" blurRad="76200" dist="25400" dir="5400000">
              <a:srgbClr val="9AA7AF">
                <a:alpha val="25000"/>
              </a:srgbClr>
            </a:outerShdw>
          </a:effectLst>
        </p:spPr>
      </p:sp>
      <p:sp>
        <p:nvSpPr>
          <p:cNvPr id="5" name="Shape 3"/>
          <p:cNvSpPr/>
          <p:nvPr/>
        </p:nvSpPr>
        <p:spPr>
          <a:xfrm>
            <a:off x="548640" y="1874520"/>
            <a:ext cx="5318608" cy="128016"/>
          </a:xfrm>
          <a:prstGeom prst="roundRect">
            <a:avLst/>
          </a:prstGeom>
          <a:solidFill>
            <a:srgbClr val="8A5CBF"/>
          </a:solidFill>
          <a:ln/>
        </p:spPr>
      </p:sp>
      <p:sp>
        <p:nvSpPr>
          <p:cNvPr id="6" name="Text 4"/>
          <p:cNvSpPr/>
          <p:nvPr/>
        </p:nvSpPr>
        <p:spPr>
          <a:xfrm>
            <a:off x="822960" y="2194560"/>
            <a:ext cx="4769968" cy="365760"/>
          </a:xfrm>
          <a:prstGeom prst="rect">
            <a:avLst/>
          </a:prstGeom>
          <a:noFill/>
          <a:ln/>
        </p:spPr>
        <p:txBody>
          <a:bodyPr wrap="square" lIns="0" tIns="0" rIns="0" bIns="0" rtlCol="0" anchor="ctr"/>
          <a:lstStyle/>
          <a:p>
            <a:pPr indent="0" marL="0">
              <a:buNone/>
            </a:pPr>
            <a:r>
              <a:rPr lang="en-US" sz="1500" b="1" spc="100" kern="0" dirty="0">
                <a:solidFill>
                  <a:srgbClr val="8A5CBF"/>
                </a:solidFill>
                <a:latin typeface="Calibri" pitchFamily="34" charset="0"/>
                <a:ea typeface="Calibri" pitchFamily="34" charset="-122"/>
                <a:cs typeface="Calibri" pitchFamily="34" charset="-120"/>
              </a:rPr>
              <a:t>BATTERIA</a:t>
            </a:r>
            <a:endParaRPr lang="en-US" sz="1500" dirty="0"/>
          </a:p>
        </p:txBody>
      </p:sp>
      <p:sp>
        <p:nvSpPr>
          <p:cNvPr id="7" name="Text 5"/>
          <p:cNvSpPr/>
          <p:nvPr/>
        </p:nvSpPr>
        <p:spPr>
          <a:xfrm>
            <a:off x="822960" y="2651760"/>
            <a:ext cx="1498549" cy="502920"/>
          </a:xfrm>
          <a:prstGeom prst="rect">
            <a:avLst/>
          </a:prstGeom>
          <a:noFill/>
          <a:ln/>
        </p:spPr>
        <p:txBody>
          <a:bodyPr wrap="square" lIns="0" tIns="0" rIns="0" bIns="0" rtlCol="0" anchor="ctr"/>
          <a:lstStyle/>
          <a:p>
            <a:pPr indent="0" marL="0">
              <a:buNone/>
            </a:pPr>
            <a:r>
              <a:rPr lang="en-US" sz="2000" b="1" dirty="0">
                <a:solidFill>
                  <a:srgbClr val="0B3D59"/>
                </a:solidFill>
                <a:latin typeface="Cambria" pitchFamily="34" charset="0"/>
                <a:ea typeface="Cambria" pitchFamily="34" charset="-122"/>
                <a:cs typeface="Cambria" pitchFamily="34" charset="-120"/>
              </a:rPr>
              <a:t>1 MW</a:t>
            </a:r>
            <a:endParaRPr lang="en-US" sz="2000" dirty="0"/>
          </a:p>
        </p:txBody>
      </p:sp>
      <p:sp>
        <p:nvSpPr>
          <p:cNvPr id="8" name="Text 6"/>
          <p:cNvSpPr/>
          <p:nvPr/>
        </p:nvSpPr>
        <p:spPr>
          <a:xfrm>
            <a:off x="822960" y="3136392"/>
            <a:ext cx="1498549" cy="365760"/>
          </a:xfrm>
          <a:prstGeom prst="rect">
            <a:avLst/>
          </a:prstGeom>
          <a:noFill/>
          <a:ln/>
        </p:spPr>
        <p:txBody>
          <a:bodyPr wrap="square" lIns="0" tIns="0" rIns="0" bIns="0" rtlCol="0" anchor="ctr"/>
          <a:lstStyle/>
          <a:p>
            <a:pPr indent="0" marL="0">
              <a:buNone/>
            </a:pPr>
            <a:r>
              <a:rPr lang="en-US" sz="1050" dirty="0">
                <a:solidFill>
                  <a:srgbClr val="6B7A85"/>
                </a:solidFill>
                <a:latin typeface="Calibri" pitchFamily="34" charset="0"/>
                <a:ea typeface="Calibri" pitchFamily="34" charset="-122"/>
                <a:cs typeface="Calibri" pitchFamily="34" charset="-120"/>
              </a:rPr>
              <a:t>potenza</a:t>
            </a:r>
            <a:endParaRPr lang="en-US" sz="1050" dirty="0"/>
          </a:p>
        </p:txBody>
      </p:sp>
      <p:sp>
        <p:nvSpPr>
          <p:cNvPr id="9" name="Text 7"/>
          <p:cNvSpPr/>
          <p:nvPr/>
        </p:nvSpPr>
        <p:spPr>
          <a:xfrm>
            <a:off x="2412949" y="2651760"/>
            <a:ext cx="1498549" cy="502920"/>
          </a:xfrm>
          <a:prstGeom prst="rect">
            <a:avLst/>
          </a:prstGeom>
          <a:noFill/>
          <a:ln/>
        </p:spPr>
        <p:txBody>
          <a:bodyPr wrap="square" lIns="0" tIns="0" rIns="0" bIns="0" rtlCol="0" anchor="ctr"/>
          <a:lstStyle/>
          <a:p>
            <a:pPr indent="0" marL="0">
              <a:buNone/>
            </a:pPr>
            <a:r>
              <a:rPr lang="en-US" sz="2000" b="1" dirty="0">
                <a:solidFill>
                  <a:srgbClr val="0B3D59"/>
                </a:solidFill>
                <a:latin typeface="Cambria" pitchFamily="34" charset="0"/>
                <a:ea typeface="Cambria" pitchFamily="34" charset="-122"/>
                <a:cs typeface="Cambria" pitchFamily="34" charset="-120"/>
              </a:rPr>
              <a:t>1 MWh</a:t>
            </a:r>
            <a:endParaRPr lang="en-US" sz="2000" dirty="0"/>
          </a:p>
        </p:txBody>
      </p:sp>
      <p:sp>
        <p:nvSpPr>
          <p:cNvPr id="10" name="Text 8"/>
          <p:cNvSpPr/>
          <p:nvPr/>
        </p:nvSpPr>
        <p:spPr>
          <a:xfrm>
            <a:off x="2412949" y="3136392"/>
            <a:ext cx="1498549" cy="365760"/>
          </a:xfrm>
          <a:prstGeom prst="rect">
            <a:avLst/>
          </a:prstGeom>
          <a:noFill/>
          <a:ln/>
        </p:spPr>
        <p:txBody>
          <a:bodyPr wrap="square" lIns="0" tIns="0" rIns="0" bIns="0" rtlCol="0" anchor="ctr"/>
          <a:lstStyle/>
          <a:p>
            <a:pPr indent="0" marL="0">
              <a:buNone/>
            </a:pPr>
            <a:r>
              <a:rPr lang="en-US" sz="1050" dirty="0">
                <a:solidFill>
                  <a:srgbClr val="6B7A85"/>
                </a:solidFill>
                <a:latin typeface="Calibri" pitchFamily="34" charset="0"/>
                <a:ea typeface="Calibri" pitchFamily="34" charset="-122"/>
                <a:cs typeface="Calibri" pitchFamily="34" charset="-120"/>
              </a:rPr>
              <a:t>capacità</a:t>
            </a:r>
            <a:endParaRPr lang="en-US" sz="1050" dirty="0"/>
          </a:p>
        </p:txBody>
      </p:sp>
      <p:sp>
        <p:nvSpPr>
          <p:cNvPr id="11" name="Text 9"/>
          <p:cNvSpPr/>
          <p:nvPr/>
        </p:nvSpPr>
        <p:spPr>
          <a:xfrm>
            <a:off x="4002938" y="2651760"/>
            <a:ext cx="1498549" cy="502920"/>
          </a:xfrm>
          <a:prstGeom prst="rect">
            <a:avLst/>
          </a:prstGeom>
          <a:noFill/>
          <a:ln/>
        </p:spPr>
        <p:txBody>
          <a:bodyPr wrap="square" lIns="0" tIns="0" rIns="0" bIns="0" rtlCol="0" anchor="ctr"/>
          <a:lstStyle/>
          <a:p>
            <a:pPr indent="0" marL="0">
              <a:buNone/>
            </a:pPr>
            <a:r>
              <a:rPr lang="en-US" sz="2000" b="1" dirty="0">
                <a:solidFill>
                  <a:srgbClr val="0B3D59"/>
                </a:solidFill>
                <a:latin typeface="Cambria" pitchFamily="34" charset="0"/>
                <a:ea typeface="Cambria" pitchFamily="34" charset="-122"/>
                <a:cs typeface="Cambria" pitchFamily="34" charset="-120"/>
              </a:rPr>
              <a:t>95%</a:t>
            </a:r>
            <a:endParaRPr lang="en-US" sz="2000" dirty="0"/>
          </a:p>
        </p:txBody>
      </p:sp>
      <p:sp>
        <p:nvSpPr>
          <p:cNvPr id="12" name="Text 10"/>
          <p:cNvSpPr/>
          <p:nvPr/>
        </p:nvSpPr>
        <p:spPr>
          <a:xfrm>
            <a:off x="4002938" y="3136392"/>
            <a:ext cx="1498549" cy="365760"/>
          </a:xfrm>
          <a:prstGeom prst="rect">
            <a:avLst/>
          </a:prstGeom>
          <a:noFill/>
          <a:ln/>
        </p:spPr>
        <p:txBody>
          <a:bodyPr wrap="square" lIns="0" tIns="0" rIns="0" bIns="0" rtlCol="0" anchor="ctr"/>
          <a:lstStyle/>
          <a:p>
            <a:pPr indent="0" marL="0">
              <a:buNone/>
            </a:pPr>
            <a:r>
              <a:rPr lang="en-US" sz="1050" dirty="0">
                <a:solidFill>
                  <a:srgbClr val="6B7A85"/>
                </a:solidFill>
                <a:latin typeface="Calibri" pitchFamily="34" charset="0"/>
                <a:ea typeface="Calibri" pitchFamily="34" charset="-122"/>
                <a:cs typeface="Calibri" pitchFamily="34" charset="-120"/>
              </a:rPr>
              <a:t>rendimento</a:t>
            </a:r>
            <a:endParaRPr lang="en-US" sz="1050" dirty="0"/>
          </a:p>
        </p:txBody>
      </p:sp>
      <p:sp>
        <p:nvSpPr>
          <p:cNvPr id="13" name="Text 11"/>
          <p:cNvSpPr/>
          <p:nvPr/>
        </p:nvSpPr>
        <p:spPr>
          <a:xfrm>
            <a:off x="822960" y="3703320"/>
            <a:ext cx="4769968" cy="2057400"/>
          </a:xfrm>
          <a:prstGeom prst="rect">
            <a:avLst/>
          </a:prstGeom>
          <a:noFill/>
          <a:ln/>
        </p:spPr>
        <p:txBody>
          <a:bodyPr wrap="square" lIns="0" tIns="0" rIns="0" bIns="0" rtlCol="0" anchor="ctr"/>
          <a:lstStyle/>
          <a:p>
            <a:pPr indent="0" marL="0">
              <a:lnSpc>
                <a:spcPct val="130000"/>
              </a:lnSpc>
              <a:buNone/>
            </a:pPr>
            <a:r>
              <a:rPr lang="en-US" sz="1300" dirty="0">
                <a:solidFill>
                  <a:srgbClr val="20303D"/>
                </a:solidFill>
                <a:latin typeface="Calibri" pitchFamily="34" charset="0"/>
                <a:ea typeface="Calibri" pitchFamily="34" charset="-122"/>
                <a:cs typeface="Calibri" pitchFamily="34" charset="-120"/>
              </a:rPr>
              <a:t>Il livello di carica di ogni ora dipende da quello dell'ora prima. Caricare fa perdere un po' di energia; scaricare ne richiede un po' di più di quella che esce davvero: sono le normali perdite di ogni batteria reale.</a:t>
            </a:r>
            <a:endParaRPr lang="en-US" sz="1300" dirty="0"/>
          </a:p>
        </p:txBody>
      </p:sp>
      <p:sp>
        <p:nvSpPr>
          <p:cNvPr id="14" name="Shape 12"/>
          <p:cNvSpPr/>
          <p:nvPr/>
        </p:nvSpPr>
        <p:spPr>
          <a:xfrm>
            <a:off x="6324448" y="1874520"/>
            <a:ext cx="5318608" cy="4160520"/>
          </a:xfrm>
          <a:prstGeom prst="roundRect">
            <a:avLst>
              <a:gd name="adj" fmla="val 1758"/>
            </a:avLst>
          </a:prstGeom>
          <a:solidFill>
            <a:srgbClr val="F1F5F8"/>
          </a:solidFill>
          <a:ln w="12700">
            <a:solidFill>
              <a:srgbClr val="DCE6EC"/>
            </a:solidFill>
            <a:prstDash val="solid"/>
          </a:ln>
          <a:effectLst>
            <a:outerShdw sx="100000" sy="100000" kx="0" ky="0" algn="bl" rotWithShape="0" blurRad="76200" dist="25400" dir="5400000">
              <a:srgbClr val="9AA7AF">
                <a:alpha val="25000"/>
              </a:srgbClr>
            </a:outerShdw>
          </a:effectLst>
        </p:spPr>
      </p:sp>
      <p:sp>
        <p:nvSpPr>
          <p:cNvPr id="15" name="Shape 13"/>
          <p:cNvSpPr/>
          <p:nvPr/>
        </p:nvSpPr>
        <p:spPr>
          <a:xfrm>
            <a:off x="6324448" y="1874520"/>
            <a:ext cx="5318608" cy="128016"/>
          </a:xfrm>
          <a:prstGeom prst="roundRect">
            <a:avLst/>
          </a:prstGeom>
          <a:solidFill>
            <a:srgbClr val="C0433A"/>
          </a:solidFill>
          <a:ln/>
        </p:spPr>
      </p:sp>
      <p:sp>
        <p:nvSpPr>
          <p:cNvPr id="16" name="Text 14"/>
          <p:cNvSpPr/>
          <p:nvPr/>
        </p:nvSpPr>
        <p:spPr>
          <a:xfrm>
            <a:off x="6598768" y="2194560"/>
            <a:ext cx="4769968" cy="365760"/>
          </a:xfrm>
          <a:prstGeom prst="rect">
            <a:avLst/>
          </a:prstGeom>
          <a:noFill/>
          <a:ln/>
        </p:spPr>
        <p:txBody>
          <a:bodyPr wrap="square" lIns="0" tIns="0" rIns="0" bIns="0" rtlCol="0" anchor="ctr"/>
          <a:lstStyle/>
          <a:p>
            <a:pPr indent="0" marL="0">
              <a:buNone/>
            </a:pPr>
            <a:r>
              <a:rPr lang="en-US" sz="1500" b="1" spc="100" kern="0" dirty="0">
                <a:solidFill>
                  <a:srgbClr val="C0433A"/>
                </a:solidFill>
                <a:latin typeface="Calibri" pitchFamily="34" charset="0"/>
                <a:ea typeface="Calibri" pitchFamily="34" charset="-122"/>
                <a:cs typeface="Calibri" pitchFamily="34" charset="-120"/>
              </a:rPr>
              <a:t>SISTEMA A IDROGENO</a:t>
            </a:r>
            <a:endParaRPr lang="en-US" sz="1500" dirty="0"/>
          </a:p>
        </p:txBody>
      </p:sp>
      <p:sp>
        <p:nvSpPr>
          <p:cNvPr id="17" name="Text 15"/>
          <p:cNvSpPr/>
          <p:nvPr/>
        </p:nvSpPr>
        <p:spPr>
          <a:xfrm>
            <a:off x="6598768" y="2651760"/>
            <a:ext cx="1498549" cy="502920"/>
          </a:xfrm>
          <a:prstGeom prst="rect">
            <a:avLst/>
          </a:prstGeom>
          <a:noFill/>
          <a:ln/>
        </p:spPr>
        <p:txBody>
          <a:bodyPr wrap="square" lIns="0" tIns="0" rIns="0" bIns="0" rtlCol="0" anchor="ctr"/>
          <a:lstStyle/>
          <a:p>
            <a:pPr indent="0" marL="0">
              <a:buNone/>
            </a:pPr>
            <a:r>
              <a:rPr lang="en-US" sz="2000" b="1" dirty="0">
                <a:solidFill>
                  <a:srgbClr val="0B3D59"/>
                </a:solidFill>
                <a:latin typeface="Cambria" pitchFamily="34" charset="0"/>
                <a:ea typeface="Cambria" pitchFamily="34" charset="-122"/>
                <a:cs typeface="Cambria" pitchFamily="34" charset="-120"/>
              </a:rPr>
              <a:t>20 MWh</a:t>
            </a:r>
            <a:endParaRPr lang="en-US" sz="2000" dirty="0"/>
          </a:p>
        </p:txBody>
      </p:sp>
      <p:sp>
        <p:nvSpPr>
          <p:cNvPr id="18" name="Text 16"/>
          <p:cNvSpPr/>
          <p:nvPr/>
        </p:nvSpPr>
        <p:spPr>
          <a:xfrm>
            <a:off x="6598768" y="3136392"/>
            <a:ext cx="1498549" cy="365760"/>
          </a:xfrm>
          <a:prstGeom prst="rect">
            <a:avLst/>
          </a:prstGeom>
          <a:noFill/>
          <a:ln/>
        </p:spPr>
        <p:txBody>
          <a:bodyPr wrap="square" lIns="0" tIns="0" rIns="0" bIns="0" rtlCol="0" anchor="ctr"/>
          <a:lstStyle/>
          <a:p>
            <a:pPr indent="0" marL="0">
              <a:buNone/>
            </a:pPr>
            <a:r>
              <a:rPr lang="en-US" sz="1050" dirty="0">
                <a:solidFill>
                  <a:srgbClr val="6B7A85"/>
                </a:solidFill>
                <a:latin typeface="Calibri" pitchFamily="34" charset="0"/>
                <a:ea typeface="Calibri" pitchFamily="34" charset="-122"/>
                <a:cs typeface="Calibri" pitchFamily="34" charset="-120"/>
              </a:rPr>
              <a:t>capacità</a:t>
            </a:r>
            <a:endParaRPr lang="en-US" sz="1050" dirty="0"/>
          </a:p>
        </p:txBody>
      </p:sp>
      <p:sp>
        <p:nvSpPr>
          <p:cNvPr id="19" name="Text 17"/>
          <p:cNvSpPr/>
          <p:nvPr/>
        </p:nvSpPr>
        <p:spPr>
          <a:xfrm>
            <a:off x="8188757" y="2651760"/>
            <a:ext cx="1498549" cy="502920"/>
          </a:xfrm>
          <a:prstGeom prst="rect">
            <a:avLst/>
          </a:prstGeom>
          <a:noFill/>
          <a:ln/>
        </p:spPr>
        <p:txBody>
          <a:bodyPr wrap="square" lIns="0" tIns="0" rIns="0" bIns="0" rtlCol="0" anchor="ctr"/>
          <a:lstStyle/>
          <a:p>
            <a:pPr indent="0" marL="0">
              <a:buNone/>
            </a:pPr>
            <a:r>
              <a:rPr lang="en-US" sz="2000" b="1" dirty="0">
                <a:solidFill>
                  <a:srgbClr val="0B3D59"/>
                </a:solidFill>
                <a:latin typeface="Cambria" pitchFamily="34" charset="0"/>
                <a:ea typeface="Cambria" pitchFamily="34" charset="-122"/>
                <a:cs typeface="Cambria" pitchFamily="34" charset="-120"/>
              </a:rPr>
              <a:t>10 MW</a:t>
            </a:r>
            <a:endParaRPr lang="en-US" sz="2000" dirty="0"/>
          </a:p>
        </p:txBody>
      </p:sp>
      <p:sp>
        <p:nvSpPr>
          <p:cNvPr id="20" name="Text 18"/>
          <p:cNvSpPr/>
          <p:nvPr/>
        </p:nvSpPr>
        <p:spPr>
          <a:xfrm>
            <a:off x="8188757" y="3136392"/>
            <a:ext cx="1498549" cy="365760"/>
          </a:xfrm>
          <a:prstGeom prst="rect">
            <a:avLst/>
          </a:prstGeom>
          <a:noFill/>
          <a:ln/>
        </p:spPr>
        <p:txBody>
          <a:bodyPr wrap="square" lIns="0" tIns="0" rIns="0" bIns="0" rtlCol="0" anchor="ctr"/>
          <a:lstStyle/>
          <a:p>
            <a:pPr indent="0" marL="0">
              <a:buNone/>
            </a:pPr>
            <a:r>
              <a:rPr lang="en-US" sz="1050" dirty="0">
                <a:solidFill>
                  <a:srgbClr val="6B7A85"/>
                </a:solidFill>
                <a:latin typeface="Calibri" pitchFamily="34" charset="0"/>
                <a:ea typeface="Calibri" pitchFamily="34" charset="-122"/>
                <a:cs typeface="Calibri" pitchFamily="34" charset="-120"/>
              </a:rPr>
              <a:t>elettr. / fuel cell</a:t>
            </a:r>
            <a:endParaRPr lang="en-US" sz="1050" dirty="0"/>
          </a:p>
        </p:txBody>
      </p:sp>
      <p:sp>
        <p:nvSpPr>
          <p:cNvPr id="21" name="Text 19"/>
          <p:cNvSpPr/>
          <p:nvPr/>
        </p:nvSpPr>
        <p:spPr>
          <a:xfrm>
            <a:off x="9778746" y="2651760"/>
            <a:ext cx="1498549" cy="502920"/>
          </a:xfrm>
          <a:prstGeom prst="rect">
            <a:avLst/>
          </a:prstGeom>
          <a:noFill/>
          <a:ln/>
        </p:spPr>
        <p:txBody>
          <a:bodyPr wrap="square" lIns="0" tIns="0" rIns="0" bIns="0" rtlCol="0" anchor="ctr"/>
          <a:lstStyle/>
          <a:p>
            <a:pPr indent="0" marL="0">
              <a:buNone/>
            </a:pPr>
            <a:r>
              <a:rPr lang="en-US" sz="2000" b="1" dirty="0">
                <a:solidFill>
                  <a:srgbClr val="0B3D59"/>
                </a:solidFill>
                <a:latin typeface="Cambria" pitchFamily="34" charset="0"/>
                <a:ea typeface="Cambria" pitchFamily="34" charset="-122"/>
                <a:cs typeface="Cambria" pitchFamily="34" charset="-120"/>
              </a:rPr>
              <a:t>73% / 65%</a:t>
            </a:r>
            <a:endParaRPr lang="en-US" sz="2000" dirty="0"/>
          </a:p>
        </p:txBody>
      </p:sp>
      <p:sp>
        <p:nvSpPr>
          <p:cNvPr id="22" name="Text 20"/>
          <p:cNvSpPr/>
          <p:nvPr/>
        </p:nvSpPr>
        <p:spPr>
          <a:xfrm>
            <a:off x="9778746" y="3136392"/>
            <a:ext cx="1498549" cy="365760"/>
          </a:xfrm>
          <a:prstGeom prst="rect">
            <a:avLst/>
          </a:prstGeom>
          <a:noFill/>
          <a:ln/>
        </p:spPr>
        <p:txBody>
          <a:bodyPr wrap="square" lIns="0" tIns="0" rIns="0" bIns="0" rtlCol="0" anchor="ctr"/>
          <a:lstStyle/>
          <a:p>
            <a:pPr indent="0" marL="0">
              <a:buNone/>
            </a:pPr>
            <a:r>
              <a:rPr lang="en-US" sz="1050" dirty="0">
                <a:solidFill>
                  <a:srgbClr val="6B7A85"/>
                </a:solidFill>
                <a:latin typeface="Calibri" pitchFamily="34" charset="0"/>
                <a:ea typeface="Calibri" pitchFamily="34" charset="-122"/>
                <a:cs typeface="Calibri" pitchFamily="34" charset="-120"/>
              </a:rPr>
              <a:t>rendimento</a:t>
            </a:r>
            <a:endParaRPr lang="en-US" sz="1050" dirty="0"/>
          </a:p>
        </p:txBody>
      </p:sp>
      <p:sp>
        <p:nvSpPr>
          <p:cNvPr id="23" name="Text 21"/>
          <p:cNvSpPr/>
          <p:nvPr/>
        </p:nvSpPr>
        <p:spPr>
          <a:xfrm>
            <a:off x="6598768" y="3703320"/>
            <a:ext cx="4769968" cy="2057400"/>
          </a:xfrm>
          <a:prstGeom prst="rect">
            <a:avLst/>
          </a:prstGeom>
          <a:noFill/>
          <a:ln/>
        </p:spPr>
        <p:txBody>
          <a:bodyPr wrap="square" lIns="0" tIns="0" rIns="0" bIns="0" rtlCol="0" anchor="ctr"/>
          <a:lstStyle/>
          <a:p>
            <a:pPr indent="0" marL="0">
              <a:lnSpc>
                <a:spcPct val="130000"/>
              </a:lnSpc>
              <a:buNone/>
            </a:pPr>
            <a:r>
              <a:rPr lang="en-US" sz="1300" dirty="0">
                <a:solidFill>
                  <a:srgbClr val="20303D"/>
                </a:solidFill>
                <a:latin typeface="Calibri" pitchFamily="34" charset="0"/>
                <a:ea typeface="Calibri" pitchFamily="34" charset="-122"/>
                <a:cs typeface="Calibri" pitchFamily="34" charset="-120"/>
              </a:rPr>
              <a:t>Stessa idea della batteria: produrre idrogeno (elettrolizzatore) lo riempie, consumarlo (fuel cell) lo svuota. I due non possono funzionare nella stessa ora.</a:t>
            </a:r>
            <a:endParaRPr lang="en-US" sz="1300" dirty="0"/>
          </a:p>
        </p:txBody>
      </p:sp>
      <p:sp>
        <p:nvSpPr>
          <p:cNvPr id="25" name="Text 22"/>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A85"/>
                </a:solidFill>
                <a:latin typeface="Calibri" pitchFamily="34" charset="0"/>
                <a:ea typeface="Calibri" pitchFamily="34" charset="-122"/>
                <a:cs typeface="Calibri" pitchFamily="34" charset="-120"/>
              </a:rPr>
              <a:t>Project 16 — Controllo MPC di un sistema energetico industriale</a:t>
            </a:r>
            <a:endParaRPr lang="en-US" sz="900" dirty="0"/>
          </a:p>
        </p:txBody>
      </p:sp>
      <p:sp>
        <p:nvSpPr>
          <p:cNvPr id="26" name="Text 23"/>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6B7A85"/>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3D59"/>
        </a:solidFill>
      </p:bgPr>
    </p:bg>
    <p:spTree>
      <p:nvGrpSpPr>
        <p:cNvPr id="1" name=""/>
        <p:cNvGrpSpPr/>
        <p:nvPr/>
      </p:nvGrpSpPr>
      <p:grpSpPr>
        <a:xfrm>
          <a:off x="0" y="0"/>
          <a:ext cx="0" cy="0"/>
          <a:chOff x="0" y="0"/>
          <a:chExt cx="0" cy="0"/>
        </a:xfrm>
      </p:grpSpPr>
      <p:sp>
        <p:nvSpPr>
          <p:cNvPr id="2" name="Text 0"/>
          <p:cNvSpPr/>
          <p:nvPr/>
        </p:nvSpPr>
        <p:spPr>
          <a:xfrm>
            <a:off x="548640" y="411480"/>
            <a:ext cx="11094415" cy="320040"/>
          </a:xfrm>
          <a:prstGeom prst="rect">
            <a:avLst/>
          </a:prstGeom>
          <a:noFill/>
          <a:ln/>
        </p:spPr>
        <p:txBody>
          <a:bodyPr wrap="square" lIns="0" tIns="0" rIns="0" bIns="0" rtlCol="0" anchor="ctr"/>
          <a:lstStyle/>
          <a:p>
            <a:pPr indent="0" marL="0">
              <a:buNone/>
            </a:pPr>
            <a:r>
              <a:rPr lang="en-US" sz="1300" b="1" spc="200" kern="0" dirty="0">
                <a:solidFill>
                  <a:srgbClr val="FFB100"/>
                </a:solidFill>
                <a:latin typeface="Calibri" pitchFamily="34" charset="0"/>
                <a:ea typeface="Calibri" pitchFamily="34" charset="-122"/>
                <a:cs typeface="Calibri" pitchFamily="34" charset="-120"/>
              </a:rPr>
              <a:t>04 · IL MODELLO MATEMATICO</a:t>
            </a:r>
            <a:endParaRPr lang="en-US" sz="1300" dirty="0"/>
          </a:p>
        </p:txBody>
      </p:sp>
      <p:sp>
        <p:nvSpPr>
          <p:cNvPr id="3" name="Text 1"/>
          <p:cNvSpPr/>
          <p:nvPr/>
        </p:nvSpPr>
        <p:spPr>
          <a:xfrm>
            <a:off x="548640" y="713232"/>
            <a:ext cx="11094415" cy="7772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La funzione obiettivo: cosa vogliamo minimizzare</a:t>
            </a:r>
            <a:endParaRPr lang="en-US" sz="2800" dirty="0"/>
          </a:p>
        </p:txBody>
      </p:sp>
      <p:sp>
        <p:nvSpPr>
          <p:cNvPr id="4" name="Shape 2"/>
          <p:cNvSpPr/>
          <p:nvPr/>
        </p:nvSpPr>
        <p:spPr>
          <a:xfrm>
            <a:off x="548640" y="2011680"/>
            <a:ext cx="11094415" cy="1554480"/>
          </a:xfrm>
          <a:prstGeom prst="roundRect">
            <a:avLst>
              <a:gd name="adj" fmla="val 4706"/>
            </a:avLst>
          </a:prstGeom>
          <a:solidFill>
            <a:srgbClr val="082B40"/>
          </a:solidFill>
          <a:ln w="12700">
            <a:solidFill>
              <a:srgbClr val="082B40"/>
            </a:solidFill>
            <a:prstDash val="solid"/>
          </a:ln>
        </p:spPr>
      </p:sp>
      <p:sp>
        <p:nvSpPr>
          <p:cNvPr id="5" name="Text 3"/>
          <p:cNvSpPr/>
          <p:nvPr/>
        </p:nvSpPr>
        <p:spPr>
          <a:xfrm>
            <a:off x="914400" y="2331720"/>
            <a:ext cx="10362895" cy="914400"/>
          </a:xfrm>
          <a:prstGeom prst="rect">
            <a:avLst/>
          </a:prstGeom>
          <a:noFill/>
          <a:ln/>
        </p:spPr>
        <p:txBody>
          <a:bodyPr wrap="square" lIns="0" tIns="0" rIns="0" bIns="0" rtlCol="0" anchor="ctr"/>
          <a:lstStyle/>
          <a:p>
            <a:pPr algn="ctr" indent="0" marL="0">
              <a:buNone/>
            </a:pPr>
            <a:r>
              <a:rPr lang="en-US" sz="2100" dirty="0">
                <a:solidFill>
                  <a:srgbClr val="B9C9D4"/>
                </a:solidFill>
                <a:latin typeface="Cambria" pitchFamily="34" charset="0"/>
                <a:ea typeface="Cambria" pitchFamily="34" charset="-122"/>
                <a:cs typeface="Cambria" pitchFamily="34" charset="-120"/>
              </a:rPr>
              <a:t>Costo totale  =  </a:t>
            </a:r>
            <a:pPr algn="ctr" indent="0" marL="0">
              <a:buNone/>
            </a:pPr>
            <a:r>
              <a:rPr lang="en-US" sz="2100" b="1" dirty="0">
                <a:solidFill>
                  <a:srgbClr val="FFB100"/>
                </a:solidFill>
                <a:latin typeface="Cambria" pitchFamily="34" charset="0"/>
                <a:ea typeface="Cambria" pitchFamily="34" charset="-122"/>
                <a:cs typeface="Cambria" pitchFamily="34" charset="-120"/>
              </a:rPr>
              <a:t>spesa per comprare</a:t>
            </a:r>
            <a:pPr algn="ctr" indent="0" marL="0">
              <a:buNone/>
            </a:pPr>
            <a:r>
              <a:rPr lang="en-US" sz="2100" dirty="0">
                <a:solidFill>
                  <a:srgbClr val="B9C9D4"/>
                </a:solidFill>
                <a:latin typeface="Cambria" pitchFamily="34" charset="0"/>
                <a:ea typeface="Cambria" pitchFamily="34" charset="-122"/>
                <a:cs typeface="Cambria" pitchFamily="34" charset="-120"/>
              </a:rPr>
              <a:t>  −  </a:t>
            </a:r>
            <a:pPr algn="ctr" indent="0" marL="0">
              <a:buNone/>
            </a:pPr>
            <a:r>
              <a:rPr lang="en-US" sz="2100" b="1" dirty="0">
                <a:solidFill>
                  <a:srgbClr val="6FCF97"/>
                </a:solidFill>
                <a:latin typeface="Cambria" pitchFamily="34" charset="0"/>
                <a:ea typeface="Cambria" pitchFamily="34" charset="-122"/>
                <a:cs typeface="Cambria" pitchFamily="34" charset="-120"/>
              </a:rPr>
              <a:t>ricavo dal vendere</a:t>
            </a:r>
            <a:pPr algn="ctr" indent="0" marL="0">
              <a:buNone/>
            </a:pPr>
            <a:r>
              <a:rPr lang="en-US" sz="2100" dirty="0">
                <a:solidFill>
                  <a:srgbClr val="B9C9D4"/>
                </a:solidFill>
                <a:latin typeface="Cambria" pitchFamily="34" charset="0"/>
                <a:ea typeface="Cambria" pitchFamily="34" charset="-122"/>
                <a:cs typeface="Cambria" pitchFamily="34" charset="-120"/>
              </a:rPr>
              <a:t>  +  </a:t>
            </a:r>
            <a:pPr algn="ctr" indent="0" marL="0">
              <a:buNone/>
            </a:pPr>
            <a:r>
              <a:rPr lang="en-US" sz="2100" b="1" dirty="0">
                <a:solidFill>
                  <a:srgbClr val="F08A7C"/>
                </a:solidFill>
                <a:latin typeface="Cambria" pitchFamily="34" charset="0"/>
                <a:ea typeface="Cambria" pitchFamily="34" charset="-122"/>
                <a:cs typeface="Cambria" pitchFamily="34" charset="-120"/>
              </a:rPr>
              <a:t>penalità per lo spreco</a:t>
            </a:r>
            <a:endParaRPr lang="en-US" sz="2100" dirty="0"/>
          </a:p>
        </p:txBody>
      </p:sp>
      <p:sp>
        <p:nvSpPr>
          <p:cNvPr id="6" name="Text 4"/>
          <p:cNvSpPr/>
          <p:nvPr/>
        </p:nvSpPr>
        <p:spPr>
          <a:xfrm>
            <a:off x="548640" y="3931920"/>
            <a:ext cx="11094415" cy="2286000"/>
          </a:xfrm>
          <a:prstGeom prst="rect">
            <a:avLst/>
          </a:prstGeom>
          <a:noFill/>
          <a:ln/>
        </p:spPr>
        <p:txBody>
          <a:bodyPr wrap="square" rtlCol="0" anchor="ctr"/>
          <a:lstStyle/>
          <a:p>
            <a:pPr marL="342900" indent="-342900">
              <a:lnSpc>
                <a:spcPct val="125000"/>
              </a:lnSpc>
              <a:spcAft>
                <a:spcPts val="1200"/>
              </a:spcAft>
              <a:buSzPct val="100000"/>
              <a:buChar char="•"/>
            </a:pPr>
            <a:r>
              <a:rPr lang="en-US" sz="1500" dirty="0">
                <a:solidFill>
                  <a:srgbClr val="E2EAEF"/>
                </a:solidFill>
                <a:latin typeface="Calibri" pitchFamily="34" charset="0"/>
                <a:ea typeface="Calibri" pitchFamily="34" charset="-122"/>
                <a:cs typeface="Calibri" pitchFamily="34" charset="-120"/>
              </a:rPr>
              <a:t>La penalità per lo spreco (curtailment) non è un costo di mercato reale: è un numero scelto per orientare il modello.</a:t>
            </a:r>
            <a:endParaRPr lang="en-US" sz="1500" dirty="0"/>
          </a:p>
          <a:p>
            <a:pPr marL="342900" indent="-342900">
              <a:lnSpc>
                <a:spcPct val="125000"/>
              </a:lnSpc>
              <a:spcAft>
                <a:spcPts val="1200"/>
              </a:spcAft>
              <a:buSzPct val="100000"/>
              <a:buChar char="•"/>
            </a:pPr>
            <a:r>
              <a:rPr lang="en-US" sz="1500" dirty="0">
                <a:solidFill>
                  <a:srgbClr val="E2EAEF"/>
                </a:solidFill>
                <a:latin typeface="Calibri" pitchFamily="34" charset="0"/>
                <a:ea typeface="Calibri" pitchFamily="34" charset="-122"/>
                <a:cs typeface="Calibri" pitchFamily="34" charset="-120"/>
              </a:rPr>
              <a:t>Nello script principale vale 1000 EUR/MWh, molto più dei prezzi normali (circa 500 EUR/MWh): il modello preferisce quasi sempre caricare la batteria, fare idrogeno o vendere in rete piuttosto che sprecare energia.</a:t>
            </a:r>
            <a:endParaRPr lang="en-US" sz="1500" dirty="0"/>
          </a:p>
          <a:p>
            <a:pPr marL="342900" indent="-342900">
              <a:lnSpc>
                <a:spcPct val="125000"/>
              </a:lnSpc>
              <a:spcAft>
                <a:spcPts val="1200"/>
              </a:spcAft>
              <a:buSzPct val="100000"/>
              <a:buChar char="•"/>
            </a:pPr>
            <a:r>
              <a:rPr lang="en-US" sz="1500" dirty="0">
                <a:solidFill>
                  <a:srgbClr val="E2EAEF"/>
                </a:solidFill>
                <a:latin typeface="Calibri" pitchFamily="34" charset="0"/>
                <a:ea typeface="Calibri" pitchFamily="34" charset="-122"/>
                <a:cs typeface="Calibri" pitchFamily="34" charset="-120"/>
              </a:rPr>
              <a:t>In una variante di prova (es.py) questo valore è stato abbassato a 0.01 EUR/MWh, quasi zero, per vedere cosa succede se il freno economico allo spreco viene tolto.</a:t>
            </a:r>
            <a:endParaRPr lang="en-US" sz="1500" dirty="0"/>
          </a:p>
        </p:txBody>
      </p:sp>
      <p:sp>
        <p:nvSpPr>
          <p:cNvPr id="8" name="Text 5"/>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A85"/>
                </a:solidFill>
                <a:latin typeface="Calibri" pitchFamily="34" charset="0"/>
                <a:ea typeface="Calibri" pitchFamily="34" charset="-122"/>
                <a:cs typeface="Calibri" pitchFamily="34" charset="-120"/>
              </a:rPr>
              <a:t>Project 16 — Controllo MPC di un sistema energetico industriale</a:t>
            </a:r>
            <a:endParaRPr lang="en-US" sz="900" dirty="0"/>
          </a:p>
        </p:txBody>
      </p:sp>
      <p:sp>
        <p:nvSpPr>
          <p:cNvPr id="9" name="Text 6"/>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6B7A85"/>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4415"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04 · IL MODELLO MATEMATICO</a:t>
            </a:r>
            <a:endParaRPr lang="en-US" sz="1300" dirty="0"/>
          </a:p>
        </p:txBody>
      </p:sp>
      <p:sp>
        <p:nvSpPr>
          <p:cNvPr id="3" name="Text 1"/>
          <p:cNvSpPr/>
          <p:nvPr/>
        </p:nvSpPr>
        <p:spPr>
          <a:xfrm>
            <a:off x="548640" y="713232"/>
            <a:ext cx="11094415" cy="777240"/>
          </a:xfrm>
          <a:prstGeom prst="rect">
            <a:avLst/>
          </a:prstGeom>
          <a:noFill/>
          <a:ln/>
        </p:spPr>
        <p:txBody>
          <a:bodyPr wrap="square" lIns="0" tIns="0" rIns="0" bIns="0" rtlCol="0" anchor="ctr"/>
          <a:lstStyle/>
          <a:p>
            <a:pPr indent="0" marL="0">
              <a:buNone/>
            </a:pPr>
            <a:r>
              <a:rPr lang="en-US" sz="3000" b="1" dirty="0">
                <a:solidFill>
                  <a:srgbClr val="0B3D59"/>
                </a:solidFill>
                <a:latin typeface="Cambria" pitchFamily="34" charset="0"/>
                <a:ea typeface="Cambria" pitchFamily="34" charset="-122"/>
                <a:cs typeface="Cambria" pitchFamily="34" charset="-120"/>
              </a:rPr>
              <a:t>Il ciclo di simulazione, ora per ora</a:t>
            </a:r>
            <a:endParaRPr lang="en-US" sz="3000" dirty="0"/>
          </a:p>
        </p:txBody>
      </p:sp>
      <p:sp>
        <p:nvSpPr>
          <p:cNvPr id="4" name="Shape 2"/>
          <p:cNvSpPr/>
          <p:nvPr/>
        </p:nvSpPr>
        <p:spPr>
          <a:xfrm>
            <a:off x="472288" y="2377440"/>
            <a:ext cx="1920240" cy="1371600"/>
          </a:xfrm>
          <a:prstGeom prst="roundRect">
            <a:avLst>
              <a:gd name="adj" fmla="val 5333"/>
            </a:avLst>
          </a:prstGeom>
          <a:solidFill>
            <a:srgbClr val="1C7293"/>
          </a:solidFill>
          <a:ln w="12700">
            <a:solidFill>
              <a:srgbClr val="1C7293"/>
            </a:solidFill>
            <a:prstDash val="solid"/>
          </a:ln>
        </p:spPr>
      </p:sp>
      <p:sp>
        <p:nvSpPr>
          <p:cNvPr id="5" name="Text 3"/>
          <p:cNvSpPr/>
          <p:nvPr/>
        </p:nvSpPr>
        <p:spPr>
          <a:xfrm>
            <a:off x="582016" y="2450592"/>
            <a:ext cx="457200" cy="365760"/>
          </a:xfrm>
          <a:prstGeom prst="rect">
            <a:avLst/>
          </a:prstGeom>
          <a:noFill/>
          <a:ln/>
        </p:spPr>
        <p:txBody>
          <a:bodyPr wrap="square" lIns="0" tIns="0" rIns="0" bIns="0" rtlCol="0" anchor="ctr"/>
          <a:lstStyle/>
          <a:p>
            <a:pPr indent="0" marL="0">
              <a:buNone/>
            </a:pPr>
            <a:r>
              <a:rPr lang="en-US" sz="1600" b="1" dirty="0">
                <a:solidFill>
                  <a:srgbClr val="FFB100"/>
                </a:solidFill>
                <a:latin typeface="Cambria" pitchFamily="34" charset="0"/>
                <a:ea typeface="Cambria" pitchFamily="34" charset="-122"/>
                <a:cs typeface="Cambria" pitchFamily="34" charset="-120"/>
              </a:rPr>
              <a:t>1</a:t>
            </a:r>
            <a:endParaRPr lang="en-US" sz="1600" dirty="0"/>
          </a:p>
        </p:txBody>
      </p:sp>
      <p:sp>
        <p:nvSpPr>
          <p:cNvPr id="6" name="Text 4"/>
          <p:cNvSpPr/>
          <p:nvPr/>
        </p:nvSpPr>
        <p:spPr>
          <a:xfrm>
            <a:off x="609448" y="2788920"/>
            <a:ext cx="1645920" cy="868680"/>
          </a:xfrm>
          <a:prstGeom prst="rect">
            <a:avLst/>
          </a:prstGeom>
          <a:noFill/>
          <a:ln/>
        </p:spPr>
        <p:txBody>
          <a:bodyPr wrap="square" lIns="0" tIns="0" rIns="0" bIns="0" rtlCol="0" anchor="ctr"/>
          <a:lstStyle/>
          <a:p>
            <a:pPr algn="ctr" indent="0" marL="0">
              <a:lnSpc>
                <a:spcPct val="115000"/>
              </a:lnSpc>
              <a:buNone/>
            </a:pPr>
            <a:r>
              <a:rPr lang="en-US" sz="1150" dirty="0">
                <a:solidFill>
                  <a:srgbClr val="FFFFFF"/>
                </a:solidFill>
                <a:latin typeface="Calibri" pitchFamily="34" charset="0"/>
                <a:ea typeface="Calibri" pitchFamily="34" charset="-122"/>
                <a:cs typeface="Calibri" pitchFamily="34" charset="-120"/>
              </a:rPr>
              <a:t>Prepara i dati della finestra</a:t>
            </a:r>
            <a:endParaRPr lang="en-US" sz="1150" dirty="0"/>
          </a:p>
          <a:p>
            <a:pPr algn="ctr" indent="0" marL="0">
              <a:lnSpc>
                <a:spcPct val="115000"/>
              </a:lnSpc>
              <a:buNone/>
            </a:pPr>
            <a:r>
              <a:rPr lang="en-US" sz="1150" dirty="0">
                <a:solidFill>
                  <a:srgbClr val="FFFFFF"/>
                </a:solidFill>
                <a:latin typeface="Calibri" pitchFamily="34" charset="0"/>
                <a:ea typeface="Calibri" pitchFamily="34" charset="-122"/>
                <a:cs typeface="Calibri" pitchFamily="34" charset="-120"/>
              </a:rPr>
              <a:t>(previsione + valore vero dell'ora corrente)</a:t>
            </a:r>
            <a:endParaRPr lang="en-US" sz="1150" dirty="0"/>
          </a:p>
        </p:txBody>
      </p:sp>
      <p:sp>
        <p:nvSpPr>
          <p:cNvPr id="7" name="Text 5"/>
          <p:cNvSpPr/>
          <p:nvPr/>
        </p:nvSpPr>
        <p:spPr>
          <a:xfrm>
            <a:off x="2392528" y="2834640"/>
            <a:ext cx="411480" cy="457200"/>
          </a:xfrm>
          <a:prstGeom prst="rect">
            <a:avLst/>
          </a:prstGeom>
          <a:noFill/>
          <a:ln/>
        </p:spPr>
        <p:txBody>
          <a:bodyPr wrap="square" lIns="0" tIns="0" rIns="0" bIns="0" rtlCol="0" anchor="ctr"/>
          <a:lstStyle/>
          <a:p>
            <a:pPr algn="ctr" indent="0" marL="0">
              <a:buNone/>
            </a:pPr>
            <a:r>
              <a:rPr lang="en-US" sz="2000" dirty="0">
                <a:solidFill>
                  <a:srgbClr val="6B7A85"/>
                </a:solidFill>
                <a:latin typeface="Calibri" pitchFamily="34" charset="0"/>
                <a:ea typeface="Calibri" pitchFamily="34" charset="-122"/>
                <a:cs typeface="Calibri" pitchFamily="34" charset="-120"/>
              </a:rPr>
              <a:t>→</a:t>
            </a:r>
            <a:endParaRPr lang="en-US" sz="2000" dirty="0"/>
          </a:p>
        </p:txBody>
      </p:sp>
      <p:sp>
        <p:nvSpPr>
          <p:cNvPr id="8" name="Shape 6"/>
          <p:cNvSpPr/>
          <p:nvPr/>
        </p:nvSpPr>
        <p:spPr>
          <a:xfrm>
            <a:off x="2804008" y="2377440"/>
            <a:ext cx="1920240" cy="1371600"/>
          </a:xfrm>
          <a:prstGeom prst="roundRect">
            <a:avLst>
              <a:gd name="adj" fmla="val 5333"/>
            </a:avLst>
          </a:prstGeom>
          <a:solidFill>
            <a:srgbClr val="0B3D59"/>
          </a:solidFill>
          <a:ln w="12700">
            <a:solidFill>
              <a:srgbClr val="0B3D59"/>
            </a:solidFill>
            <a:prstDash val="solid"/>
          </a:ln>
        </p:spPr>
      </p:sp>
      <p:sp>
        <p:nvSpPr>
          <p:cNvPr id="9" name="Text 7"/>
          <p:cNvSpPr/>
          <p:nvPr/>
        </p:nvSpPr>
        <p:spPr>
          <a:xfrm>
            <a:off x="2913736" y="2450592"/>
            <a:ext cx="457200" cy="365760"/>
          </a:xfrm>
          <a:prstGeom prst="rect">
            <a:avLst/>
          </a:prstGeom>
          <a:noFill/>
          <a:ln/>
        </p:spPr>
        <p:txBody>
          <a:bodyPr wrap="square" lIns="0" tIns="0" rIns="0" bIns="0" rtlCol="0" anchor="ctr"/>
          <a:lstStyle/>
          <a:p>
            <a:pPr indent="0" marL="0">
              <a:buNone/>
            </a:pPr>
            <a:r>
              <a:rPr lang="en-US" sz="1600" b="1" dirty="0">
                <a:solidFill>
                  <a:srgbClr val="FFB100"/>
                </a:solidFill>
                <a:latin typeface="Cambria" pitchFamily="34" charset="0"/>
                <a:ea typeface="Cambria" pitchFamily="34" charset="-122"/>
                <a:cs typeface="Cambria" pitchFamily="34" charset="-120"/>
              </a:rPr>
              <a:t>2</a:t>
            </a:r>
            <a:endParaRPr lang="en-US" sz="1600" dirty="0"/>
          </a:p>
        </p:txBody>
      </p:sp>
      <p:sp>
        <p:nvSpPr>
          <p:cNvPr id="10" name="Text 8"/>
          <p:cNvSpPr/>
          <p:nvPr/>
        </p:nvSpPr>
        <p:spPr>
          <a:xfrm>
            <a:off x="2941168" y="2788920"/>
            <a:ext cx="1645920" cy="868680"/>
          </a:xfrm>
          <a:prstGeom prst="rect">
            <a:avLst/>
          </a:prstGeom>
          <a:noFill/>
          <a:ln/>
        </p:spPr>
        <p:txBody>
          <a:bodyPr wrap="square" lIns="0" tIns="0" rIns="0" bIns="0" rtlCol="0" anchor="ctr"/>
          <a:lstStyle/>
          <a:p>
            <a:pPr algn="ctr" indent="0" marL="0">
              <a:lnSpc>
                <a:spcPct val="115000"/>
              </a:lnSpc>
              <a:buNone/>
            </a:pPr>
            <a:r>
              <a:rPr lang="en-US" sz="1150" dirty="0">
                <a:solidFill>
                  <a:srgbClr val="FFFFFF"/>
                </a:solidFill>
                <a:latin typeface="Calibri" pitchFamily="34" charset="0"/>
                <a:ea typeface="Calibri" pitchFamily="34" charset="-122"/>
                <a:cs typeface="Calibri" pitchFamily="34" charset="-120"/>
              </a:rPr>
              <a:t>Risolve il modello MILP</a:t>
            </a:r>
            <a:endParaRPr lang="en-US" sz="1150" dirty="0"/>
          </a:p>
          <a:p>
            <a:pPr algn="ctr" indent="0" marL="0">
              <a:lnSpc>
                <a:spcPct val="115000"/>
              </a:lnSpc>
              <a:buNone/>
            </a:pPr>
            <a:r>
              <a:rPr lang="en-US" sz="1150" dirty="0">
                <a:solidFill>
                  <a:srgbClr val="FFFFFF"/>
                </a:solidFill>
                <a:latin typeface="Calibri" pitchFamily="34" charset="0"/>
                <a:ea typeface="Calibri" pitchFamily="34" charset="-122"/>
                <a:cs typeface="Calibri" pitchFamily="34" charset="-120"/>
              </a:rPr>
              <a:t>sulle prossime 24 ore</a:t>
            </a:r>
            <a:endParaRPr lang="en-US" sz="1150" dirty="0"/>
          </a:p>
        </p:txBody>
      </p:sp>
      <p:sp>
        <p:nvSpPr>
          <p:cNvPr id="11" name="Text 9"/>
          <p:cNvSpPr/>
          <p:nvPr/>
        </p:nvSpPr>
        <p:spPr>
          <a:xfrm>
            <a:off x="4724248" y="2834640"/>
            <a:ext cx="411480" cy="457200"/>
          </a:xfrm>
          <a:prstGeom prst="rect">
            <a:avLst/>
          </a:prstGeom>
          <a:noFill/>
          <a:ln/>
        </p:spPr>
        <p:txBody>
          <a:bodyPr wrap="square" lIns="0" tIns="0" rIns="0" bIns="0" rtlCol="0" anchor="ctr"/>
          <a:lstStyle/>
          <a:p>
            <a:pPr algn="ctr" indent="0" marL="0">
              <a:buNone/>
            </a:pPr>
            <a:r>
              <a:rPr lang="en-US" sz="2000" dirty="0">
                <a:solidFill>
                  <a:srgbClr val="6B7A85"/>
                </a:solidFill>
                <a:latin typeface="Calibri" pitchFamily="34" charset="0"/>
                <a:ea typeface="Calibri" pitchFamily="34" charset="-122"/>
                <a:cs typeface="Calibri" pitchFamily="34" charset="-120"/>
              </a:rPr>
              <a:t>→</a:t>
            </a:r>
            <a:endParaRPr lang="en-US" sz="2000" dirty="0"/>
          </a:p>
        </p:txBody>
      </p:sp>
      <p:sp>
        <p:nvSpPr>
          <p:cNvPr id="12" name="Shape 10"/>
          <p:cNvSpPr/>
          <p:nvPr/>
        </p:nvSpPr>
        <p:spPr>
          <a:xfrm>
            <a:off x="5135728" y="2377440"/>
            <a:ext cx="1920240" cy="1371600"/>
          </a:xfrm>
          <a:prstGeom prst="roundRect">
            <a:avLst>
              <a:gd name="adj" fmla="val 5333"/>
            </a:avLst>
          </a:prstGeom>
          <a:solidFill>
            <a:srgbClr val="1C7293"/>
          </a:solidFill>
          <a:ln w="12700">
            <a:solidFill>
              <a:srgbClr val="1C7293"/>
            </a:solidFill>
            <a:prstDash val="solid"/>
          </a:ln>
        </p:spPr>
      </p:sp>
      <p:sp>
        <p:nvSpPr>
          <p:cNvPr id="13" name="Text 11"/>
          <p:cNvSpPr/>
          <p:nvPr/>
        </p:nvSpPr>
        <p:spPr>
          <a:xfrm>
            <a:off x="5245456" y="2450592"/>
            <a:ext cx="457200" cy="365760"/>
          </a:xfrm>
          <a:prstGeom prst="rect">
            <a:avLst/>
          </a:prstGeom>
          <a:noFill/>
          <a:ln/>
        </p:spPr>
        <p:txBody>
          <a:bodyPr wrap="square" lIns="0" tIns="0" rIns="0" bIns="0" rtlCol="0" anchor="ctr"/>
          <a:lstStyle/>
          <a:p>
            <a:pPr indent="0" marL="0">
              <a:buNone/>
            </a:pPr>
            <a:r>
              <a:rPr lang="en-US" sz="1600" b="1" dirty="0">
                <a:solidFill>
                  <a:srgbClr val="FFB100"/>
                </a:solidFill>
                <a:latin typeface="Cambria" pitchFamily="34" charset="0"/>
                <a:ea typeface="Cambria" pitchFamily="34" charset="-122"/>
                <a:cs typeface="Cambria" pitchFamily="34" charset="-120"/>
              </a:rPr>
              <a:t>3</a:t>
            </a:r>
            <a:endParaRPr lang="en-US" sz="1600" dirty="0"/>
          </a:p>
        </p:txBody>
      </p:sp>
      <p:sp>
        <p:nvSpPr>
          <p:cNvPr id="14" name="Text 12"/>
          <p:cNvSpPr/>
          <p:nvPr/>
        </p:nvSpPr>
        <p:spPr>
          <a:xfrm>
            <a:off x="5272888" y="2788920"/>
            <a:ext cx="1645920" cy="868680"/>
          </a:xfrm>
          <a:prstGeom prst="rect">
            <a:avLst/>
          </a:prstGeom>
          <a:noFill/>
          <a:ln/>
        </p:spPr>
        <p:txBody>
          <a:bodyPr wrap="square" lIns="0" tIns="0" rIns="0" bIns="0" rtlCol="0" anchor="ctr"/>
          <a:lstStyle/>
          <a:p>
            <a:pPr algn="ctr" indent="0" marL="0">
              <a:lnSpc>
                <a:spcPct val="115000"/>
              </a:lnSpc>
              <a:buNone/>
            </a:pPr>
            <a:r>
              <a:rPr lang="en-US" sz="1150" dirty="0">
                <a:solidFill>
                  <a:srgbClr val="FFFFFF"/>
                </a:solidFill>
                <a:latin typeface="Calibri" pitchFamily="34" charset="0"/>
                <a:ea typeface="Calibri" pitchFamily="34" charset="-122"/>
                <a:cs typeface="Calibri" pitchFamily="34" charset="-120"/>
              </a:rPr>
              <a:t>Applica solo</a:t>
            </a:r>
            <a:endParaRPr lang="en-US" sz="1150" dirty="0"/>
          </a:p>
          <a:p>
            <a:pPr algn="ctr" indent="0" marL="0">
              <a:lnSpc>
                <a:spcPct val="115000"/>
              </a:lnSpc>
              <a:buNone/>
            </a:pPr>
            <a:r>
              <a:rPr lang="en-US" sz="1150" dirty="0">
                <a:solidFill>
                  <a:srgbClr val="FFFFFF"/>
                </a:solidFill>
                <a:latin typeface="Calibri" pitchFamily="34" charset="0"/>
                <a:ea typeface="Calibri" pitchFamily="34" charset="-122"/>
                <a:cs typeface="Calibri" pitchFamily="34" charset="-120"/>
              </a:rPr>
              <a:t>la 1ª decisione</a:t>
            </a:r>
            <a:endParaRPr lang="en-US" sz="1150" dirty="0"/>
          </a:p>
        </p:txBody>
      </p:sp>
      <p:sp>
        <p:nvSpPr>
          <p:cNvPr id="15" name="Text 13"/>
          <p:cNvSpPr/>
          <p:nvPr/>
        </p:nvSpPr>
        <p:spPr>
          <a:xfrm>
            <a:off x="7055968" y="2834640"/>
            <a:ext cx="411480" cy="457200"/>
          </a:xfrm>
          <a:prstGeom prst="rect">
            <a:avLst/>
          </a:prstGeom>
          <a:noFill/>
          <a:ln/>
        </p:spPr>
        <p:txBody>
          <a:bodyPr wrap="square" lIns="0" tIns="0" rIns="0" bIns="0" rtlCol="0" anchor="ctr"/>
          <a:lstStyle/>
          <a:p>
            <a:pPr algn="ctr" indent="0" marL="0">
              <a:buNone/>
            </a:pPr>
            <a:r>
              <a:rPr lang="en-US" sz="2000" dirty="0">
                <a:solidFill>
                  <a:srgbClr val="6B7A85"/>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7467448" y="2377440"/>
            <a:ext cx="1920240" cy="1371600"/>
          </a:xfrm>
          <a:prstGeom prst="roundRect">
            <a:avLst>
              <a:gd name="adj" fmla="val 5333"/>
            </a:avLst>
          </a:prstGeom>
          <a:solidFill>
            <a:srgbClr val="0B3D59"/>
          </a:solidFill>
          <a:ln w="12700">
            <a:solidFill>
              <a:srgbClr val="0B3D59"/>
            </a:solidFill>
            <a:prstDash val="solid"/>
          </a:ln>
        </p:spPr>
      </p:sp>
      <p:sp>
        <p:nvSpPr>
          <p:cNvPr id="17" name="Text 15"/>
          <p:cNvSpPr/>
          <p:nvPr/>
        </p:nvSpPr>
        <p:spPr>
          <a:xfrm>
            <a:off x="7577176" y="2450592"/>
            <a:ext cx="457200" cy="365760"/>
          </a:xfrm>
          <a:prstGeom prst="rect">
            <a:avLst/>
          </a:prstGeom>
          <a:noFill/>
          <a:ln/>
        </p:spPr>
        <p:txBody>
          <a:bodyPr wrap="square" lIns="0" tIns="0" rIns="0" bIns="0" rtlCol="0" anchor="ctr"/>
          <a:lstStyle/>
          <a:p>
            <a:pPr indent="0" marL="0">
              <a:buNone/>
            </a:pPr>
            <a:r>
              <a:rPr lang="en-US" sz="1600" b="1" dirty="0">
                <a:solidFill>
                  <a:srgbClr val="FFB100"/>
                </a:solidFill>
                <a:latin typeface="Cambria" pitchFamily="34" charset="0"/>
                <a:ea typeface="Cambria" pitchFamily="34" charset="-122"/>
                <a:cs typeface="Cambria" pitchFamily="34" charset="-120"/>
              </a:rPr>
              <a:t>4</a:t>
            </a:r>
            <a:endParaRPr lang="en-US" sz="1600" dirty="0"/>
          </a:p>
        </p:txBody>
      </p:sp>
      <p:sp>
        <p:nvSpPr>
          <p:cNvPr id="18" name="Text 16"/>
          <p:cNvSpPr/>
          <p:nvPr/>
        </p:nvSpPr>
        <p:spPr>
          <a:xfrm>
            <a:off x="7604608" y="2788920"/>
            <a:ext cx="1645920" cy="868680"/>
          </a:xfrm>
          <a:prstGeom prst="rect">
            <a:avLst/>
          </a:prstGeom>
          <a:noFill/>
          <a:ln/>
        </p:spPr>
        <p:txBody>
          <a:bodyPr wrap="square" lIns="0" tIns="0" rIns="0" bIns="0" rtlCol="0" anchor="ctr"/>
          <a:lstStyle/>
          <a:p>
            <a:pPr algn="ctr" indent="0" marL="0">
              <a:lnSpc>
                <a:spcPct val="115000"/>
              </a:lnSpc>
              <a:buNone/>
            </a:pPr>
            <a:r>
              <a:rPr lang="en-US" sz="1150" dirty="0">
                <a:solidFill>
                  <a:srgbClr val="FFFFFF"/>
                </a:solidFill>
                <a:latin typeface="Calibri" pitchFamily="34" charset="0"/>
                <a:ea typeface="Calibri" pitchFamily="34" charset="-122"/>
                <a:cs typeface="Calibri" pitchFamily="34" charset="-120"/>
              </a:rPr>
              <a:t>Aggiorna lo stato reale</a:t>
            </a:r>
            <a:endParaRPr lang="en-US" sz="1150" dirty="0"/>
          </a:p>
          <a:p>
            <a:pPr algn="ctr" indent="0" marL="0">
              <a:lnSpc>
                <a:spcPct val="115000"/>
              </a:lnSpc>
              <a:buNone/>
            </a:pPr>
            <a:r>
              <a:rPr lang="en-US" sz="1150" dirty="0">
                <a:solidFill>
                  <a:srgbClr val="FFFFFF"/>
                </a:solidFill>
                <a:latin typeface="Calibri" pitchFamily="34" charset="0"/>
                <a:ea typeface="Calibri" pitchFamily="34" charset="-122"/>
                <a:cs typeface="Calibri" pitchFamily="34" charset="-120"/>
              </a:rPr>
              <a:t>(batteria e idrogeno)</a:t>
            </a:r>
            <a:endParaRPr lang="en-US" sz="1150" dirty="0"/>
          </a:p>
        </p:txBody>
      </p:sp>
      <p:sp>
        <p:nvSpPr>
          <p:cNvPr id="19" name="Text 17"/>
          <p:cNvSpPr/>
          <p:nvPr/>
        </p:nvSpPr>
        <p:spPr>
          <a:xfrm>
            <a:off x="9387688" y="2834640"/>
            <a:ext cx="411480" cy="457200"/>
          </a:xfrm>
          <a:prstGeom prst="rect">
            <a:avLst/>
          </a:prstGeom>
          <a:noFill/>
          <a:ln/>
        </p:spPr>
        <p:txBody>
          <a:bodyPr wrap="square" lIns="0" tIns="0" rIns="0" bIns="0" rtlCol="0" anchor="ctr"/>
          <a:lstStyle/>
          <a:p>
            <a:pPr algn="ctr" indent="0" marL="0">
              <a:buNone/>
            </a:pPr>
            <a:r>
              <a:rPr lang="en-US" sz="2000" dirty="0">
                <a:solidFill>
                  <a:srgbClr val="6B7A85"/>
                </a:solidFill>
                <a:latin typeface="Calibri" pitchFamily="34" charset="0"/>
                <a:ea typeface="Calibri" pitchFamily="34" charset="-122"/>
                <a:cs typeface="Calibri" pitchFamily="34" charset="-120"/>
              </a:rPr>
              <a:t>→</a:t>
            </a:r>
            <a:endParaRPr lang="en-US" sz="2000" dirty="0"/>
          </a:p>
        </p:txBody>
      </p:sp>
      <p:sp>
        <p:nvSpPr>
          <p:cNvPr id="20" name="Shape 18"/>
          <p:cNvSpPr/>
          <p:nvPr/>
        </p:nvSpPr>
        <p:spPr>
          <a:xfrm>
            <a:off x="9799168" y="2377440"/>
            <a:ext cx="1920240" cy="1371600"/>
          </a:xfrm>
          <a:prstGeom prst="roundRect">
            <a:avLst>
              <a:gd name="adj" fmla="val 5333"/>
            </a:avLst>
          </a:prstGeom>
          <a:solidFill>
            <a:srgbClr val="1C7293"/>
          </a:solidFill>
          <a:ln w="12700">
            <a:solidFill>
              <a:srgbClr val="1C7293"/>
            </a:solidFill>
            <a:prstDash val="solid"/>
          </a:ln>
        </p:spPr>
      </p:sp>
      <p:sp>
        <p:nvSpPr>
          <p:cNvPr id="21" name="Text 19"/>
          <p:cNvSpPr/>
          <p:nvPr/>
        </p:nvSpPr>
        <p:spPr>
          <a:xfrm>
            <a:off x="9908896" y="2450592"/>
            <a:ext cx="457200" cy="365760"/>
          </a:xfrm>
          <a:prstGeom prst="rect">
            <a:avLst/>
          </a:prstGeom>
          <a:noFill/>
          <a:ln/>
        </p:spPr>
        <p:txBody>
          <a:bodyPr wrap="square" lIns="0" tIns="0" rIns="0" bIns="0" rtlCol="0" anchor="ctr"/>
          <a:lstStyle/>
          <a:p>
            <a:pPr indent="0" marL="0">
              <a:buNone/>
            </a:pPr>
            <a:r>
              <a:rPr lang="en-US" sz="1600" b="1" dirty="0">
                <a:solidFill>
                  <a:srgbClr val="FFB100"/>
                </a:solidFill>
                <a:latin typeface="Cambria" pitchFamily="34" charset="0"/>
                <a:ea typeface="Cambria" pitchFamily="34" charset="-122"/>
                <a:cs typeface="Cambria" pitchFamily="34" charset="-120"/>
              </a:rPr>
              <a:t>5</a:t>
            </a:r>
            <a:endParaRPr lang="en-US" sz="1600" dirty="0"/>
          </a:p>
        </p:txBody>
      </p:sp>
      <p:sp>
        <p:nvSpPr>
          <p:cNvPr id="22" name="Text 20"/>
          <p:cNvSpPr/>
          <p:nvPr/>
        </p:nvSpPr>
        <p:spPr>
          <a:xfrm>
            <a:off x="9936328" y="2788920"/>
            <a:ext cx="1645920" cy="868680"/>
          </a:xfrm>
          <a:prstGeom prst="rect">
            <a:avLst/>
          </a:prstGeom>
          <a:noFill/>
          <a:ln/>
        </p:spPr>
        <p:txBody>
          <a:bodyPr wrap="square" lIns="0" tIns="0" rIns="0" bIns="0" rtlCol="0" anchor="ctr"/>
          <a:lstStyle/>
          <a:p>
            <a:pPr algn="ctr" indent="0" marL="0">
              <a:lnSpc>
                <a:spcPct val="115000"/>
              </a:lnSpc>
              <a:buNone/>
            </a:pPr>
            <a:r>
              <a:rPr lang="en-US" sz="1150" dirty="0">
                <a:solidFill>
                  <a:srgbClr val="FFFFFF"/>
                </a:solidFill>
                <a:latin typeface="Calibri" pitchFamily="34" charset="0"/>
                <a:ea typeface="Calibri" pitchFamily="34" charset="-122"/>
                <a:cs typeface="Calibri" pitchFamily="34" charset="-120"/>
              </a:rPr>
              <a:t>Calcola il costo</a:t>
            </a:r>
            <a:endParaRPr lang="en-US" sz="1150" dirty="0"/>
          </a:p>
          <a:p>
            <a:pPr algn="ctr" indent="0" marL="0">
              <a:lnSpc>
                <a:spcPct val="115000"/>
              </a:lnSpc>
              <a:buNone/>
            </a:pPr>
            <a:r>
              <a:rPr lang="en-US" sz="1150" dirty="0">
                <a:solidFill>
                  <a:srgbClr val="FFFFFF"/>
                </a:solidFill>
                <a:latin typeface="Calibri" pitchFamily="34" charset="0"/>
                <a:ea typeface="Calibri" pitchFamily="34" charset="-122"/>
                <a:cs typeface="Calibri" pitchFamily="34" charset="-120"/>
              </a:rPr>
              <a:t>con i dati veri</a:t>
            </a:r>
            <a:endParaRPr lang="en-US" sz="1150" dirty="0"/>
          </a:p>
        </p:txBody>
      </p:sp>
      <p:sp>
        <p:nvSpPr>
          <p:cNvPr id="23" name="Shape 21"/>
          <p:cNvSpPr/>
          <p:nvPr/>
        </p:nvSpPr>
        <p:spPr>
          <a:xfrm>
            <a:off x="1432408" y="4069080"/>
            <a:ext cx="9326880" cy="914"/>
          </a:xfrm>
          <a:prstGeom prst="line">
            <a:avLst/>
          </a:prstGeom>
          <a:noFill/>
          <a:ln w="28575">
            <a:solidFill>
              <a:srgbClr val="FFB100"/>
            </a:solidFill>
            <a:prstDash val="solid"/>
            <a:headEnd type="triangle"/>
          </a:ln>
        </p:spPr>
      </p:sp>
      <p:sp>
        <p:nvSpPr>
          <p:cNvPr id="24" name="Text 22"/>
          <p:cNvSpPr/>
          <p:nvPr/>
        </p:nvSpPr>
        <p:spPr>
          <a:xfrm>
            <a:off x="472288" y="4251960"/>
            <a:ext cx="11247120" cy="365760"/>
          </a:xfrm>
          <a:prstGeom prst="rect">
            <a:avLst/>
          </a:prstGeom>
          <a:noFill/>
          <a:ln/>
        </p:spPr>
        <p:txBody>
          <a:bodyPr wrap="square" lIns="0" tIns="0" rIns="0" bIns="0" rtlCol="0" anchor="ctr"/>
          <a:lstStyle/>
          <a:p>
            <a:pPr algn="ctr" indent="0" marL="0">
              <a:buNone/>
            </a:pPr>
            <a:r>
              <a:rPr lang="en-US" sz="1250" b="1" dirty="0">
                <a:solidFill>
                  <a:srgbClr val="0B3D59"/>
                </a:solidFill>
                <a:latin typeface="Calibri" pitchFamily="34" charset="0"/>
                <a:ea typeface="Calibri" pitchFamily="34" charset="-122"/>
                <a:cs typeface="Calibri" pitchFamily="34" charset="-120"/>
              </a:rPr>
              <a:t>si ripete per ogni ora simulata</a:t>
            </a:r>
            <a:endParaRPr lang="en-US" sz="1250" dirty="0"/>
          </a:p>
        </p:txBody>
      </p:sp>
      <p:sp>
        <p:nvSpPr>
          <p:cNvPr id="25" name="Text 23"/>
          <p:cNvSpPr/>
          <p:nvPr/>
        </p:nvSpPr>
        <p:spPr>
          <a:xfrm>
            <a:off x="548640" y="5623560"/>
            <a:ext cx="11094415" cy="457200"/>
          </a:xfrm>
          <a:prstGeom prst="rect">
            <a:avLst/>
          </a:prstGeom>
          <a:noFill/>
          <a:ln/>
        </p:spPr>
        <p:txBody>
          <a:bodyPr wrap="square" lIns="0" tIns="0" rIns="0" bIns="0" rtlCol="0" anchor="ctr"/>
          <a:lstStyle/>
          <a:p>
            <a:pPr algn="ctr" indent="0" marL="0">
              <a:buNone/>
            </a:pPr>
            <a:r>
              <a:rPr lang="en-US" sz="1250" i="1" dirty="0">
                <a:solidFill>
                  <a:srgbClr val="6B7A85"/>
                </a:solidFill>
                <a:latin typeface="Calibri" pitchFamily="34" charset="0"/>
                <a:ea typeface="Calibri" pitchFamily="34" charset="-122"/>
                <a:cs typeface="Calibri" pitchFamily="34" charset="-120"/>
              </a:rPr>
              <a:t>Nel codice questo ciclo è la funzione run_mpc_simulation, che chiama solve_mpc_step ad ogni ora.</a:t>
            </a:r>
            <a:endParaRPr lang="en-US" sz="1250" dirty="0"/>
          </a:p>
        </p:txBody>
      </p:sp>
      <p:sp>
        <p:nvSpPr>
          <p:cNvPr id="27" name="Text 24"/>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A85"/>
                </a:solidFill>
                <a:latin typeface="Calibri" pitchFamily="34" charset="0"/>
                <a:ea typeface="Calibri" pitchFamily="34" charset="-122"/>
                <a:cs typeface="Calibri" pitchFamily="34" charset="-120"/>
              </a:rPr>
              <a:t>Project 16 — Controllo MPC di un sistema energetico industriale</a:t>
            </a:r>
            <a:endParaRPr lang="en-US" sz="900" dirty="0"/>
          </a:p>
        </p:txBody>
      </p:sp>
      <p:sp>
        <p:nvSpPr>
          <p:cNvPr id="28" name="Text 25"/>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6B7A85"/>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4415"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05 · IL CODICE</a:t>
            </a:r>
            <a:endParaRPr lang="en-US" sz="1300" dirty="0"/>
          </a:p>
        </p:txBody>
      </p:sp>
      <p:sp>
        <p:nvSpPr>
          <p:cNvPr id="3" name="Text 1"/>
          <p:cNvSpPr/>
          <p:nvPr/>
        </p:nvSpPr>
        <p:spPr>
          <a:xfrm>
            <a:off x="548640" y="713232"/>
            <a:ext cx="11094415" cy="777240"/>
          </a:xfrm>
          <a:prstGeom prst="rect">
            <a:avLst/>
          </a:prstGeom>
          <a:noFill/>
          <a:ln/>
        </p:spPr>
        <p:txBody>
          <a:bodyPr wrap="square" lIns="0" tIns="0" rIns="0" bIns="0" rtlCol="0" anchor="ctr"/>
          <a:lstStyle/>
          <a:p>
            <a:pPr indent="0" marL="0">
              <a:buNone/>
            </a:pPr>
            <a:r>
              <a:rPr lang="en-US" sz="3000" b="1" dirty="0">
                <a:solidFill>
                  <a:srgbClr val="0B3D59"/>
                </a:solidFill>
                <a:latin typeface="Cambria" pitchFamily="34" charset="0"/>
                <a:ea typeface="Cambria" pitchFamily="34" charset="-122"/>
                <a:cs typeface="Cambria" pitchFamily="34" charset="-120"/>
              </a:rPr>
              <a:t>Come è organizzato lo script</a:t>
            </a:r>
            <a:endParaRPr lang="en-US" sz="3000" dirty="0"/>
          </a:p>
        </p:txBody>
      </p:sp>
      <p:sp>
        <p:nvSpPr>
          <p:cNvPr id="4" name="Shape 2"/>
          <p:cNvSpPr/>
          <p:nvPr/>
        </p:nvSpPr>
        <p:spPr>
          <a:xfrm>
            <a:off x="548640" y="1828800"/>
            <a:ext cx="2743200" cy="4023360"/>
          </a:xfrm>
          <a:prstGeom prst="roundRect">
            <a:avLst>
              <a:gd name="adj" fmla="val 2667"/>
            </a:avLst>
          </a:prstGeom>
          <a:solidFill>
            <a:srgbClr val="0B3D59"/>
          </a:solidFill>
          <a:ln w="12700">
            <a:solidFill>
              <a:srgbClr val="0B3D59"/>
            </a:solidFill>
            <a:prstDash val="solid"/>
          </a:ln>
        </p:spPr>
      </p:sp>
      <p:sp>
        <p:nvSpPr>
          <p:cNvPr id="5" name="Text 3"/>
          <p:cNvSpPr/>
          <p:nvPr/>
        </p:nvSpPr>
        <p:spPr>
          <a:xfrm>
            <a:off x="777240" y="2057400"/>
            <a:ext cx="2286000" cy="411480"/>
          </a:xfrm>
          <a:prstGeom prst="rect">
            <a:avLst/>
          </a:prstGeom>
          <a:noFill/>
          <a:ln/>
        </p:spPr>
        <p:txBody>
          <a:bodyPr wrap="square" lIns="0" tIns="0" rIns="0" bIns="0" rtlCol="0" anchor="ctr"/>
          <a:lstStyle/>
          <a:p>
            <a:pPr indent="0" marL="0">
              <a:buNone/>
            </a:pPr>
            <a:r>
              <a:rPr lang="en-US" sz="1600" b="1" dirty="0">
                <a:solidFill>
                  <a:srgbClr val="FFB100"/>
                </a:solidFill>
                <a:latin typeface="Courier New" pitchFamily="34" charset="0"/>
                <a:ea typeface="Courier New" pitchFamily="34" charset="-122"/>
                <a:cs typeface="Courier New" pitchFamily="34" charset="-120"/>
              </a:rPr>
              <a:t>main()</a:t>
            </a:r>
            <a:endParaRPr lang="en-US" sz="1600" dirty="0"/>
          </a:p>
        </p:txBody>
      </p:sp>
      <p:sp>
        <p:nvSpPr>
          <p:cNvPr id="6" name="Text 4"/>
          <p:cNvSpPr/>
          <p:nvPr/>
        </p:nvSpPr>
        <p:spPr>
          <a:xfrm>
            <a:off x="777240" y="2514600"/>
            <a:ext cx="2286000" cy="3108960"/>
          </a:xfrm>
          <a:prstGeom prst="rect">
            <a:avLst/>
          </a:prstGeom>
          <a:noFill/>
          <a:ln/>
        </p:spPr>
        <p:txBody>
          <a:bodyPr wrap="square" lIns="0" tIns="0" rIns="0" bIns="0" rtlCol="0" anchor="ctr"/>
          <a:lstStyle/>
          <a:p>
            <a:pPr indent="0" marL="0">
              <a:lnSpc>
                <a:spcPct val="130000"/>
              </a:lnSpc>
              <a:buNone/>
            </a:pPr>
            <a:r>
              <a:rPr lang="en-US" sz="1250" dirty="0">
                <a:solidFill>
                  <a:srgbClr val="E2EAEF"/>
                </a:solidFill>
                <a:latin typeface="Calibri" pitchFamily="34" charset="0"/>
                <a:ea typeface="Calibri" pitchFamily="34" charset="-122"/>
                <a:cs typeface="Calibri" pitchFamily="34" charset="-120"/>
              </a:rPr>
              <a:t>Mette in fila tutti i passi:</a:t>
            </a:r>
            <a:endParaRPr lang="en-US" sz="1250" dirty="0"/>
          </a:p>
          <a:p>
            <a:pPr indent="0" marL="0">
              <a:lnSpc>
                <a:spcPct val="130000"/>
              </a:lnSpc>
              <a:buNone/>
            </a:pPr>
            <a:r>
              <a:rPr lang="en-US" sz="1250" dirty="0">
                <a:solidFill>
                  <a:srgbClr val="E2EAEF"/>
                </a:solidFill>
                <a:latin typeface="Calibri" pitchFamily="34" charset="0"/>
                <a:ea typeface="Calibri" pitchFamily="34" charset="-122"/>
                <a:cs typeface="Calibri" pitchFamily="34" charset="-120"/>
              </a:rPr>
              <a:t>argomenti → dati → solver →</a:t>
            </a:r>
            <a:endParaRPr lang="en-US" sz="1250" dirty="0"/>
          </a:p>
          <a:p>
            <a:pPr indent="0" marL="0">
              <a:lnSpc>
                <a:spcPct val="130000"/>
              </a:lnSpc>
              <a:buNone/>
            </a:pPr>
            <a:r>
              <a:rPr lang="en-US" sz="1250" dirty="0">
                <a:solidFill>
                  <a:srgbClr val="E2EAEF"/>
                </a:solidFill>
                <a:latin typeface="Calibri" pitchFamily="34" charset="0"/>
                <a:ea typeface="Calibri" pitchFamily="34" charset="-122"/>
                <a:cs typeface="Calibri" pitchFamily="34" charset="-120"/>
              </a:rPr>
              <a:t>simulazione → CSV e grafico</a:t>
            </a:r>
            <a:endParaRPr lang="en-US" sz="1250" dirty="0"/>
          </a:p>
        </p:txBody>
      </p:sp>
      <p:sp>
        <p:nvSpPr>
          <p:cNvPr id="7" name="Shape 5"/>
          <p:cNvSpPr/>
          <p:nvPr/>
        </p:nvSpPr>
        <p:spPr>
          <a:xfrm>
            <a:off x="3931920" y="1874520"/>
            <a:ext cx="7711135" cy="713232"/>
          </a:xfrm>
          <a:prstGeom prst="roundRect">
            <a:avLst>
              <a:gd name="adj" fmla="val 10256"/>
            </a:avLst>
          </a:prstGeom>
          <a:solidFill>
            <a:srgbClr val="F1F5F8"/>
          </a:solidFill>
          <a:ln w="12700">
            <a:solidFill>
              <a:srgbClr val="DCE6EC"/>
            </a:solidFill>
            <a:prstDash val="solid"/>
          </a:ln>
        </p:spPr>
      </p:sp>
      <p:sp>
        <p:nvSpPr>
          <p:cNvPr id="8" name="Text 6"/>
          <p:cNvSpPr/>
          <p:nvPr/>
        </p:nvSpPr>
        <p:spPr>
          <a:xfrm>
            <a:off x="4160520" y="1947672"/>
            <a:ext cx="3657600" cy="566928"/>
          </a:xfrm>
          <a:prstGeom prst="rect">
            <a:avLst/>
          </a:prstGeom>
          <a:noFill/>
          <a:ln/>
        </p:spPr>
        <p:txBody>
          <a:bodyPr wrap="square" lIns="0" tIns="0" rIns="0" bIns="0" rtlCol="0" anchor="ctr"/>
          <a:lstStyle/>
          <a:p>
            <a:pPr indent="0" marL="0">
              <a:buNone/>
            </a:pPr>
            <a:r>
              <a:rPr lang="en-US" sz="1300" b="1" dirty="0">
                <a:solidFill>
                  <a:srgbClr val="0B3D59"/>
                </a:solidFill>
                <a:latin typeface="Courier New" pitchFamily="34" charset="0"/>
                <a:ea typeface="Courier New" pitchFamily="34" charset="-122"/>
                <a:cs typeface="Courier New" pitchFamily="34" charset="-120"/>
              </a:rPr>
              <a:t>load_project_data()</a:t>
            </a:r>
            <a:endParaRPr lang="en-US" sz="1300" dirty="0"/>
          </a:p>
        </p:txBody>
      </p:sp>
      <p:sp>
        <p:nvSpPr>
          <p:cNvPr id="9" name="Text 7"/>
          <p:cNvSpPr/>
          <p:nvPr/>
        </p:nvSpPr>
        <p:spPr>
          <a:xfrm>
            <a:off x="7955280" y="1947672"/>
            <a:ext cx="3459175" cy="566928"/>
          </a:xfrm>
          <a:prstGeom prst="rect">
            <a:avLst/>
          </a:prstGeom>
          <a:noFill/>
          <a:ln/>
        </p:spPr>
        <p:txBody>
          <a:bodyPr wrap="square" lIns="0" tIns="0" rIns="0" bIns="0" rtlCol="0" anchor="ctr"/>
          <a:lstStyle/>
          <a:p>
            <a:pPr indent="0" marL="0">
              <a:lnSpc>
                <a:spcPct val="110000"/>
              </a:lnSpc>
              <a:buNone/>
            </a:pPr>
            <a:r>
              <a:rPr lang="en-US" sz="1200" dirty="0">
                <a:solidFill>
                  <a:srgbClr val="6B7A85"/>
                </a:solidFill>
                <a:latin typeface="Calibri" pitchFamily="34" charset="0"/>
                <a:ea typeface="Calibri" pitchFamily="34" charset="-122"/>
                <a:cs typeface="Calibri" pitchFamily="34" charset="-120"/>
              </a:rPr>
              <a:t>legge i file .mat e prepara i dati</a:t>
            </a:r>
            <a:endParaRPr lang="en-US" sz="1200" dirty="0"/>
          </a:p>
        </p:txBody>
      </p:sp>
      <p:sp>
        <p:nvSpPr>
          <p:cNvPr id="10" name="Shape 8"/>
          <p:cNvSpPr/>
          <p:nvPr/>
        </p:nvSpPr>
        <p:spPr>
          <a:xfrm>
            <a:off x="3931920" y="2706624"/>
            <a:ext cx="7711135" cy="713232"/>
          </a:xfrm>
          <a:prstGeom prst="roundRect">
            <a:avLst>
              <a:gd name="adj" fmla="val 10256"/>
            </a:avLst>
          </a:prstGeom>
          <a:solidFill>
            <a:srgbClr val="F1F5F8"/>
          </a:solidFill>
          <a:ln w="12700">
            <a:solidFill>
              <a:srgbClr val="DCE6EC"/>
            </a:solidFill>
            <a:prstDash val="solid"/>
          </a:ln>
        </p:spPr>
      </p:sp>
      <p:sp>
        <p:nvSpPr>
          <p:cNvPr id="11" name="Text 9"/>
          <p:cNvSpPr/>
          <p:nvPr/>
        </p:nvSpPr>
        <p:spPr>
          <a:xfrm>
            <a:off x="4160520" y="2779776"/>
            <a:ext cx="3657600" cy="566928"/>
          </a:xfrm>
          <a:prstGeom prst="rect">
            <a:avLst/>
          </a:prstGeom>
          <a:noFill/>
          <a:ln/>
        </p:spPr>
        <p:txBody>
          <a:bodyPr wrap="square" lIns="0" tIns="0" rIns="0" bIns="0" rtlCol="0" anchor="ctr"/>
          <a:lstStyle/>
          <a:p>
            <a:pPr indent="0" marL="0">
              <a:buNone/>
            </a:pPr>
            <a:r>
              <a:rPr lang="en-US" sz="1300" b="1" dirty="0">
                <a:solidFill>
                  <a:srgbClr val="0B3D59"/>
                </a:solidFill>
                <a:latin typeface="Courier New" pitchFamily="34" charset="0"/>
                <a:ea typeface="Courier New" pitchFamily="34" charset="-122"/>
                <a:cs typeface="Courier New" pitchFamily="34" charset="-120"/>
              </a:rPr>
              <a:t>select_solver()</a:t>
            </a:r>
            <a:endParaRPr lang="en-US" sz="1300" dirty="0"/>
          </a:p>
        </p:txBody>
      </p:sp>
      <p:sp>
        <p:nvSpPr>
          <p:cNvPr id="12" name="Text 10"/>
          <p:cNvSpPr/>
          <p:nvPr/>
        </p:nvSpPr>
        <p:spPr>
          <a:xfrm>
            <a:off x="7955280" y="2779776"/>
            <a:ext cx="3459175" cy="566928"/>
          </a:xfrm>
          <a:prstGeom prst="rect">
            <a:avLst/>
          </a:prstGeom>
          <a:noFill/>
          <a:ln/>
        </p:spPr>
        <p:txBody>
          <a:bodyPr wrap="square" lIns="0" tIns="0" rIns="0" bIns="0" rtlCol="0" anchor="ctr"/>
          <a:lstStyle/>
          <a:p>
            <a:pPr indent="0" marL="0">
              <a:lnSpc>
                <a:spcPct val="110000"/>
              </a:lnSpc>
              <a:buNone/>
            </a:pPr>
            <a:r>
              <a:rPr lang="en-US" sz="1200" dirty="0">
                <a:solidFill>
                  <a:srgbClr val="6B7A85"/>
                </a:solidFill>
                <a:latin typeface="Calibri" pitchFamily="34" charset="0"/>
                <a:ea typeface="Calibri" pitchFamily="34" charset="-122"/>
                <a:cs typeface="Calibri" pitchFamily="34" charset="-120"/>
              </a:rPr>
              <a:t>trova un solver Pyomo disponibile</a:t>
            </a:r>
            <a:endParaRPr lang="en-US" sz="1200" dirty="0"/>
          </a:p>
        </p:txBody>
      </p:sp>
      <p:sp>
        <p:nvSpPr>
          <p:cNvPr id="13" name="Shape 11"/>
          <p:cNvSpPr/>
          <p:nvPr/>
        </p:nvSpPr>
        <p:spPr>
          <a:xfrm>
            <a:off x="3931920" y="3538728"/>
            <a:ext cx="7711135" cy="713232"/>
          </a:xfrm>
          <a:prstGeom prst="roundRect">
            <a:avLst>
              <a:gd name="adj" fmla="val 10256"/>
            </a:avLst>
          </a:prstGeom>
          <a:solidFill>
            <a:srgbClr val="F1F5F8"/>
          </a:solidFill>
          <a:ln w="12700">
            <a:solidFill>
              <a:srgbClr val="DCE6EC"/>
            </a:solidFill>
            <a:prstDash val="solid"/>
          </a:ln>
        </p:spPr>
      </p:sp>
      <p:sp>
        <p:nvSpPr>
          <p:cNvPr id="14" name="Text 12"/>
          <p:cNvSpPr/>
          <p:nvPr/>
        </p:nvSpPr>
        <p:spPr>
          <a:xfrm>
            <a:off x="4160520" y="3611880"/>
            <a:ext cx="3657600" cy="566928"/>
          </a:xfrm>
          <a:prstGeom prst="rect">
            <a:avLst/>
          </a:prstGeom>
          <a:noFill/>
          <a:ln/>
        </p:spPr>
        <p:txBody>
          <a:bodyPr wrap="square" lIns="0" tIns="0" rIns="0" bIns="0" rtlCol="0" anchor="ctr"/>
          <a:lstStyle/>
          <a:p>
            <a:pPr indent="0" marL="0">
              <a:buNone/>
            </a:pPr>
            <a:r>
              <a:rPr lang="en-US" sz="1300" b="1" dirty="0">
                <a:solidFill>
                  <a:srgbClr val="0B3D59"/>
                </a:solidFill>
                <a:latin typeface="Courier New" pitchFamily="34" charset="0"/>
                <a:ea typeface="Courier New" pitchFamily="34" charset="-122"/>
                <a:cs typeface="Courier New" pitchFamily="34" charset="-120"/>
              </a:rPr>
              <a:t>run_mpc_simulation()</a:t>
            </a:r>
            <a:endParaRPr lang="en-US" sz="1300" dirty="0"/>
          </a:p>
        </p:txBody>
      </p:sp>
      <p:sp>
        <p:nvSpPr>
          <p:cNvPr id="15" name="Text 13"/>
          <p:cNvSpPr/>
          <p:nvPr/>
        </p:nvSpPr>
        <p:spPr>
          <a:xfrm>
            <a:off x="7955280" y="3611880"/>
            <a:ext cx="3459175" cy="566928"/>
          </a:xfrm>
          <a:prstGeom prst="rect">
            <a:avLst/>
          </a:prstGeom>
          <a:noFill/>
          <a:ln/>
        </p:spPr>
        <p:txBody>
          <a:bodyPr wrap="square" lIns="0" tIns="0" rIns="0" bIns="0" rtlCol="0" anchor="ctr"/>
          <a:lstStyle/>
          <a:p>
            <a:pPr indent="0" marL="0">
              <a:lnSpc>
                <a:spcPct val="110000"/>
              </a:lnSpc>
              <a:buNone/>
            </a:pPr>
            <a:r>
              <a:rPr lang="en-US" sz="1200" dirty="0">
                <a:solidFill>
                  <a:srgbClr val="6B7A85"/>
                </a:solidFill>
                <a:latin typeface="Calibri" pitchFamily="34" charset="0"/>
                <a:ea typeface="Calibri" pitchFamily="34" charset="-122"/>
                <a:cs typeface="Calibri" pitchFamily="34" charset="-120"/>
              </a:rPr>
              <a:t>ripete il ciclo ora per ora</a:t>
            </a:r>
            <a:endParaRPr lang="en-US" sz="1200" dirty="0"/>
          </a:p>
        </p:txBody>
      </p:sp>
      <p:sp>
        <p:nvSpPr>
          <p:cNvPr id="16" name="Shape 14"/>
          <p:cNvSpPr/>
          <p:nvPr/>
        </p:nvSpPr>
        <p:spPr>
          <a:xfrm>
            <a:off x="3931920" y="4370832"/>
            <a:ext cx="7711135" cy="713232"/>
          </a:xfrm>
          <a:prstGeom prst="roundRect">
            <a:avLst>
              <a:gd name="adj" fmla="val 10256"/>
            </a:avLst>
          </a:prstGeom>
          <a:solidFill>
            <a:srgbClr val="F1F5F8"/>
          </a:solidFill>
          <a:ln w="12700">
            <a:solidFill>
              <a:srgbClr val="DCE6EC"/>
            </a:solidFill>
            <a:prstDash val="solid"/>
          </a:ln>
        </p:spPr>
      </p:sp>
      <p:sp>
        <p:nvSpPr>
          <p:cNvPr id="17" name="Text 15"/>
          <p:cNvSpPr/>
          <p:nvPr/>
        </p:nvSpPr>
        <p:spPr>
          <a:xfrm>
            <a:off x="4160520" y="4443984"/>
            <a:ext cx="3657600" cy="566928"/>
          </a:xfrm>
          <a:prstGeom prst="rect">
            <a:avLst/>
          </a:prstGeom>
          <a:noFill/>
          <a:ln/>
        </p:spPr>
        <p:txBody>
          <a:bodyPr wrap="square" lIns="0" tIns="0" rIns="0" bIns="0" rtlCol="0" anchor="ctr"/>
          <a:lstStyle/>
          <a:p>
            <a:pPr indent="0" marL="0">
              <a:buNone/>
            </a:pPr>
            <a:r>
              <a:rPr lang="en-US" sz="1300" b="1" dirty="0">
                <a:solidFill>
                  <a:srgbClr val="0B3D59"/>
                </a:solidFill>
                <a:latin typeface="Courier New" pitchFamily="34" charset="0"/>
                <a:ea typeface="Courier New" pitchFamily="34" charset="-122"/>
                <a:cs typeface="Courier New" pitchFamily="34" charset="-120"/>
              </a:rPr>
              <a:t>solve_mpc_step()</a:t>
            </a:r>
            <a:endParaRPr lang="en-US" sz="1300" dirty="0"/>
          </a:p>
        </p:txBody>
      </p:sp>
      <p:sp>
        <p:nvSpPr>
          <p:cNvPr id="18" name="Text 16"/>
          <p:cNvSpPr/>
          <p:nvPr/>
        </p:nvSpPr>
        <p:spPr>
          <a:xfrm>
            <a:off x="7955280" y="4443984"/>
            <a:ext cx="3459175" cy="566928"/>
          </a:xfrm>
          <a:prstGeom prst="rect">
            <a:avLst/>
          </a:prstGeom>
          <a:noFill/>
          <a:ln/>
        </p:spPr>
        <p:txBody>
          <a:bodyPr wrap="square" lIns="0" tIns="0" rIns="0" bIns="0" rtlCol="0" anchor="ctr"/>
          <a:lstStyle/>
          <a:p>
            <a:pPr indent="0" marL="0">
              <a:lnSpc>
                <a:spcPct val="110000"/>
              </a:lnSpc>
              <a:buNone/>
            </a:pPr>
            <a:r>
              <a:rPr lang="en-US" sz="1200" dirty="0">
                <a:solidFill>
                  <a:srgbClr val="6B7A85"/>
                </a:solidFill>
                <a:latin typeface="Calibri" pitchFamily="34" charset="0"/>
                <a:ea typeface="Calibri" pitchFamily="34" charset="-122"/>
                <a:cs typeface="Calibri" pitchFamily="34" charset="-120"/>
              </a:rPr>
              <a:t>costruisce e risolve il modello MILP di una finestra</a:t>
            </a:r>
            <a:endParaRPr lang="en-US" sz="1200" dirty="0"/>
          </a:p>
        </p:txBody>
      </p:sp>
      <p:sp>
        <p:nvSpPr>
          <p:cNvPr id="19" name="Shape 17"/>
          <p:cNvSpPr/>
          <p:nvPr/>
        </p:nvSpPr>
        <p:spPr>
          <a:xfrm>
            <a:off x="3931920" y="5202936"/>
            <a:ext cx="7711135" cy="713232"/>
          </a:xfrm>
          <a:prstGeom prst="roundRect">
            <a:avLst>
              <a:gd name="adj" fmla="val 10256"/>
            </a:avLst>
          </a:prstGeom>
          <a:solidFill>
            <a:srgbClr val="F1F5F8"/>
          </a:solidFill>
          <a:ln w="12700">
            <a:solidFill>
              <a:srgbClr val="DCE6EC"/>
            </a:solidFill>
            <a:prstDash val="solid"/>
          </a:ln>
        </p:spPr>
      </p:sp>
      <p:sp>
        <p:nvSpPr>
          <p:cNvPr id="20" name="Text 18"/>
          <p:cNvSpPr/>
          <p:nvPr/>
        </p:nvSpPr>
        <p:spPr>
          <a:xfrm>
            <a:off x="4160520" y="5276088"/>
            <a:ext cx="3657600" cy="566928"/>
          </a:xfrm>
          <a:prstGeom prst="rect">
            <a:avLst/>
          </a:prstGeom>
          <a:noFill/>
          <a:ln/>
        </p:spPr>
        <p:txBody>
          <a:bodyPr wrap="square" lIns="0" tIns="0" rIns="0" bIns="0" rtlCol="0" anchor="ctr"/>
          <a:lstStyle/>
          <a:p>
            <a:pPr indent="0" marL="0">
              <a:buNone/>
            </a:pPr>
            <a:r>
              <a:rPr lang="en-US" sz="1300" b="1" dirty="0">
                <a:solidFill>
                  <a:srgbClr val="0B3D59"/>
                </a:solidFill>
                <a:latin typeface="Courier New" pitchFamily="34" charset="0"/>
                <a:ea typeface="Courier New" pitchFamily="34" charset="-122"/>
                <a:cs typeface="Courier New" pitchFamily="34" charset="-120"/>
              </a:rPr>
              <a:t>save_results_csv() / create_plots()</a:t>
            </a:r>
            <a:endParaRPr lang="en-US" sz="1300" dirty="0"/>
          </a:p>
        </p:txBody>
      </p:sp>
      <p:sp>
        <p:nvSpPr>
          <p:cNvPr id="21" name="Text 19"/>
          <p:cNvSpPr/>
          <p:nvPr/>
        </p:nvSpPr>
        <p:spPr>
          <a:xfrm>
            <a:off x="7955280" y="5276088"/>
            <a:ext cx="3459175" cy="566928"/>
          </a:xfrm>
          <a:prstGeom prst="rect">
            <a:avLst/>
          </a:prstGeom>
          <a:noFill/>
          <a:ln/>
        </p:spPr>
        <p:txBody>
          <a:bodyPr wrap="square" lIns="0" tIns="0" rIns="0" bIns="0" rtlCol="0" anchor="ctr"/>
          <a:lstStyle/>
          <a:p>
            <a:pPr indent="0" marL="0">
              <a:lnSpc>
                <a:spcPct val="110000"/>
              </a:lnSpc>
              <a:buNone/>
            </a:pPr>
            <a:r>
              <a:rPr lang="en-US" sz="1200" dirty="0">
                <a:solidFill>
                  <a:srgbClr val="6B7A85"/>
                </a:solidFill>
                <a:latin typeface="Calibri" pitchFamily="34" charset="0"/>
                <a:ea typeface="Calibri" pitchFamily="34" charset="-122"/>
                <a:cs typeface="Calibri" pitchFamily="34" charset="-120"/>
              </a:rPr>
              <a:t>salvano la tabella oraria e il grafico riassuntivo</a:t>
            </a:r>
            <a:endParaRPr lang="en-US" sz="1200" dirty="0"/>
          </a:p>
        </p:txBody>
      </p:sp>
      <p:sp>
        <p:nvSpPr>
          <p:cNvPr id="22" name="Text 20"/>
          <p:cNvSpPr/>
          <p:nvPr/>
        </p:nvSpPr>
        <p:spPr>
          <a:xfrm>
            <a:off x="548640" y="6035040"/>
            <a:ext cx="11094415" cy="365760"/>
          </a:xfrm>
          <a:prstGeom prst="rect">
            <a:avLst/>
          </a:prstGeom>
          <a:noFill/>
          <a:ln/>
        </p:spPr>
        <p:txBody>
          <a:bodyPr wrap="square" lIns="0" tIns="0" rIns="0" bIns="0" rtlCol="0" anchor="ctr"/>
          <a:lstStyle/>
          <a:p>
            <a:pPr algn="ctr" indent="0" marL="0">
              <a:buNone/>
            </a:pPr>
            <a:r>
              <a:rPr lang="en-US" sz="1150" i="1" dirty="0">
                <a:solidFill>
                  <a:srgbClr val="6B7A85"/>
                </a:solidFill>
                <a:latin typeface="Calibri" pitchFamily="34" charset="0"/>
                <a:ea typeface="Calibri" pitchFamily="34" charset="-122"/>
                <a:cs typeface="Calibri" pitchFamily="34" charset="-120"/>
              </a:rPr>
              <a:t>es.py è una variante quasi identica: cambia solo il valore della penalità di curtailment (0.01 invece di 1000 EUR/MWh).</a:t>
            </a:r>
            <a:endParaRPr lang="en-US" sz="1150" dirty="0"/>
          </a:p>
        </p:txBody>
      </p:sp>
      <p:sp>
        <p:nvSpPr>
          <p:cNvPr id="24" name="Text 21"/>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A85"/>
                </a:solidFill>
                <a:latin typeface="Calibri" pitchFamily="34" charset="0"/>
                <a:ea typeface="Calibri" pitchFamily="34" charset="-122"/>
                <a:cs typeface="Calibri" pitchFamily="34" charset="-120"/>
              </a:rPr>
              <a:t>Project 16 — Controllo MPC di un sistema energetico industriale</a:t>
            </a:r>
            <a:endParaRPr lang="en-US" sz="900" dirty="0"/>
          </a:p>
        </p:txBody>
      </p:sp>
      <p:sp>
        <p:nvSpPr>
          <p:cNvPr id="25" name="Text 22"/>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6B7A85"/>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4415"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06 · ESPERIMENTI E RISULTATI</a:t>
            </a:r>
            <a:endParaRPr lang="en-US" sz="1300" dirty="0"/>
          </a:p>
        </p:txBody>
      </p:sp>
      <p:sp>
        <p:nvSpPr>
          <p:cNvPr id="3" name="Text 1"/>
          <p:cNvSpPr/>
          <p:nvPr/>
        </p:nvSpPr>
        <p:spPr>
          <a:xfrm>
            <a:off x="548640" y="713232"/>
            <a:ext cx="11094415" cy="777240"/>
          </a:xfrm>
          <a:prstGeom prst="rect">
            <a:avLst/>
          </a:prstGeom>
          <a:noFill/>
          <a:ln/>
        </p:spPr>
        <p:txBody>
          <a:bodyPr wrap="square" lIns="0" tIns="0" rIns="0" bIns="0" rtlCol="0" anchor="ctr"/>
          <a:lstStyle/>
          <a:p>
            <a:pPr indent="0" marL="0">
              <a:buNone/>
            </a:pPr>
            <a:r>
              <a:rPr lang="en-US" sz="3000" b="1" dirty="0">
                <a:solidFill>
                  <a:srgbClr val="0B3D59"/>
                </a:solidFill>
                <a:latin typeface="Cambria" pitchFamily="34" charset="0"/>
                <a:ea typeface="Cambria" pitchFamily="34" charset="-122"/>
                <a:cs typeface="Cambria" pitchFamily="34" charset="-120"/>
              </a:rPr>
              <a:t>Gli esperimenti condotti</a:t>
            </a:r>
            <a:endParaRPr lang="en-US" sz="3000" dirty="0"/>
          </a:p>
        </p:txBody>
      </p:sp>
      <p:sp>
        <p:nvSpPr>
          <p:cNvPr id="4" name="Text 2"/>
          <p:cNvSpPr/>
          <p:nvPr/>
        </p:nvSpPr>
        <p:spPr>
          <a:xfrm>
            <a:off x="548640" y="1828800"/>
            <a:ext cx="11094415" cy="640080"/>
          </a:xfrm>
          <a:prstGeom prst="rect">
            <a:avLst/>
          </a:prstGeom>
          <a:noFill/>
          <a:ln/>
        </p:spPr>
        <p:txBody>
          <a:bodyPr wrap="square" lIns="0" tIns="0" rIns="0" bIns="0" rtlCol="0" anchor="ctr"/>
          <a:lstStyle/>
          <a:p>
            <a:pPr indent="0" marL="0">
              <a:lnSpc>
                <a:spcPct val="120000"/>
              </a:lnSpc>
              <a:buNone/>
            </a:pPr>
            <a:r>
              <a:rPr lang="en-US" sz="1450" dirty="0">
                <a:solidFill>
                  <a:srgbClr val="20303D"/>
                </a:solidFill>
                <a:latin typeface="Calibri" pitchFamily="34" charset="0"/>
                <a:ea typeface="Calibri" pitchFamily="34" charset="-122"/>
                <a:cs typeface="Calibri" pitchFamily="34" charset="-120"/>
              </a:rPr>
              <a:t>Per capire come si comporta il sistema, la simulazione sull'intero anno (6529 ore) è stata ripetuta in 4 scenari, ognuno risolto sia con Gurobi che con HiGHS:</a:t>
            </a:r>
            <a:endParaRPr lang="en-US" sz="1450" dirty="0"/>
          </a:p>
        </p:txBody>
      </p:sp>
      <p:sp>
        <p:nvSpPr>
          <p:cNvPr id="5" name="Shape 3"/>
          <p:cNvSpPr/>
          <p:nvPr/>
        </p:nvSpPr>
        <p:spPr>
          <a:xfrm>
            <a:off x="548640" y="2697480"/>
            <a:ext cx="2533574" cy="2834640"/>
          </a:xfrm>
          <a:prstGeom prst="roundRect">
            <a:avLst>
              <a:gd name="adj" fmla="val 2887"/>
            </a:avLst>
          </a:prstGeom>
          <a:solidFill>
            <a:srgbClr val="1C7293"/>
          </a:solidFill>
          <a:ln w="12700">
            <a:solidFill>
              <a:srgbClr val="1C7293"/>
            </a:solidFill>
            <a:prstDash val="solid"/>
          </a:ln>
        </p:spPr>
      </p:sp>
      <p:sp>
        <p:nvSpPr>
          <p:cNvPr id="6" name="Shape 4"/>
          <p:cNvSpPr/>
          <p:nvPr/>
        </p:nvSpPr>
        <p:spPr>
          <a:xfrm>
            <a:off x="1472527" y="2948940"/>
            <a:ext cx="685800" cy="685800"/>
          </a:xfrm>
          <a:prstGeom prst="ellipse">
            <a:avLst/>
          </a:prstGeom>
          <a:solidFill>
            <a:srgbClr val="FFB100"/>
          </a:solidFill>
          <a:ln/>
        </p:spPr>
      </p:sp>
      <p:sp>
        <p:nvSpPr>
          <p:cNvPr id="7" name="Text 5"/>
          <p:cNvSpPr/>
          <p:nvPr/>
        </p:nvSpPr>
        <p:spPr>
          <a:xfrm>
            <a:off x="1472527" y="2948940"/>
            <a:ext cx="685800" cy="685800"/>
          </a:xfrm>
          <a:prstGeom prst="rect">
            <a:avLst/>
          </a:prstGeom>
          <a:noFill/>
          <a:ln/>
        </p:spPr>
        <p:txBody>
          <a:bodyPr wrap="square" lIns="0" tIns="0" rIns="0" bIns="0" rtlCol="0" anchor="ctr"/>
          <a:lstStyle/>
          <a:p>
            <a:pPr algn="ctr" indent="0" marL="0">
              <a:buNone/>
            </a:pPr>
            <a:r>
              <a:rPr lang="en-US" sz="2200" b="1" dirty="0">
                <a:solidFill>
                  <a:srgbClr val="082B40"/>
                </a:solidFill>
                <a:latin typeface="Calibri" pitchFamily="34" charset="0"/>
                <a:ea typeface="Calibri" pitchFamily="34" charset="-122"/>
                <a:cs typeface="Calibri" pitchFamily="34" charset="-120"/>
              </a:rPr>
              <a:t>A</a:t>
            </a:r>
            <a:endParaRPr lang="en-US" sz="2200" dirty="0"/>
          </a:p>
        </p:txBody>
      </p:sp>
      <p:sp>
        <p:nvSpPr>
          <p:cNvPr id="8" name="Text 6"/>
          <p:cNvSpPr/>
          <p:nvPr/>
        </p:nvSpPr>
        <p:spPr>
          <a:xfrm>
            <a:off x="731520" y="3840480"/>
            <a:ext cx="2167814" cy="45720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Baseline</a:t>
            </a:r>
            <a:endParaRPr lang="en-US" sz="1450" dirty="0"/>
          </a:p>
        </p:txBody>
      </p:sp>
      <p:sp>
        <p:nvSpPr>
          <p:cNvPr id="9" name="Text 7"/>
          <p:cNvSpPr/>
          <p:nvPr/>
        </p:nvSpPr>
        <p:spPr>
          <a:xfrm>
            <a:off x="731520" y="4343400"/>
            <a:ext cx="2167814" cy="1097280"/>
          </a:xfrm>
          <a:prstGeom prst="rect">
            <a:avLst/>
          </a:prstGeom>
          <a:noFill/>
          <a:ln/>
        </p:spPr>
        <p:txBody>
          <a:bodyPr wrap="square" lIns="0" tIns="0" rIns="0" bIns="0" rtlCol="0" anchor="ctr"/>
          <a:lstStyle/>
          <a:p>
            <a:pPr algn="ctr" indent="0" marL="0">
              <a:lnSpc>
                <a:spcPct val="120000"/>
              </a:lnSpc>
              <a:buNone/>
            </a:pPr>
            <a:r>
              <a:rPr lang="en-US" sz="1150" dirty="0">
                <a:solidFill>
                  <a:srgbClr val="EAF0F3"/>
                </a:solidFill>
                <a:latin typeface="Calibri" pitchFamily="34" charset="0"/>
                <a:ea typeface="Calibri" pitchFamily="34" charset="-122"/>
                <a:cs typeface="Calibri" pitchFamily="34" charset="-120"/>
              </a:rPr>
              <a:t>SoC / SoH iniziali a metà (0.50 / 0.50)</a:t>
            </a:r>
            <a:endParaRPr lang="en-US" sz="1150" dirty="0"/>
          </a:p>
        </p:txBody>
      </p:sp>
      <p:sp>
        <p:nvSpPr>
          <p:cNvPr id="10" name="Shape 8"/>
          <p:cNvSpPr/>
          <p:nvPr/>
        </p:nvSpPr>
        <p:spPr>
          <a:xfrm>
            <a:off x="3402254" y="2697480"/>
            <a:ext cx="2533574" cy="2834640"/>
          </a:xfrm>
          <a:prstGeom prst="roundRect">
            <a:avLst>
              <a:gd name="adj" fmla="val 2887"/>
            </a:avLst>
          </a:prstGeom>
          <a:solidFill>
            <a:srgbClr val="0B3D59"/>
          </a:solidFill>
          <a:ln w="12700">
            <a:solidFill>
              <a:srgbClr val="0B3D59"/>
            </a:solidFill>
            <a:prstDash val="solid"/>
          </a:ln>
        </p:spPr>
      </p:sp>
      <p:sp>
        <p:nvSpPr>
          <p:cNvPr id="11" name="Shape 9"/>
          <p:cNvSpPr/>
          <p:nvPr/>
        </p:nvSpPr>
        <p:spPr>
          <a:xfrm>
            <a:off x="4326141" y="2948940"/>
            <a:ext cx="685800" cy="685800"/>
          </a:xfrm>
          <a:prstGeom prst="ellipse">
            <a:avLst/>
          </a:prstGeom>
          <a:solidFill>
            <a:srgbClr val="FFB100"/>
          </a:solidFill>
          <a:ln/>
        </p:spPr>
      </p:sp>
      <p:sp>
        <p:nvSpPr>
          <p:cNvPr id="12" name="Text 10"/>
          <p:cNvSpPr/>
          <p:nvPr/>
        </p:nvSpPr>
        <p:spPr>
          <a:xfrm>
            <a:off x="4326141" y="2948940"/>
            <a:ext cx="685800" cy="685800"/>
          </a:xfrm>
          <a:prstGeom prst="rect">
            <a:avLst/>
          </a:prstGeom>
          <a:noFill/>
          <a:ln/>
        </p:spPr>
        <p:txBody>
          <a:bodyPr wrap="square" lIns="0" tIns="0" rIns="0" bIns="0" rtlCol="0" anchor="ctr"/>
          <a:lstStyle/>
          <a:p>
            <a:pPr algn="ctr" indent="0" marL="0">
              <a:buNone/>
            </a:pPr>
            <a:r>
              <a:rPr lang="en-US" sz="2200" b="1" dirty="0">
                <a:solidFill>
                  <a:srgbClr val="082B40"/>
                </a:solidFill>
                <a:latin typeface="Calibri" pitchFamily="34" charset="0"/>
                <a:ea typeface="Calibri" pitchFamily="34" charset="-122"/>
                <a:cs typeface="Calibri" pitchFamily="34" charset="-120"/>
              </a:rPr>
              <a:t>B</a:t>
            </a:r>
            <a:endParaRPr lang="en-US" sz="2200" dirty="0"/>
          </a:p>
        </p:txBody>
      </p:sp>
      <p:sp>
        <p:nvSpPr>
          <p:cNvPr id="13" name="Text 11"/>
          <p:cNvSpPr/>
          <p:nvPr/>
        </p:nvSpPr>
        <p:spPr>
          <a:xfrm>
            <a:off x="3585134" y="3840480"/>
            <a:ext cx="2167814" cy="45720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Accumuli vuoti</a:t>
            </a:r>
            <a:endParaRPr lang="en-US" sz="1450" dirty="0"/>
          </a:p>
        </p:txBody>
      </p:sp>
      <p:sp>
        <p:nvSpPr>
          <p:cNvPr id="14" name="Text 12"/>
          <p:cNvSpPr/>
          <p:nvPr/>
        </p:nvSpPr>
        <p:spPr>
          <a:xfrm>
            <a:off x="3585134" y="4343400"/>
            <a:ext cx="2167814" cy="1097280"/>
          </a:xfrm>
          <a:prstGeom prst="rect">
            <a:avLst/>
          </a:prstGeom>
          <a:noFill/>
          <a:ln/>
        </p:spPr>
        <p:txBody>
          <a:bodyPr wrap="square" lIns="0" tIns="0" rIns="0" bIns="0" rtlCol="0" anchor="ctr"/>
          <a:lstStyle/>
          <a:p>
            <a:pPr algn="ctr" indent="0" marL="0">
              <a:lnSpc>
                <a:spcPct val="120000"/>
              </a:lnSpc>
              <a:buNone/>
            </a:pPr>
            <a:r>
              <a:rPr lang="en-US" sz="1150" dirty="0">
                <a:solidFill>
                  <a:srgbClr val="EAF0F3"/>
                </a:solidFill>
                <a:latin typeface="Calibri" pitchFamily="34" charset="0"/>
                <a:ea typeface="Calibri" pitchFamily="34" charset="-122"/>
                <a:cs typeface="Calibri" pitchFamily="34" charset="-120"/>
              </a:rPr>
              <a:t>SoC / SoH iniziali al minimo (0.10 / 0.00)</a:t>
            </a:r>
            <a:endParaRPr lang="en-US" sz="1150" dirty="0"/>
          </a:p>
        </p:txBody>
      </p:sp>
      <p:sp>
        <p:nvSpPr>
          <p:cNvPr id="15" name="Shape 13"/>
          <p:cNvSpPr/>
          <p:nvPr/>
        </p:nvSpPr>
        <p:spPr>
          <a:xfrm>
            <a:off x="6255868" y="2697480"/>
            <a:ext cx="2533574" cy="2834640"/>
          </a:xfrm>
          <a:prstGeom prst="roundRect">
            <a:avLst>
              <a:gd name="adj" fmla="val 2887"/>
            </a:avLst>
          </a:prstGeom>
          <a:solidFill>
            <a:srgbClr val="8A5CBF"/>
          </a:solidFill>
          <a:ln w="12700">
            <a:solidFill>
              <a:srgbClr val="8A5CBF"/>
            </a:solidFill>
            <a:prstDash val="solid"/>
          </a:ln>
        </p:spPr>
      </p:sp>
      <p:sp>
        <p:nvSpPr>
          <p:cNvPr id="16" name="Shape 14"/>
          <p:cNvSpPr/>
          <p:nvPr/>
        </p:nvSpPr>
        <p:spPr>
          <a:xfrm>
            <a:off x="7179755" y="2948940"/>
            <a:ext cx="685800" cy="685800"/>
          </a:xfrm>
          <a:prstGeom prst="ellipse">
            <a:avLst/>
          </a:prstGeom>
          <a:solidFill>
            <a:srgbClr val="FFB100"/>
          </a:solidFill>
          <a:ln/>
        </p:spPr>
      </p:sp>
      <p:sp>
        <p:nvSpPr>
          <p:cNvPr id="17" name="Text 15"/>
          <p:cNvSpPr/>
          <p:nvPr/>
        </p:nvSpPr>
        <p:spPr>
          <a:xfrm>
            <a:off x="7179755" y="2948940"/>
            <a:ext cx="685800" cy="685800"/>
          </a:xfrm>
          <a:prstGeom prst="rect">
            <a:avLst/>
          </a:prstGeom>
          <a:noFill/>
          <a:ln/>
        </p:spPr>
        <p:txBody>
          <a:bodyPr wrap="square" lIns="0" tIns="0" rIns="0" bIns="0" rtlCol="0" anchor="ctr"/>
          <a:lstStyle/>
          <a:p>
            <a:pPr algn="ctr" indent="0" marL="0">
              <a:buNone/>
            </a:pPr>
            <a:r>
              <a:rPr lang="en-US" sz="2200" b="1" dirty="0">
                <a:solidFill>
                  <a:srgbClr val="082B40"/>
                </a:solidFill>
                <a:latin typeface="Calibri" pitchFamily="34" charset="0"/>
                <a:ea typeface="Calibri" pitchFamily="34" charset="-122"/>
                <a:cs typeface="Calibri" pitchFamily="34" charset="-120"/>
              </a:rPr>
              <a:t>C</a:t>
            </a:r>
            <a:endParaRPr lang="en-US" sz="2200" dirty="0"/>
          </a:p>
        </p:txBody>
      </p:sp>
      <p:sp>
        <p:nvSpPr>
          <p:cNvPr id="18" name="Text 16"/>
          <p:cNvSpPr/>
          <p:nvPr/>
        </p:nvSpPr>
        <p:spPr>
          <a:xfrm>
            <a:off x="6438748" y="3840480"/>
            <a:ext cx="2167814" cy="45720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Accumuli pieni</a:t>
            </a:r>
            <a:endParaRPr lang="en-US" sz="1450" dirty="0"/>
          </a:p>
        </p:txBody>
      </p:sp>
      <p:sp>
        <p:nvSpPr>
          <p:cNvPr id="19" name="Text 17"/>
          <p:cNvSpPr/>
          <p:nvPr/>
        </p:nvSpPr>
        <p:spPr>
          <a:xfrm>
            <a:off x="6438748" y="4343400"/>
            <a:ext cx="2167814" cy="1097280"/>
          </a:xfrm>
          <a:prstGeom prst="rect">
            <a:avLst/>
          </a:prstGeom>
          <a:noFill/>
          <a:ln/>
        </p:spPr>
        <p:txBody>
          <a:bodyPr wrap="square" lIns="0" tIns="0" rIns="0" bIns="0" rtlCol="0" anchor="ctr"/>
          <a:lstStyle/>
          <a:p>
            <a:pPr algn="ctr" indent="0" marL="0">
              <a:lnSpc>
                <a:spcPct val="120000"/>
              </a:lnSpc>
              <a:buNone/>
            </a:pPr>
            <a:r>
              <a:rPr lang="en-US" sz="1150" dirty="0">
                <a:solidFill>
                  <a:srgbClr val="EAF0F3"/>
                </a:solidFill>
                <a:latin typeface="Calibri" pitchFamily="34" charset="0"/>
                <a:ea typeface="Calibri" pitchFamily="34" charset="-122"/>
                <a:cs typeface="Calibri" pitchFamily="34" charset="-120"/>
              </a:rPr>
              <a:t>SoC / SoH iniziali al massimo (0.90 / 1.00)</a:t>
            </a:r>
            <a:endParaRPr lang="en-US" sz="1150" dirty="0"/>
          </a:p>
        </p:txBody>
      </p:sp>
      <p:sp>
        <p:nvSpPr>
          <p:cNvPr id="20" name="Shape 18"/>
          <p:cNvSpPr/>
          <p:nvPr/>
        </p:nvSpPr>
        <p:spPr>
          <a:xfrm>
            <a:off x="9109481" y="2697480"/>
            <a:ext cx="2533574" cy="2834640"/>
          </a:xfrm>
          <a:prstGeom prst="roundRect">
            <a:avLst>
              <a:gd name="adj" fmla="val 2887"/>
            </a:avLst>
          </a:prstGeom>
          <a:solidFill>
            <a:srgbClr val="C0433A"/>
          </a:solidFill>
          <a:ln w="12700">
            <a:solidFill>
              <a:srgbClr val="C0433A"/>
            </a:solidFill>
            <a:prstDash val="solid"/>
          </a:ln>
        </p:spPr>
      </p:sp>
      <p:sp>
        <p:nvSpPr>
          <p:cNvPr id="21" name="Shape 19"/>
          <p:cNvSpPr/>
          <p:nvPr/>
        </p:nvSpPr>
        <p:spPr>
          <a:xfrm>
            <a:off x="10033368" y="2948940"/>
            <a:ext cx="685800" cy="685800"/>
          </a:xfrm>
          <a:prstGeom prst="ellipse">
            <a:avLst/>
          </a:prstGeom>
          <a:solidFill>
            <a:srgbClr val="FFB100"/>
          </a:solidFill>
          <a:ln/>
        </p:spPr>
      </p:sp>
      <p:sp>
        <p:nvSpPr>
          <p:cNvPr id="22" name="Text 20"/>
          <p:cNvSpPr/>
          <p:nvPr/>
        </p:nvSpPr>
        <p:spPr>
          <a:xfrm>
            <a:off x="10033368" y="2948940"/>
            <a:ext cx="685800" cy="685800"/>
          </a:xfrm>
          <a:prstGeom prst="rect">
            <a:avLst/>
          </a:prstGeom>
          <a:noFill/>
          <a:ln/>
        </p:spPr>
        <p:txBody>
          <a:bodyPr wrap="square" lIns="0" tIns="0" rIns="0" bIns="0" rtlCol="0" anchor="ctr"/>
          <a:lstStyle/>
          <a:p>
            <a:pPr algn="ctr" indent="0" marL="0">
              <a:buNone/>
            </a:pPr>
            <a:r>
              <a:rPr lang="en-US" sz="2200" b="1" dirty="0">
                <a:solidFill>
                  <a:srgbClr val="082B40"/>
                </a:solidFill>
                <a:latin typeface="Calibri" pitchFamily="34" charset="0"/>
                <a:ea typeface="Calibri" pitchFamily="34" charset="-122"/>
                <a:cs typeface="Calibri" pitchFamily="34" charset="-120"/>
              </a:rPr>
              <a:t>D</a:t>
            </a:r>
            <a:endParaRPr lang="en-US" sz="2200" dirty="0"/>
          </a:p>
        </p:txBody>
      </p:sp>
      <p:sp>
        <p:nvSpPr>
          <p:cNvPr id="23" name="Text 21"/>
          <p:cNvSpPr/>
          <p:nvPr/>
        </p:nvSpPr>
        <p:spPr>
          <a:xfrm>
            <a:off x="9292361" y="3840480"/>
            <a:ext cx="2167814" cy="457200"/>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Penalità bassa</a:t>
            </a:r>
            <a:endParaRPr lang="en-US" sz="1450" dirty="0"/>
          </a:p>
        </p:txBody>
      </p:sp>
      <p:sp>
        <p:nvSpPr>
          <p:cNvPr id="24" name="Text 22"/>
          <p:cNvSpPr/>
          <p:nvPr/>
        </p:nvSpPr>
        <p:spPr>
          <a:xfrm>
            <a:off x="9292361" y="4343400"/>
            <a:ext cx="2167814" cy="1097280"/>
          </a:xfrm>
          <a:prstGeom prst="rect">
            <a:avLst/>
          </a:prstGeom>
          <a:noFill/>
          <a:ln/>
        </p:spPr>
        <p:txBody>
          <a:bodyPr wrap="square" lIns="0" tIns="0" rIns="0" bIns="0" rtlCol="0" anchor="ctr"/>
          <a:lstStyle/>
          <a:p>
            <a:pPr algn="ctr" indent="0" marL="0">
              <a:lnSpc>
                <a:spcPct val="120000"/>
              </a:lnSpc>
              <a:buNone/>
            </a:pPr>
            <a:r>
              <a:rPr lang="en-US" sz="1150" dirty="0">
                <a:solidFill>
                  <a:srgbClr val="EAF0F3"/>
                </a:solidFill>
                <a:latin typeface="Calibri" pitchFamily="34" charset="0"/>
                <a:ea typeface="Calibri" pitchFamily="34" charset="-122"/>
                <a:cs typeface="Calibri" pitchFamily="34" charset="-120"/>
              </a:rPr>
              <a:t>Come C, ma penalità curtailment quasi nulla (0.01)</a:t>
            </a:r>
            <a:endParaRPr lang="en-US" sz="1150" dirty="0"/>
          </a:p>
        </p:txBody>
      </p:sp>
      <p:sp>
        <p:nvSpPr>
          <p:cNvPr id="25" name="Shape 23"/>
          <p:cNvSpPr/>
          <p:nvPr/>
        </p:nvSpPr>
        <p:spPr>
          <a:xfrm>
            <a:off x="1216152" y="5833872"/>
            <a:ext cx="310896" cy="310896"/>
          </a:xfrm>
          <a:prstGeom prst="ellipse">
            <a:avLst/>
          </a:prstGeom>
          <a:solidFill>
            <a:srgbClr val="1C7293"/>
          </a:solidFill>
          <a:ln/>
        </p:spPr>
      </p:sp>
      <p:sp>
        <p:nvSpPr>
          <p:cNvPr id="26" name="Text 24"/>
          <p:cNvSpPr/>
          <p:nvPr/>
        </p:nvSpPr>
        <p:spPr>
          <a:xfrm>
            <a:off x="1216152" y="583387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G</a:t>
            </a:r>
            <a:endParaRPr lang="en-US" sz="1200" dirty="0"/>
          </a:p>
        </p:txBody>
      </p:sp>
      <p:sp>
        <p:nvSpPr>
          <p:cNvPr id="27" name="Text 25"/>
          <p:cNvSpPr/>
          <p:nvPr/>
        </p:nvSpPr>
        <p:spPr>
          <a:xfrm>
            <a:off x="1691640" y="5806440"/>
            <a:ext cx="2926080" cy="365760"/>
          </a:xfrm>
          <a:prstGeom prst="rect">
            <a:avLst/>
          </a:prstGeom>
          <a:noFill/>
          <a:ln/>
        </p:spPr>
        <p:txBody>
          <a:bodyPr wrap="square" lIns="0" tIns="0" rIns="0" bIns="0" rtlCol="0" anchor="ctr"/>
          <a:lstStyle/>
          <a:p>
            <a:pPr indent="0" marL="0">
              <a:buNone/>
            </a:pPr>
            <a:r>
              <a:rPr lang="en-US" sz="1150" dirty="0">
                <a:solidFill>
                  <a:srgbClr val="6B7A85"/>
                </a:solidFill>
                <a:latin typeface="Calibri" pitchFamily="34" charset="0"/>
                <a:ea typeface="Calibri" pitchFamily="34" charset="-122"/>
                <a:cs typeface="Calibri" pitchFamily="34" charset="-120"/>
              </a:rPr>
              <a:t>Gurobi (solver commerciale)</a:t>
            </a:r>
            <a:endParaRPr lang="en-US" sz="1150" dirty="0"/>
          </a:p>
        </p:txBody>
      </p:sp>
      <p:sp>
        <p:nvSpPr>
          <p:cNvPr id="28" name="Shape 26"/>
          <p:cNvSpPr/>
          <p:nvPr/>
        </p:nvSpPr>
        <p:spPr>
          <a:xfrm>
            <a:off x="5605272" y="5833872"/>
            <a:ext cx="310896" cy="310896"/>
          </a:xfrm>
          <a:prstGeom prst="ellipse">
            <a:avLst/>
          </a:prstGeom>
          <a:solidFill>
            <a:srgbClr val="0B3D59"/>
          </a:solidFill>
          <a:ln/>
        </p:spPr>
      </p:sp>
      <p:sp>
        <p:nvSpPr>
          <p:cNvPr id="29" name="Text 27"/>
          <p:cNvSpPr/>
          <p:nvPr/>
        </p:nvSpPr>
        <p:spPr>
          <a:xfrm>
            <a:off x="5605272" y="5833872"/>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t>
            </a:r>
            <a:endParaRPr lang="en-US" sz="1200" dirty="0"/>
          </a:p>
        </p:txBody>
      </p:sp>
      <p:sp>
        <p:nvSpPr>
          <p:cNvPr id="30" name="Text 28"/>
          <p:cNvSpPr/>
          <p:nvPr/>
        </p:nvSpPr>
        <p:spPr>
          <a:xfrm>
            <a:off x="6080760" y="5806440"/>
            <a:ext cx="2926080" cy="365760"/>
          </a:xfrm>
          <a:prstGeom prst="rect">
            <a:avLst/>
          </a:prstGeom>
          <a:noFill/>
          <a:ln/>
        </p:spPr>
        <p:txBody>
          <a:bodyPr wrap="square" lIns="0" tIns="0" rIns="0" bIns="0" rtlCol="0" anchor="ctr"/>
          <a:lstStyle/>
          <a:p>
            <a:pPr indent="0" marL="0">
              <a:buNone/>
            </a:pPr>
            <a:r>
              <a:rPr lang="en-US" sz="1150" dirty="0">
                <a:solidFill>
                  <a:srgbClr val="6B7A85"/>
                </a:solidFill>
                <a:latin typeface="Calibri" pitchFamily="34" charset="0"/>
                <a:ea typeface="Calibri" pitchFamily="34" charset="-122"/>
                <a:cs typeface="Calibri" pitchFamily="34" charset="-120"/>
              </a:rPr>
              <a:t>HiGHS (solver open-source)</a:t>
            </a:r>
            <a:endParaRPr lang="en-US" sz="1150" dirty="0"/>
          </a:p>
        </p:txBody>
      </p:sp>
      <p:sp>
        <p:nvSpPr>
          <p:cNvPr id="32" name="Text 29"/>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A85"/>
                </a:solidFill>
                <a:latin typeface="Calibri" pitchFamily="34" charset="0"/>
                <a:ea typeface="Calibri" pitchFamily="34" charset="-122"/>
                <a:cs typeface="Calibri" pitchFamily="34" charset="-120"/>
              </a:rPr>
              <a:t>Project 16 — Controllo MPC di un sistema energetico industriale</a:t>
            </a:r>
            <a:endParaRPr lang="en-US" sz="900" dirty="0"/>
          </a:p>
        </p:txBody>
      </p:sp>
      <p:sp>
        <p:nvSpPr>
          <p:cNvPr id="33" name="Text 30"/>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6B7A85"/>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4415"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06 · ESPERIMENTI E RISULTATI</a:t>
            </a:r>
            <a:endParaRPr lang="en-US" sz="1300" dirty="0"/>
          </a:p>
        </p:txBody>
      </p:sp>
      <p:sp>
        <p:nvSpPr>
          <p:cNvPr id="3" name="Text 1"/>
          <p:cNvSpPr/>
          <p:nvPr/>
        </p:nvSpPr>
        <p:spPr>
          <a:xfrm>
            <a:off x="548640" y="713232"/>
            <a:ext cx="11094415" cy="640080"/>
          </a:xfrm>
          <a:prstGeom prst="rect">
            <a:avLst/>
          </a:prstGeom>
          <a:noFill/>
          <a:ln/>
        </p:spPr>
        <p:txBody>
          <a:bodyPr wrap="square" lIns="0" tIns="0" rIns="0" bIns="0" rtlCol="0" anchor="ctr"/>
          <a:lstStyle/>
          <a:p>
            <a:pPr indent="0" marL="0">
              <a:buNone/>
            </a:pPr>
            <a:r>
              <a:rPr lang="en-US" sz="2600" b="1" dirty="0">
                <a:solidFill>
                  <a:srgbClr val="0B3D59"/>
                </a:solidFill>
                <a:latin typeface="Cambria" pitchFamily="34" charset="0"/>
                <a:ea typeface="Cambria" pitchFamily="34" charset="-122"/>
                <a:cs typeface="Cambria" pitchFamily="34" charset="-120"/>
              </a:rPr>
              <a:t>Un esperimento, visto ora per ora</a:t>
            </a:r>
            <a:endParaRPr lang="en-US" sz="2600" dirty="0"/>
          </a:p>
        </p:txBody>
      </p:sp>
      <p:pic>
        <p:nvPicPr>
          <p:cNvPr id="4" name="Image 0" descr="/Users/claudia/Desktop/Innovazione/power-grid-optimization/esperimenti_anno(gurobi)/expA_baseline/project16_plots.png">    </p:cNvPr>
          <p:cNvPicPr>
            <a:picLocks noChangeAspect="1"/>
          </p:cNvPicPr>
          <p:nvPr/>
        </p:nvPicPr>
        <p:blipFill>
          <a:blip r:embed="rId1"/>
          <a:stretch>
            <a:fillRect/>
          </a:stretch>
        </p:blipFill>
        <p:spPr>
          <a:xfrm>
            <a:off x="548640" y="1783080"/>
            <a:ext cx="3291840" cy="3762103"/>
          </a:xfrm>
          <a:prstGeom prst="rect">
            <a:avLst/>
          </a:prstGeom>
          <a:effectLst>
            <a:outerShdw sx="100000" sy="100000" kx="0" ky="0" algn="bl" rotWithShape="0" blurRad="76200" dist="25400" dir="5400000">
              <a:srgbClr val="9AA7AF">
                <a:alpha val="30000"/>
              </a:srgbClr>
            </a:outerShdw>
          </a:effectLst>
        </p:spPr>
      </p:pic>
      <p:sp>
        <p:nvSpPr>
          <p:cNvPr id="5" name="Shape 2"/>
          <p:cNvSpPr/>
          <p:nvPr/>
        </p:nvSpPr>
        <p:spPr>
          <a:xfrm>
            <a:off x="4297680" y="1783080"/>
            <a:ext cx="7345375" cy="960120"/>
          </a:xfrm>
          <a:prstGeom prst="roundRect">
            <a:avLst>
              <a:gd name="adj" fmla="val 7619"/>
            </a:avLst>
          </a:prstGeom>
          <a:solidFill>
            <a:srgbClr val="F1F5F8"/>
          </a:solidFill>
          <a:ln w="12700">
            <a:solidFill>
              <a:srgbClr val="DCE6EC"/>
            </a:solidFill>
            <a:prstDash val="solid"/>
          </a:ln>
        </p:spPr>
      </p:sp>
      <p:sp>
        <p:nvSpPr>
          <p:cNvPr id="6" name="Shape 3"/>
          <p:cNvSpPr/>
          <p:nvPr/>
        </p:nvSpPr>
        <p:spPr>
          <a:xfrm>
            <a:off x="4297680" y="1783080"/>
            <a:ext cx="109728" cy="960120"/>
          </a:xfrm>
          <a:prstGeom prst="roundRect">
            <a:avLst/>
          </a:prstGeom>
          <a:solidFill>
            <a:srgbClr val="1C7293"/>
          </a:solidFill>
          <a:ln/>
        </p:spPr>
      </p:sp>
      <p:sp>
        <p:nvSpPr>
          <p:cNvPr id="7" name="Text 4"/>
          <p:cNvSpPr/>
          <p:nvPr/>
        </p:nvSpPr>
        <p:spPr>
          <a:xfrm>
            <a:off x="4572000" y="1874520"/>
            <a:ext cx="6842455" cy="292608"/>
          </a:xfrm>
          <a:prstGeom prst="rect">
            <a:avLst/>
          </a:prstGeom>
          <a:noFill/>
          <a:ln/>
        </p:spPr>
        <p:txBody>
          <a:bodyPr wrap="square" lIns="0" tIns="0" rIns="0" bIns="0" rtlCol="0" anchor="ctr"/>
          <a:lstStyle/>
          <a:p>
            <a:pPr indent="0" marL="0">
              <a:buNone/>
            </a:pPr>
            <a:r>
              <a:rPr lang="en-US" sz="1250" b="1" dirty="0">
                <a:solidFill>
                  <a:srgbClr val="0B3D59"/>
                </a:solidFill>
                <a:latin typeface="Calibri" pitchFamily="34" charset="0"/>
                <a:ea typeface="Calibri" pitchFamily="34" charset="-122"/>
                <a:cs typeface="Calibri" pitchFamily="34" charset="-120"/>
              </a:rPr>
              <a:t>Produzione e carico</a:t>
            </a:r>
            <a:endParaRPr lang="en-US" sz="1250" dirty="0"/>
          </a:p>
        </p:txBody>
      </p:sp>
      <p:sp>
        <p:nvSpPr>
          <p:cNvPr id="8" name="Text 5"/>
          <p:cNvSpPr/>
          <p:nvPr/>
        </p:nvSpPr>
        <p:spPr>
          <a:xfrm>
            <a:off x="4572000" y="2167128"/>
            <a:ext cx="6842455" cy="502920"/>
          </a:xfrm>
          <a:prstGeom prst="rect">
            <a:avLst/>
          </a:prstGeom>
          <a:noFill/>
          <a:ln/>
        </p:spPr>
        <p:txBody>
          <a:bodyPr wrap="square" lIns="0" tIns="0" rIns="0" bIns="0" rtlCol="0" anchor="ctr"/>
          <a:lstStyle/>
          <a:p>
            <a:pPr indent="0" marL="0">
              <a:lnSpc>
                <a:spcPct val="112000"/>
              </a:lnSpc>
              <a:buNone/>
            </a:pPr>
            <a:r>
              <a:rPr lang="en-US" sz="1050" dirty="0">
                <a:solidFill>
                  <a:srgbClr val="20303D"/>
                </a:solidFill>
                <a:latin typeface="Calibri" pitchFamily="34" charset="0"/>
                <a:ea typeface="Calibri" pitchFamily="34" charset="-122"/>
                <a:cs typeface="Calibri" pitchFamily="34" charset="-120"/>
              </a:rPr>
              <a:t>Rinnovabile vs. carico vs. curtailment: nel grafico il curtailment resta pressoché a zero per tutto l'anno.</a:t>
            </a:r>
            <a:endParaRPr lang="en-US" sz="1050" dirty="0"/>
          </a:p>
        </p:txBody>
      </p:sp>
      <p:sp>
        <p:nvSpPr>
          <p:cNvPr id="9" name="Shape 6"/>
          <p:cNvSpPr/>
          <p:nvPr/>
        </p:nvSpPr>
        <p:spPr>
          <a:xfrm>
            <a:off x="4297680" y="2880360"/>
            <a:ext cx="7345375" cy="960120"/>
          </a:xfrm>
          <a:prstGeom prst="roundRect">
            <a:avLst>
              <a:gd name="adj" fmla="val 7619"/>
            </a:avLst>
          </a:prstGeom>
          <a:solidFill>
            <a:srgbClr val="F1F5F8"/>
          </a:solidFill>
          <a:ln w="12700">
            <a:solidFill>
              <a:srgbClr val="DCE6EC"/>
            </a:solidFill>
            <a:prstDash val="solid"/>
          </a:ln>
        </p:spPr>
      </p:sp>
      <p:sp>
        <p:nvSpPr>
          <p:cNvPr id="10" name="Shape 7"/>
          <p:cNvSpPr/>
          <p:nvPr/>
        </p:nvSpPr>
        <p:spPr>
          <a:xfrm>
            <a:off x="4297680" y="2880360"/>
            <a:ext cx="109728" cy="960120"/>
          </a:xfrm>
          <a:prstGeom prst="roundRect">
            <a:avLst/>
          </a:prstGeom>
          <a:solidFill>
            <a:srgbClr val="0B3D59"/>
          </a:solidFill>
          <a:ln/>
        </p:spPr>
      </p:sp>
      <p:sp>
        <p:nvSpPr>
          <p:cNvPr id="11" name="Text 8"/>
          <p:cNvSpPr/>
          <p:nvPr/>
        </p:nvSpPr>
        <p:spPr>
          <a:xfrm>
            <a:off x="4572000" y="2971800"/>
            <a:ext cx="6842455" cy="292608"/>
          </a:xfrm>
          <a:prstGeom prst="rect">
            <a:avLst/>
          </a:prstGeom>
          <a:noFill/>
          <a:ln/>
        </p:spPr>
        <p:txBody>
          <a:bodyPr wrap="square" lIns="0" tIns="0" rIns="0" bIns="0" rtlCol="0" anchor="ctr"/>
          <a:lstStyle/>
          <a:p>
            <a:pPr indent="0" marL="0">
              <a:buNone/>
            </a:pPr>
            <a:r>
              <a:rPr lang="en-US" sz="1250" b="1" dirty="0">
                <a:solidFill>
                  <a:srgbClr val="0B3D59"/>
                </a:solidFill>
                <a:latin typeface="Calibri" pitchFamily="34" charset="0"/>
                <a:ea typeface="Calibri" pitchFamily="34" charset="-122"/>
                <a:cs typeface="Calibri" pitchFamily="34" charset="-120"/>
              </a:rPr>
              <a:t>Scambi controllati</a:t>
            </a:r>
            <a:endParaRPr lang="en-US" sz="1250" dirty="0"/>
          </a:p>
        </p:txBody>
      </p:sp>
      <p:sp>
        <p:nvSpPr>
          <p:cNvPr id="12" name="Text 9"/>
          <p:cNvSpPr/>
          <p:nvPr/>
        </p:nvSpPr>
        <p:spPr>
          <a:xfrm>
            <a:off x="4572000" y="3264408"/>
            <a:ext cx="6842455" cy="502920"/>
          </a:xfrm>
          <a:prstGeom prst="rect">
            <a:avLst/>
          </a:prstGeom>
          <a:noFill/>
          <a:ln/>
        </p:spPr>
        <p:txBody>
          <a:bodyPr wrap="square" lIns="0" tIns="0" rIns="0" bIns="0" rtlCol="0" anchor="ctr"/>
          <a:lstStyle/>
          <a:p>
            <a:pPr indent="0" marL="0">
              <a:lnSpc>
                <a:spcPct val="112000"/>
              </a:lnSpc>
              <a:buNone/>
            </a:pPr>
            <a:r>
              <a:rPr lang="en-US" sz="1050" dirty="0">
                <a:solidFill>
                  <a:srgbClr val="20303D"/>
                </a:solidFill>
                <a:latin typeface="Calibri" pitchFamily="34" charset="0"/>
                <a:ea typeface="Calibri" pitchFamily="34" charset="-122"/>
                <a:cs typeface="Calibri" pitchFamily="34" charset="-120"/>
              </a:rPr>
              <a:t>Import/export dalla rete, carica/scarica batteria, idrogeno: come si copre ogni ora il fabbisogno.</a:t>
            </a:r>
            <a:endParaRPr lang="en-US" sz="1050" dirty="0"/>
          </a:p>
        </p:txBody>
      </p:sp>
      <p:sp>
        <p:nvSpPr>
          <p:cNvPr id="13" name="Shape 10"/>
          <p:cNvSpPr/>
          <p:nvPr/>
        </p:nvSpPr>
        <p:spPr>
          <a:xfrm>
            <a:off x="4297680" y="3977640"/>
            <a:ext cx="7345375" cy="960120"/>
          </a:xfrm>
          <a:prstGeom prst="roundRect">
            <a:avLst>
              <a:gd name="adj" fmla="val 7619"/>
            </a:avLst>
          </a:prstGeom>
          <a:solidFill>
            <a:srgbClr val="F1F5F8"/>
          </a:solidFill>
          <a:ln w="12700">
            <a:solidFill>
              <a:srgbClr val="DCE6EC"/>
            </a:solidFill>
            <a:prstDash val="solid"/>
          </a:ln>
        </p:spPr>
      </p:sp>
      <p:sp>
        <p:nvSpPr>
          <p:cNvPr id="14" name="Shape 11"/>
          <p:cNvSpPr/>
          <p:nvPr/>
        </p:nvSpPr>
        <p:spPr>
          <a:xfrm>
            <a:off x="4297680" y="3977640"/>
            <a:ext cx="109728" cy="960120"/>
          </a:xfrm>
          <a:prstGeom prst="roundRect">
            <a:avLst/>
          </a:prstGeom>
          <a:solidFill>
            <a:srgbClr val="8A5CBF"/>
          </a:solidFill>
          <a:ln/>
        </p:spPr>
      </p:sp>
      <p:sp>
        <p:nvSpPr>
          <p:cNvPr id="15" name="Text 12"/>
          <p:cNvSpPr/>
          <p:nvPr/>
        </p:nvSpPr>
        <p:spPr>
          <a:xfrm>
            <a:off x="4572000" y="4069080"/>
            <a:ext cx="6842455" cy="292608"/>
          </a:xfrm>
          <a:prstGeom prst="rect">
            <a:avLst/>
          </a:prstGeom>
          <a:noFill/>
          <a:ln/>
        </p:spPr>
        <p:txBody>
          <a:bodyPr wrap="square" lIns="0" tIns="0" rIns="0" bIns="0" rtlCol="0" anchor="ctr"/>
          <a:lstStyle/>
          <a:p>
            <a:pPr indent="0" marL="0">
              <a:buNone/>
            </a:pPr>
            <a:r>
              <a:rPr lang="en-US" sz="1250" b="1" dirty="0">
                <a:solidFill>
                  <a:srgbClr val="0B3D59"/>
                </a:solidFill>
                <a:latin typeface="Calibri" pitchFamily="34" charset="0"/>
                <a:ea typeface="Calibri" pitchFamily="34" charset="-122"/>
                <a:cs typeface="Calibri" pitchFamily="34" charset="-120"/>
              </a:rPr>
              <a:t>Livello degli accumuli</a:t>
            </a:r>
            <a:endParaRPr lang="en-US" sz="1250" dirty="0"/>
          </a:p>
        </p:txBody>
      </p:sp>
      <p:sp>
        <p:nvSpPr>
          <p:cNvPr id="16" name="Text 13"/>
          <p:cNvSpPr/>
          <p:nvPr/>
        </p:nvSpPr>
        <p:spPr>
          <a:xfrm>
            <a:off x="4572000" y="4361688"/>
            <a:ext cx="6842455" cy="502920"/>
          </a:xfrm>
          <a:prstGeom prst="rect">
            <a:avLst/>
          </a:prstGeom>
          <a:noFill/>
          <a:ln/>
        </p:spPr>
        <p:txBody>
          <a:bodyPr wrap="square" lIns="0" tIns="0" rIns="0" bIns="0" rtlCol="0" anchor="ctr"/>
          <a:lstStyle/>
          <a:p>
            <a:pPr indent="0" marL="0">
              <a:lnSpc>
                <a:spcPct val="112000"/>
              </a:lnSpc>
              <a:buNone/>
            </a:pPr>
            <a:r>
              <a:rPr lang="en-US" sz="1050" dirty="0">
                <a:solidFill>
                  <a:srgbClr val="20303D"/>
                </a:solidFill>
                <a:latin typeface="Calibri" pitchFamily="34" charset="0"/>
                <a:ea typeface="Calibri" pitchFamily="34" charset="-122"/>
                <a:cs typeface="Calibri" pitchFamily="34" charset="-120"/>
              </a:rPr>
              <a:t>SoC della batteria e SoH dell'idrogeno restano sempre entro i limiti imposti.</a:t>
            </a:r>
            <a:endParaRPr lang="en-US" sz="1050" dirty="0"/>
          </a:p>
        </p:txBody>
      </p:sp>
      <p:sp>
        <p:nvSpPr>
          <p:cNvPr id="17" name="Shape 14"/>
          <p:cNvSpPr/>
          <p:nvPr/>
        </p:nvSpPr>
        <p:spPr>
          <a:xfrm>
            <a:off x="4297680" y="5074920"/>
            <a:ext cx="7345375" cy="960120"/>
          </a:xfrm>
          <a:prstGeom prst="roundRect">
            <a:avLst>
              <a:gd name="adj" fmla="val 7619"/>
            </a:avLst>
          </a:prstGeom>
          <a:solidFill>
            <a:srgbClr val="F1F5F8"/>
          </a:solidFill>
          <a:ln w="12700">
            <a:solidFill>
              <a:srgbClr val="DCE6EC"/>
            </a:solidFill>
            <a:prstDash val="solid"/>
          </a:ln>
        </p:spPr>
      </p:sp>
      <p:sp>
        <p:nvSpPr>
          <p:cNvPr id="18" name="Shape 15"/>
          <p:cNvSpPr/>
          <p:nvPr/>
        </p:nvSpPr>
        <p:spPr>
          <a:xfrm>
            <a:off x="4297680" y="5074920"/>
            <a:ext cx="109728" cy="960120"/>
          </a:xfrm>
          <a:prstGeom prst="roundRect">
            <a:avLst/>
          </a:prstGeom>
          <a:solidFill>
            <a:srgbClr val="FFB100"/>
          </a:solidFill>
          <a:ln/>
        </p:spPr>
      </p:sp>
      <p:sp>
        <p:nvSpPr>
          <p:cNvPr id="19" name="Text 16"/>
          <p:cNvSpPr/>
          <p:nvPr/>
        </p:nvSpPr>
        <p:spPr>
          <a:xfrm>
            <a:off x="4572000" y="5166360"/>
            <a:ext cx="6842455" cy="292608"/>
          </a:xfrm>
          <a:prstGeom prst="rect">
            <a:avLst/>
          </a:prstGeom>
          <a:noFill/>
          <a:ln/>
        </p:spPr>
        <p:txBody>
          <a:bodyPr wrap="square" lIns="0" tIns="0" rIns="0" bIns="0" rtlCol="0" anchor="ctr"/>
          <a:lstStyle/>
          <a:p>
            <a:pPr indent="0" marL="0">
              <a:buNone/>
            </a:pPr>
            <a:r>
              <a:rPr lang="en-US" sz="1250" b="1" dirty="0">
                <a:solidFill>
                  <a:srgbClr val="0B3D59"/>
                </a:solidFill>
                <a:latin typeface="Calibri" pitchFamily="34" charset="0"/>
                <a:ea typeface="Calibri" pitchFamily="34" charset="-122"/>
                <a:cs typeface="Calibri" pitchFamily="34" charset="-120"/>
              </a:rPr>
              <a:t>Costo cumulativo</a:t>
            </a:r>
            <a:endParaRPr lang="en-US" sz="1250" dirty="0"/>
          </a:p>
        </p:txBody>
      </p:sp>
      <p:sp>
        <p:nvSpPr>
          <p:cNvPr id="20" name="Text 17"/>
          <p:cNvSpPr/>
          <p:nvPr/>
        </p:nvSpPr>
        <p:spPr>
          <a:xfrm>
            <a:off x="4572000" y="5458968"/>
            <a:ext cx="6842455" cy="502920"/>
          </a:xfrm>
          <a:prstGeom prst="rect">
            <a:avLst/>
          </a:prstGeom>
          <a:noFill/>
          <a:ln/>
        </p:spPr>
        <p:txBody>
          <a:bodyPr wrap="square" lIns="0" tIns="0" rIns="0" bIns="0" rtlCol="0" anchor="ctr"/>
          <a:lstStyle/>
          <a:p>
            <a:pPr indent="0" marL="0">
              <a:lnSpc>
                <a:spcPct val="112000"/>
              </a:lnSpc>
              <a:buNone/>
            </a:pPr>
            <a:r>
              <a:rPr lang="en-US" sz="1050" dirty="0">
                <a:solidFill>
                  <a:srgbClr val="20303D"/>
                </a:solidFill>
                <a:latin typeface="Calibri" pitchFamily="34" charset="0"/>
                <a:ea typeface="Calibri" pitchFamily="34" charset="-122"/>
                <a:cs typeface="Calibri" pitchFamily="34" charset="-120"/>
              </a:rPr>
              <a:t>Il costo netto di mercato cresce in modo pressoché lineare nel corso dell'anno.</a:t>
            </a:r>
            <a:endParaRPr lang="en-US" sz="1050" dirty="0"/>
          </a:p>
        </p:txBody>
      </p:sp>
      <p:sp>
        <p:nvSpPr>
          <p:cNvPr id="21" name="Text 18"/>
          <p:cNvSpPr/>
          <p:nvPr/>
        </p:nvSpPr>
        <p:spPr>
          <a:xfrm>
            <a:off x="548640" y="5897880"/>
            <a:ext cx="3291840" cy="365760"/>
          </a:xfrm>
          <a:prstGeom prst="rect">
            <a:avLst/>
          </a:prstGeom>
          <a:noFill/>
          <a:ln/>
        </p:spPr>
        <p:txBody>
          <a:bodyPr wrap="square" lIns="0" tIns="0" rIns="0" bIns="0" rtlCol="0" anchor="ctr"/>
          <a:lstStyle/>
          <a:p>
            <a:pPr indent="0" marL="0">
              <a:buNone/>
            </a:pPr>
            <a:r>
              <a:rPr lang="en-US" sz="1000" i="1" dirty="0">
                <a:solidFill>
                  <a:srgbClr val="6B7A85"/>
                </a:solidFill>
                <a:latin typeface="Calibri" pitchFamily="34" charset="0"/>
                <a:ea typeface="Calibri" pitchFamily="34" charset="-122"/>
                <a:cs typeface="Calibri" pitchFamily="34" charset="-120"/>
              </a:rPr>
              <a:t>Esperimento A (baseline), solver Gurobi — simulazione sull'intero anno (6529 ore)</a:t>
            </a:r>
            <a:endParaRPr lang="en-US" sz="1000" dirty="0"/>
          </a:p>
        </p:txBody>
      </p:sp>
      <p:sp>
        <p:nvSpPr>
          <p:cNvPr id="23" name="Text 19"/>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A85"/>
                </a:solidFill>
                <a:latin typeface="Calibri" pitchFamily="34" charset="0"/>
                <a:ea typeface="Calibri" pitchFamily="34" charset="-122"/>
                <a:cs typeface="Calibri" pitchFamily="34" charset="-120"/>
              </a:rPr>
              <a:t>Project 16 — Controllo MPC di un sistema energetico industriale</a:t>
            </a:r>
            <a:endParaRPr lang="en-US" sz="900" dirty="0"/>
          </a:p>
        </p:txBody>
      </p:sp>
      <p:sp>
        <p:nvSpPr>
          <p:cNvPr id="24" name="Text 20"/>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6B7A85"/>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4415"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06 · ESPERIMENTI E RISULTATI</a:t>
            </a:r>
            <a:endParaRPr lang="en-US" sz="1300" dirty="0"/>
          </a:p>
        </p:txBody>
      </p:sp>
      <p:sp>
        <p:nvSpPr>
          <p:cNvPr id="3" name="Text 1"/>
          <p:cNvSpPr/>
          <p:nvPr/>
        </p:nvSpPr>
        <p:spPr>
          <a:xfrm>
            <a:off x="548640" y="713232"/>
            <a:ext cx="11094415" cy="777240"/>
          </a:xfrm>
          <a:prstGeom prst="rect">
            <a:avLst/>
          </a:prstGeom>
          <a:noFill/>
          <a:ln/>
        </p:spPr>
        <p:txBody>
          <a:bodyPr wrap="square" lIns="0" tIns="0" rIns="0" bIns="0" rtlCol="0" anchor="ctr"/>
          <a:lstStyle/>
          <a:p>
            <a:pPr indent="0" marL="0">
              <a:buNone/>
            </a:pPr>
            <a:r>
              <a:rPr lang="en-US" sz="3000" b="1" dirty="0">
                <a:solidFill>
                  <a:srgbClr val="0B3D59"/>
                </a:solidFill>
                <a:latin typeface="Cambria" pitchFamily="34" charset="0"/>
                <a:ea typeface="Cambria" pitchFamily="34" charset="-122"/>
                <a:cs typeface="Cambria" pitchFamily="34" charset="-120"/>
              </a:rPr>
              <a:t>Il costo cambia pochissimo tra scenari e solver</a:t>
            </a:r>
            <a:endParaRPr lang="en-US" sz="3000" dirty="0"/>
          </a:p>
        </p:txBody>
      </p:sp>
      <p:graphicFrame>
        <p:nvGraphicFramePr>
          <p:cNvPr id="4" name="Chart 0" descr=""/>
          <p:cNvGraphicFramePr/>
          <p:nvPr/>
        </p:nvGraphicFramePr>
        <p:xfrm>
          <a:off x="548640" y="1828800"/>
          <a:ext cx="7863840" cy="42062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9052560" y="1828800"/>
            <a:ext cx="2590495" cy="4206240"/>
          </a:xfrm>
          <a:prstGeom prst="roundRect">
            <a:avLst>
              <a:gd name="adj" fmla="val 2824"/>
            </a:avLst>
          </a:prstGeom>
          <a:solidFill>
            <a:srgbClr val="0B3D59"/>
          </a:solidFill>
          <a:ln w="12700">
            <a:solidFill>
              <a:srgbClr val="0B3D59"/>
            </a:solidFill>
            <a:prstDash val="solid"/>
          </a:ln>
        </p:spPr>
      </p:sp>
      <p:sp>
        <p:nvSpPr>
          <p:cNvPr id="6" name="Text 3"/>
          <p:cNvSpPr/>
          <p:nvPr/>
        </p:nvSpPr>
        <p:spPr>
          <a:xfrm>
            <a:off x="9281160" y="2148840"/>
            <a:ext cx="2133295" cy="731520"/>
          </a:xfrm>
          <a:prstGeom prst="rect">
            <a:avLst/>
          </a:prstGeom>
          <a:noFill/>
          <a:ln/>
        </p:spPr>
        <p:txBody>
          <a:bodyPr wrap="square" lIns="0" tIns="0" rIns="0" bIns="0" rtlCol="0" anchor="ctr"/>
          <a:lstStyle/>
          <a:p>
            <a:pPr algn="ctr" indent="0" marL="0">
              <a:buNone/>
            </a:pPr>
            <a:r>
              <a:rPr lang="en-US" sz="3400" b="1" dirty="0">
                <a:solidFill>
                  <a:srgbClr val="FFB100"/>
                </a:solidFill>
                <a:latin typeface="Cambria" pitchFamily="34" charset="0"/>
                <a:ea typeface="Cambria" pitchFamily="34" charset="-122"/>
                <a:cs typeface="Cambria" pitchFamily="34" charset="-120"/>
              </a:rPr>
              <a:t>0 MWh</a:t>
            </a:r>
            <a:endParaRPr lang="en-US" sz="3400" dirty="0"/>
          </a:p>
        </p:txBody>
      </p:sp>
      <p:sp>
        <p:nvSpPr>
          <p:cNvPr id="7" name="Text 4"/>
          <p:cNvSpPr/>
          <p:nvPr/>
        </p:nvSpPr>
        <p:spPr>
          <a:xfrm>
            <a:off x="9281160" y="2926080"/>
            <a:ext cx="2133295" cy="822960"/>
          </a:xfrm>
          <a:prstGeom prst="rect">
            <a:avLst/>
          </a:prstGeom>
          <a:noFill/>
          <a:ln/>
        </p:spPr>
        <p:txBody>
          <a:bodyPr wrap="square" lIns="0" tIns="0" rIns="0" bIns="0" rtlCol="0" anchor="ctr"/>
          <a:lstStyle/>
          <a:p>
            <a:pPr algn="ctr" indent="0" marL="0">
              <a:lnSpc>
                <a:spcPct val="120000"/>
              </a:lnSpc>
              <a:buNone/>
            </a:pPr>
            <a:r>
              <a:rPr lang="en-US" sz="1250" dirty="0">
                <a:solidFill>
                  <a:srgbClr val="FFFFFF"/>
                </a:solidFill>
                <a:latin typeface="Calibri" pitchFamily="34" charset="0"/>
                <a:ea typeface="Calibri" pitchFamily="34" charset="-122"/>
                <a:cs typeface="Calibri" pitchFamily="34" charset="-120"/>
              </a:rPr>
              <a:t>curtailment in TUTTI e 4 gli scenari, con entrambi i solver</a:t>
            </a:r>
            <a:endParaRPr lang="en-US" sz="1250" dirty="0"/>
          </a:p>
        </p:txBody>
      </p:sp>
      <p:sp>
        <p:nvSpPr>
          <p:cNvPr id="8" name="Shape 5"/>
          <p:cNvSpPr/>
          <p:nvPr/>
        </p:nvSpPr>
        <p:spPr>
          <a:xfrm>
            <a:off x="9418320" y="3886200"/>
            <a:ext cx="1858975" cy="914"/>
          </a:xfrm>
          <a:prstGeom prst="line">
            <a:avLst/>
          </a:prstGeom>
          <a:noFill/>
          <a:ln w="12700">
            <a:solidFill>
              <a:srgbClr val="2E5975"/>
            </a:solidFill>
            <a:prstDash val="solid"/>
          </a:ln>
        </p:spPr>
      </p:sp>
      <p:sp>
        <p:nvSpPr>
          <p:cNvPr id="9" name="Text 6"/>
          <p:cNvSpPr/>
          <p:nvPr/>
        </p:nvSpPr>
        <p:spPr>
          <a:xfrm>
            <a:off x="9281160" y="4069080"/>
            <a:ext cx="2133295"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&lt; 0,01%</a:t>
            </a:r>
            <a:endParaRPr lang="en-US" sz="2200" dirty="0"/>
          </a:p>
        </p:txBody>
      </p:sp>
      <p:sp>
        <p:nvSpPr>
          <p:cNvPr id="10" name="Text 7"/>
          <p:cNvSpPr/>
          <p:nvPr/>
        </p:nvSpPr>
        <p:spPr>
          <a:xfrm>
            <a:off x="9281160" y="4617720"/>
            <a:ext cx="2133295" cy="640080"/>
          </a:xfrm>
          <a:prstGeom prst="rect">
            <a:avLst/>
          </a:prstGeom>
          <a:noFill/>
          <a:ln/>
        </p:spPr>
        <p:txBody>
          <a:bodyPr wrap="square" lIns="0" tIns="0" rIns="0" bIns="0" rtlCol="0" anchor="ctr"/>
          <a:lstStyle/>
          <a:p>
            <a:pPr algn="ctr" indent="0" marL="0">
              <a:lnSpc>
                <a:spcPct val="115000"/>
              </a:lnSpc>
              <a:buNone/>
            </a:pPr>
            <a:r>
              <a:rPr lang="en-US" sz="1200" dirty="0">
                <a:solidFill>
                  <a:srgbClr val="CADCE8"/>
                </a:solidFill>
                <a:latin typeface="Calibri" pitchFamily="34" charset="0"/>
                <a:ea typeface="Calibri" pitchFamily="34" charset="-122"/>
                <a:cs typeface="Calibri" pitchFamily="34" charset="-120"/>
              </a:rPr>
              <a:t>differenza di costo tra Gurobi e HiGHS</a:t>
            </a:r>
            <a:endParaRPr lang="en-US" sz="1200" dirty="0"/>
          </a:p>
        </p:txBody>
      </p:sp>
      <p:sp>
        <p:nvSpPr>
          <p:cNvPr id="12" name="Text 8"/>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A85"/>
                </a:solidFill>
                <a:latin typeface="Calibri" pitchFamily="34" charset="0"/>
                <a:ea typeface="Calibri" pitchFamily="34" charset="-122"/>
                <a:cs typeface="Calibri" pitchFamily="34" charset="-120"/>
              </a:rPr>
              <a:t>Project 16 — Controllo MPC di un sistema energetico industriale</a:t>
            </a:r>
            <a:endParaRPr lang="en-US" sz="900" dirty="0"/>
          </a:p>
        </p:txBody>
      </p:sp>
      <p:sp>
        <p:nvSpPr>
          <p:cNvPr id="13" name="Text 9"/>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6B7A85"/>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4415"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06 · ESPERIMENTI E RISULTATI</a:t>
            </a:r>
            <a:endParaRPr lang="en-US" sz="1300" dirty="0"/>
          </a:p>
        </p:txBody>
      </p:sp>
      <p:sp>
        <p:nvSpPr>
          <p:cNvPr id="3" name="Text 1"/>
          <p:cNvSpPr/>
          <p:nvPr/>
        </p:nvSpPr>
        <p:spPr>
          <a:xfrm>
            <a:off x="548640" y="713232"/>
            <a:ext cx="11094415" cy="777240"/>
          </a:xfrm>
          <a:prstGeom prst="rect">
            <a:avLst/>
          </a:prstGeom>
          <a:noFill/>
          <a:ln/>
        </p:spPr>
        <p:txBody>
          <a:bodyPr wrap="square" lIns="0" tIns="0" rIns="0" bIns="0" rtlCol="0" anchor="ctr"/>
          <a:lstStyle/>
          <a:p>
            <a:pPr indent="0" marL="0">
              <a:buNone/>
            </a:pPr>
            <a:r>
              <a:rPr lang="en-US" sz="3000" b="1" dirty="0">
                <a:solidFill>
                  <a:srgbClr val="0B3D59"/>
                </a:solidFill>
                <a:latin typeface="Cambria" pitchFamily="34" charset="0"/>
                <a:ea typeface="Cambria" pitchFamily="34" charset="-122"/>
                <a:cs typeface="Cambria" pitchFamily="34" charset="-120"/>
              </a:rPr>
              <a:t>Una scoperta inattesa</a:t>
            </a:r>
            <a:endParaRPr lang="en-US" sz="3000" dirty="0"/>
          </a:p>
        </p:txBody>
      </p:sp>
      <p:sp>
        <p:nvSpPr>
          <p:cNvPr id="4" name="Text 2"/>
          <p:cNvSpPr/>
          <p:nvPr/>
        </p:nvSpPr>
        <p:spPr>
          <a:xfrm>
            <a:off x="548640" y="1920240"/>
            <a:ext cx="6766560" cy="4023360"/>
          </a:xfrm>
          <a:prstGeom prst="rect">
            <a:avLst/>
          </a:prstGeom>
          <a:noFill/>
          <a:ln/>
        </p:spPr>
        <p:txBody>
          <a:bodyPr wrap="square" rtlCol="0" anchor="ctr"/>
          <a:lstStyle/>
          <a:p>
            <a:pPr marL="342900" indent="-342900">
              <a:lnSpc>
                <a:spcPct val="128000"/>
              </a:lnSpc>
              <a:spcAft>
                <a:spcPts val="1400"/>
              </a:spcAft>
              <a:buSzPct val="100000"/>
              <a:buChar char="•"/>
            </a:pPr>
            <a:r>
              <a:rPr lang="en-US" sz="1550" dirty="0">
                <a:solidFill>
                  <a:srgbClr val="20303D"/>
                </a:solidFill>
                <a:latin typeface="Calibri" pitchFamily="34" charset="0"/>
                <a:ea typeface="Calibri" pitchFamily="34" charset="-122"/>
                <a:cs typeface="Calibri" pitchFamily="34" charset="-120"/>
              </a:rPr>
              <a:t>Nello scenario D la penalità sul curtailment è stata abbassata a quasi zero, aspettandosi più spreco di rinnovabile.</a:t>
            </a:r>
            <a:endParaRPr lang="en-US" sz="1550" dirty="0"/>
          </a:p>
          <a:p>
            <a:pPr marL="342900" indent="-342900">
              <a:lnSpc>
                <a:spcPct val="128000"/>
              </a:lnSpc>
              <a:spcAft>
                <a:spcPts val="1400"/>
              </a:spcAft>
              <a:buSzPct val="100000"/>
              <a:buChar char="•"/>
            </a:pPr>
            <a:r>
              <a:rPr lang="en-US" sz="1550" dirty="0">
                <a:solidFill>
                  <a:srgbClr val="20303D"/>
                </a:solidFill>
                <a:latin typeface="Calibri" pitchFamily="34" charset="0"/>
                <a:ea typeface="Calibri" pitchFamily="34" charset="-122"/>
                <a:cs typeface="Calibri" pitchFamily="34" charset="-120"/>
              </a:rPr>
              <a:t>Invece il curtailment resta a zero anche in questo scenario, sull'intero anno.</a:t>
            </a:r>
            <a:endParaRPr lang="en-US" sz="1550" dirty="0"/>
          </a:p>
          <a:p>
            <a:pPr marL="342900" indent="-342900">
              <a:lnSpc>
                <a:spcPct val="128000"/>
              </a:lnSpc>
              <a:spcAft>
                <a:spcPts val="1400"/>
              </a:spcAft>
              <a:buSzPct val="100000"/>
              <a:buChar char="•"/>
            </a:pPr>
            <a:r>
              <a:rPr lang="en-US" sz="1550" dirty="0">
                <a:solidFill>
                  <a:srgbClr val="20303D"/>
                </a:solidFill>
                <a:latin typeface="Calibri" pitchFamily="34" charset="0"/>
                <a:ea typeface="Calibri" pitchFamily="34" charset="-122"/>
                <a:cs typeface="Calibri" pitchFamily="34" charset="-120"/>
              </a:rPr>
              <a:t>Il motivo: su base annuale batteria, idrogeno ed export in rete offrono sempre abbastanza spazio per assorbire la produzione rinnovabile, anche quando gli accumuli partono già pieni.</a:t>
            </a:r>
            <a:endParaRPr lang="en-US" sz="1550" dirty="0"/>
          </a:p>
          <a:p>
            <a:pPr marL="342900" indent="-342900">
              <a:lnSpc>
                <a:spcPct val="128000"/>
              </a:lnSpc>
              <a:spcAft>
                <a:spcPts val="1400"/>
              </a:spcAft>
              <a:buSzPct val="100000"/>
              <a:buChar char="•"/>
            </a:pPr>
            <a:r>
              <a:rPr lang="en-US" sz="1550" dirty="0">
                <a:solidFill>
                  <a:srgbClr val="20303D"/>
                </a:solidFill>
                <a:latin typeface="Calibri" pitchFamily="34" charset="0"/>
                <a:ea typeface="Calibri" pitchFamily="34" charset="-122"/>
                <a:cs typeface="Calibri" pitchFamily="34" charset="-120"/>
              </a:rPr>
              <a:t>Il curtailment si osserva solo in un test sintetico dedicato (ultimo_test.py), costruito apposta con accumuli pieni e produzione rinnovabile molto più alta del carico.</a:t>
            </a:r>
            <a:endParaRPr lang="en-US" sz="1550" dirty="0"/>
          </a:p>
        </p:txBody>
      </p:sp>
      <p:sp>
        <p:nvSpPr>
          <p:cNvPr id="5" name="Shape 3"/>
          <p:cNvSpPr/>
          <p:nvPr/>
        </p:nvSpPr>
        <p:spPr>
          <a:xfrm>
            <a:off x="8366760" y="2286000"/>
            <a:ext cx="2286000" cy="3200400"/>
          </a:xfrm>
          <a:prstGeom prst="roundRect">
            <a:avLst>
              <a:gd name="adj" fmla="val 3200"/>
            </a:avLst>
          </a:prstGeom>
          <a:solidFill>
            <a:srgbClr val="FFB100"/>
          </a:solidFill>
          <a:ln w="12700">
            <a:solidFill>
              <a:srgbClr val="FFB100"/>
            </a:solidFill>
            <a:prstDash val="solid"/>
          </a:ln>
        </p:spPr>
      </p:sp>
      <p:sp>
        <p:nvSpPr>
          <p:cNvPr id="6" name="Text 4"/>
          <p:cNvSpPr/>
          <p:nvPr/>
        </p:nvSpPr>
        <p:spPr>
          <a:xfrm>
            <a:off x="8366760" y="2606040"/>
            <a:ext cx="2286000" cy="640080"/>
          </a:xfrm>
          <a:prstGeom prst="rect">
            <a:avLst/>
          </a:prstGeom>
          <a:noFill/>
          <a:ln/>
        </p:spPr>
        <p:txBody>
          <a:bodyPr wrap="square" lIns="0" tIns="0" rIns="0" bIns="0" rtlCol="0" anchor="ctr"/>
          <a:lstStyle/>
          <a:p>
            <a:pPr algn="ctr" indent="0" marL="0">
              <a:buNone/>
            </a:pPr>
            <a:r>
              <a:rPr lang="en-US" sz="3000" b="1" dirty="0">
                <a:solidFill>
                  <a:srgbClr val="082B40"/>
                </a:solidFill>
                <a:latin typeface="Cambria" pitchFamily="34" charset="0"/>
                <a:ea typeface="Cambria" pitchFamily="34" charset="-122"/>
                <a:cs typeface="Cambria" pitchFamily="34" charset="-120"/>
              </a:rPr>
              <a:t>3 MW</a:t>
            </a:r>
            <a:endParaRPr lang="en-US" sz="3000" dirty="0"/>
          </a:p>
        </p:txBody>
      </p:sp>
      <p:sp>
        <p:nvSpPr>
          <p:cNvPr id="7" name="Text 5"/>
          <p:cNvSpPr/>
          <p:nvPr/>
        </p:nvSpPr>
        <p:spPr>
          <a:xfrm>
            <a:off x="8549640" y="3337560"/>
            <a:ext cx="1920240" cy="1463040"/>
          </a:xfrm>
          <a:prstGeom prst="rect">
            <a:avLst/>
          </a:prstGeom>
          <a:noFill/>
          <a:ln/>
        </p:spPr>
        <p:txBody>
          <a:bodyPr wrap="square" lIns="0" tIns="0" rIns="0" bIns="0" rtlCol="0" anchor="ctr"/>
          <a:lstStyle/>
          <a:p>
            <a:pPr algn="ctr" indent="0" marL="0">
              <a:lnSpc>
                <a:spcPct val="120000"/>
              </a:lnSpc>
              <a:buNone/>
            </a:pPr>
            <a:r>
              <a:rPr lang="en-US" sz="1200" dirty="0">
                <a:solidFill>
                  <a:srgbClr val="082B40"/>
                </a:solidFill>
                <a:latin typeface="Calibri" pitchFamily="34" charset="0"/>
                <a:ea typeface="Calibri" pitchFamily="34" charset="-122"/>
                <a:cs typeface="Calibri" pitchFamily="34" charset="-120"/>
              </a:rPr>
              <a:t>curtailment atteso nel test sintetico:</a:t>
            </a:r>
            <a:endParaRPr lang="en-US" sz="1200" dirty="0"/>
          </a:p>
          <a:p>
            <a:pPr algn="ctr" indent="0" marL="0">
              <a:lnSpc>
                <a:spcPct val="120000"/>
              </a:lnSpc>
              <a:buNone/>
            </a:pPr>
            <a:r>
              <a:rPr lang="en-US" sz="1200" dirty="0">
                <a:solidFill>
                  <a:srgbClr val="082B40"/>
                </a:solidFill>
                <a:latin typeface="Calibri" pitchFamily="34" charset="0"/>
                <a:ea typeface="Calibri" pitchFamily="34" charset="-122"/>
                <a:cs typeface="Calibri" pitchFamily="34" charset="-120"/>
              </a:rPr>
              <a:t>rinnovabile 15 − carico 2 − export max 10</a:t>
            </a:r>
            <a:endParaRPr lang="en-US" sz="1200" dirty="0"/>
          </a:p>
        </p:txBody>
      </p:sp>
      <p:sp>
        <p:nvSpPr>
          <p:cNvPr id="9" name="Text 6"/>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A85"/>
                </a:solidFill>
                <a:latin typeface="Calibri" pitchFamily="34" charset="0"/>
                <a:ea typeface="Calibri" pitchFamily="34" charset="-122"/>
                <a:cs typeface="Calibri" pitchFamily="34" charset="-120"/>
              </a:rPr>
              <a:t>Project 16 — Controllo MPC di un sistema energetico industriale</a:t>
            </a:r>
            <a:endParaRPr lang="en-US" sz="900" dirty="0"/>
          </a:p>
        </p:txBody>
      </p:sp>
      <p:sp>
        <p:nvSpPr>
          <p:cNvPr id="10" name="Text 7"/>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6B7A85"/>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94415" cy="320040"/>
          </a:xfrm>
          <a:prstGeom prst="rect">
            <a:avLst/>
          </a:prstGeom>
          <a:noFill/>
          <a:ln/>
        </p:spPr>
        <p:txBody>
          <a:bodyPr wrap="square" lIns="0" tIns="0" rIns="0" bIns="0" rtlCol="0" anchor="ctr"/>
          <a:lstStyle/>
          <a:p>
            <a:pPr indent="0" marL="0">
              <a:buNone/>
            </a:pPr>
            <a:r>
              <a:rPr lang="en-US" sz="1300" b="1" spc="200" kern="0" dirty="0">
                <a:solidFill>
                  <a:srgbClr val="1C7293"/>
                </a:solidFill>
                <a:latin typeface="Calibri" pitchFamily="34" charset="0"/>
                <a:ea typeface="Calibri" pitchFamily="34" charset="-122"/>
                <a:cs typeface="Calibri" pitchFamily="34" charset="-120"/>
              </a:rPr>
              <a:t>CONCLUSIONI</a:t>
            </a:r>
            <a:endParaRPr lang="en-US" sz="1300" dirty="0"/>
          </a:p>
        </p:txBody>
      </p:sp>
      <p:sp>
        <p:nvSpPr>
          <p:cNvPr id="3" name="Text 1"/>
          <p:cNvSpPr/>
          <p:nvPr/>
        </p:nvSpPr>
        <p:spPr>
          <a:xfrm>
            <a:off x="548640" y="713232"/>
            <a:ext cx="11094415" cy="777240"/>
          </a:xfrm>
          <a:prstGeom prst="rect">
            <a:avLst/>
          </a:prstGeom>
          <a:noFill/>
          <a:ln/>
        </p:spPr>
        <p:txBody>
          <a:bodyPr wrap="square" lIns="0" tIns="0" rIns="0" bIns="0" rtlCol="0" anchor="ctr"/>
          <a:lstStyle/>
          <a:p>
            <a:pPr indent="0" marL="0">
              <a:buNone/>
            </a:pPr>
            <a:r>
              <a:rPr lang="en-US" sz="3000" b="1" dirty="0">
                <a:solidFill>
                  <a:srgbClr val="0B3D59"/>
                </a:solidFill>
                <a:latin typeface="Cambria" pitchFamily="34" charset="0"/>
                <a:ea typeface="Cambria" pitchFamily="34" charset="-122"/>
                <a:cs typeface="Cambria" pitchFamily="34" charset="-120"/>
              </a:rPr>
              <a:t>Cosa abbiamo imparato</a:t>
            </a:r>
            <a:endParaRPr lang="en-US" sz="3000" dirty="0"/>
          </a:p>
        </p:txBody>
      </p:sp>
      <p:sp>
        <p:nvSpPr>
          <p:cNvPr id="4" name="Shape 2"/>
          <p:cNvSpPr/>
          <p:nvPr/>
        </p:nvSpPr>
        <p:spPr>
          <a:xfrm>
            <a:off x="548640" y="1874520"/>
            <a:ext cx="5318608" cy="4206240"/>
          </a:xfrm>
          <a:prstGeom prst="roundRect">
            <a:avLst>
              <a:gd name="adj" fmla="val 1739"/>
            </a:avLst>
          </a:prstGeom>
          <a:solidFill>
            <a:srgbClr val="F1F5F8"/>
          </a:solidFill>
          <a:ln w="12700">
            <a:solidFill>
              <a:srgbClr val="DCE6EC"/>
            </a:solidFill>
            <a:prstDash val="solid"/>
          </a:ln>
          <a:effectLst>
            <a:outerShdw sx="100000" sy="100000" kx="0" ky="0" algn="bl" rotWithShape="0" blurRad="76200" dist="25400" dir="5400000">
              <a:srgbClr val="9AA7AF">
                <a:alpha val="25000"/>
              </a:srgbClr>
            </a:outerShdw>
          </a:effectLst>
        </p:spPr>
      </p:sp>
      <p:sp>
        <p:nvSpPr>
          <p:cNvPr id="5" name="Shape 3"/>
          <p:cNvSpPr/>
          <p:nvPr/>
        </p:nvSpPr>
        <p:spPr>
          <a:xfrm>
            <a:off x="548640" y="1874520"/>
            <a:ext cx="5318608" cy="128016"/>
          </a:xfrm>
          <a:prstGeom prst="roundRect">
            <a:avLst/>
          </a:prstGeom>
          <a:solidFill>
            <a:srgbClr val="2F8F4E"/>
          </a:solidFill>
          <a:ln/>
        </p:spPr>
      </p:sp>
      <p:sp>
        <p:nvSpPr>
          <p:cNvPr id="6" name="Text 4"/>
          <p:cNvSpPr/>
          <p:nvPr/>
        </p:nvSpPr>
        <p:spPr>
          <a:xfrm>
            <a:off x="822960" y="2194560"/>
            <a:ext cx="4769968" cy="411480"/>
          </a:xfrm>
          <a:prstGeom prst="rect">
            <a:avLst/>
          </a:prstGeom>
          <a:noFill/>
          <a:ln/>
        </p:spPr>
        <p:txBody>
          <a:bodyPr wrap="square" lIns="0" tIns="0" rIns="0" bIns="0" rtlCol="0" anchor="ctr"/>
          <a:lstStyle/>
          <a:p>
            <a:pPr indent="0" marL="0">
              <a:buNone/>
            </a:pPr>
            <a:r>
              <a:rPr lang="en-US" sz="1600" b="1" dirty="0">
                <a:solidFill>
                  <a:srgbClr val="2F8F4E"/>
                </a:solidFill>
                <a:latin typeface="Calibri" pitchFamily="34" charset="0"/>
                <a:ea typeface="Calibri" pitchFamily="34" charset="-122"/>
                <a:cs typeface="Calibri" pitchFamily="34" charset="-120"/>
              </a:rPr>
              <a:t>Cosa funziona</a:t>
            </a:r>
            <a:endParaRPr lang="en-US" sz="1600" dirty="0"/>
          </a:p>
        </p:txBody>
      </p:sp>
      <p:sp>
        <p:nvSpPr>
          <p:cNvPr id="7" name="Text 5"/>
          <p:cNvSpPr/>
          <p:nvPr/>
        </p:nvSpPr>
        <p:spPr>
          <a:xfrm>
            <a:off x="822960" y="2743200"/>
            <a:ext cx="4769968" cy="3063240"/>
          </a:xfrm>
          <a:prstGeom prst="rect">
            <a:avLst/>
          </a:prstGeom>
          <a:noFill/>
          <a:ln/>
        </p:spPr>
        <p:txBody>
          <a:bodyPr wrap="square" rtlCol="0" anchor="ctr"/>
          <a:lstStyle/>
          <a:p>
            <a:pPr marL="342900" indent="-342900">
              <a:lnSpc>
                <a:spcPct val="128000"/>
              </a:lnSpc>
              <a:spcAft>
                <a:spcPts val="1400"/>
              </a:spcAft>
              <a:buSzPct val="100000"/>
              <a:buChar char="•"/>
            </a:pPr>
            <a:r>
              <a:rPr lang="en-US" sz="1350" dirty="0">
                <a:solidFill>
                  <a:srgbClr val="20303D"/>
                </a:solidFill>
                <a:latin typeface="Calibri" pitchFamily="34" charset="0"/>
                <a:ea typeface="Calibri" pitchFamily="34" charset="-122"/>
                <a:cs typeface="Calibri" pitchFamily="34" charset="-120"/>
              </a:rPr>
              <a:t>Il modello rispetta sempre bilancio di potenza e limiti di batteria/idrogeno</a:t>
            </a:r>
            <a:endParaRPr lang="en-US" sz="1350" dirty="0"/>
          </a:p>
          <a:p>
            <a:pPr marL="342900" indent="-342900">
              <a:lnSpc>
                <a:spcPct val="128000"/>
              </a:lnSpc>
              <a:spcAft>
                <a:spcPts val="1400"/>
              </a:spcAft>
              <a:buSzPct val="100000"/>
              <a:buChar char="•"/>
            </a:pPr>
            <a:r>
              <a:rPr lang="en-US" sz="1350" dirty="0">
                <a:solidFill>
                  <a:srgbClr val="20303D"/>
                </a:solidFill>
                <a:latin typeface="Calibri" pitchFamily="34" charset="0"/>
                <a:ea typeface="Calibri" pitchFamily="34" charset="-122"/>
                <a:cs typeface="Calibri" pitchFamily="34" charset="-120"/>
              </a:rPr>
              <a:t>I risultati sono praticamente identici tra Gurobi e HiGHS: non serve un solver a pagamento</a:t>
            </a:r>
            <a:endParaRPr lang="en-US" sz="1350" dirty="0"/>
          </a:p>
          <a:p>
            <a:pPr marL="342900" indent="-342900">
              <a:lnSpc>
                <a:spcPct val="128000"/>
              </a:lnSpc>
              <a:spcAft>
                <a:spcPts val="1400"/>
              </a:spcAft>
              <a:buSzPct val="100000"/>
              <a:buChar char="•"/>
            </a:pPr>
            <a:r>
              <a:rPr lang="en-US" sz="1350" dirty="0">
                <a:solidFill>
                  <a:srgbClr val="20303D"/>
                </a:solidFill>
                <a:latin typeface="Calibri" pitchFamily="34" charset="0"/>
                <a:ea typeface="Calibri" pitchFamily="34" charset="-122"/>
                <a:cs typeface="Calibri" pitchFamily="34" charset="-120"/>
              </a:rPr>
              <a:t>Il sistema riesce sempre a evitare lo spreco di rinnovabile, in ogni scenario annuale testato</a:t>
            </a:r>
            <a:endParaRPr lang="en-US" sz="1350" dirty="0"/>
          </a:p>
        </p:txBody>
      </p:sp>
      <p:sp>
        <p:nvSpPr>
          <p:cNvPr id="8" name="Shape 6"/>
          <p:cNvSpPr/>
          <p:nvPr/>
        </p:nvSpPr>
        <p:spPr>
          <a:xfrm>
            <a:off x="6324448" y="1874520"/>
            <a:ext cx="5318608" cy="4206240"/>
          </a:xfrm>
          <a:prstGeom prst="roundRect">
            <a:avLst>
              <a:gd name="adj" fmla="val 1739"/>
            </a:avLst>
          </a:prstGeom>
          <a:solidFill>
            <a:srgbClr val="F1F5F8"/>
          </a:solidFill>
          <a:ln w="12700">
            <a:solidFill>
              <a:srgbClr val="DCE6EC"/>
            </a:solidFill>
            <a:prstDash val="solid"/>
          </a:ln>
          <a:effectLst>
            <a:outerShdw sx="100000" sy="100000" kx="0" ky="0" algn="bl" rotWithShape="0" blurRad="76200" dist="25400" dir="5400000">
              <a:srgbClr val="9AA7AF">
                <a:alpha val="25000"/>
              </a:srgbClr>
            </a:outerShdw>
          </a:effectLst>
        </p:spPr>
      </p:sp>
      <p:sp>
        <p:nvSpPr>
          <p:cNvPr id="9" name="Shape 7"/>
          <p:cNvSpPr/>
          <p:nvPr/>
        </p:nvSpPr>
        <p:spPr>
          <a:xfrm>
            <a:off x="6324448" y="1874520"/>
            <a:ext cx="5318608" cy="128016"/>
          </a:xfrm>
          <a:prstGeom prst="roundRect">
            <a:avLst/>
          </a:prstGeom>
          <a:solidFill>
            <a:srgbClr val="C0433A"/>
          </a:solidFill>
          <a:ln/>
        </p:spPr>
      </p:sp>
      <p:sp>
        <p:nvSpPr>
          <p:cNvPr id="10" name="Text 8"/>
          <p:cNvSpPr/>
          <p:nvPr/>
        </p:nvSpPr>
        <p:spPr>
          <a:xfrm>
            <a:off x="6598768" y="2194560"/>
            <a:ext cx="4769968" cy="411480"/>
          </a:xfrm>
          <a:prstGeom prst="rect">
            <a:avLst/>
          </a:prstGeom>
          <a:noFill/>
          <a:ln/>
        </p:spPr>
        <p:txBody>
          <a:bodyPr wrap="square" lIns="0" tIns="0" rIns="0" bIns="0" rtlCol="0" anchor="ctr"/>
          <a:lstStyle/>
          <a:p>
            <a:pPr indent="0" marL="0">
              <a:buNone/>
            </a:pPr>
            <a:r>
              <a:rPr lang="en-US" sz="1600" b="1" dirty="0">
                <a:solidFill>
                  <a:srgbClr val="C0433A"/>
                </a:solidFill>
                <a:latin typeface="Calibri" pitchFamily="34" charset="0"/>
                <a:ea typeface="Calibri" pitchFamily="34" charset="-122"/>
                <a:cs typeface="Calibri" pitchFamily="34" charset="-120"/>
              </a:rPr>
              <a:t>Limiti e sviluppi futuri</a:t>
            </a:r>
            <a:endParaRPr lang="en-US" sz="1600" dirty="0"/>
          </a:p>
        </p:txBody>
      </p:sp>
      <p:sp>
        <p:nvSpPr>
          <p:cNvPr id="11" name="Text 9"/>
          <p:cNvSpPr/>
          <p:nvPr/>
        </p:nvSpPr>
        <p:spPr>
          <a:xfrm>
            <a:off x="6598768" y="2743200"/>
            <a:ext cx="4769968" cy="3063240"/>
          </a:xfrm>
          <a:prstGeom prst="rect">
            <a:avLst/>
          </a:prstGeom>
          <a:noFill/>
          <a:ln/>
        </p:spPr>
        <p:txBody>
          <a:bodyPr wrap="square" rtlCol="0" anchor="ctr"/>
          <a:lstStyle/>
          <a:p>
            <a:pPr marL="342900" indent="-342900">
              <a:lnSpc>
                <a:spcPct val="128000"/>
              </a:lnSpc>
              <a:spcAft>
                <a:spcPts val="1400"/>
              </a:spcAft>
              <a:buSzPct val="100000"/>
              <a:buChar char="•"/>
            </a:pPr>
            <a:r>
              <a:rPr lang="en-US" sz="1350" dirty="0">
                <a:solidFill>
                  <a:srgbClr val="20303D"/>
                </a:solidFill>
                <a:latin typeface="Calibri" pitchFamily="34" charset="0"/>
                <a:ea typeface="Calibri" pitchFamily="34" charset="-122"/>
                <a:cs typeface="Calibri" pitchFamily="34" charset="-120"/>
              </a:rPr>
              <a:t>La penalità di curtailment e gli stati iniziali sono scelte di modellazione, non dati nella consegna</a:t>
            </a:r>
            <a:endParaRPr lang="en-US" sz="1350" dirty="0"/>
          </a:p>
          <a:p>
            <a:pPr marL="342900" indent="-342900">
              <a:lnSpc>
                <a:spcPct val="128000"/>
              </a:lnSpc>
              <a:spcAft>
                <a:spcPts val="1400"/>
              </a:spcAft>
              <a:buSzPct val="100000"/>
              <a:buChar char="•"/>
            </a:pPr>
            <a:r>
              <a:rPr lang="en-US" sz="1350" dirty="0">
                <a:solidFill>
                  <a:srgbClr val="20303D"/>
                </a:solidFill>
                <a:latin typeface="Calibri" pitchFamily="34" charset="0"/>
                <a:ea typeface="Calibri" pitchFamily="34" charset="-122"/>
                <a:cs typeface="Calibri" pitchFamily="34" charset="-120"/>
              </a:rPr>
              <a:t>Il caso di spreco reale è stato osservato solo in un test sintetico, non nei dati veri di un anno</a:t>
            </a:r>
            <a:endParaRPr lang="en-US" sz="1350" dirty="0"/>
          </a:p>
          <a:p>
            <a:pPr marL="342900" indent="-342900">
              <a:lnSpc>
                <a:spcPct val="128000"/>
              </a:lnSpc>
              <a:spcAft>
                <a:spcPts val="1400"/>
              </a:spcAft>
              <a:buSzPct val="100000"/>
              <a:buChar char="•"/>
            </a:pPr>
            <a:r>
              <a:rPr lang="en-US" sz="1350" dirty="0">
                <a:solidFill>
                  <a:srgbClr val="20303D"/>
                </a:solidFill>
                <a:latin typeface="Calibri" pitchFamily="34" charset="0"/>
                <a:ea typeface="Calibri" pitchFamily="34" charset="-122"/>
                <a:cs typeface="Calibri" pitchFamily="34" charset="-120"/>
              </a:rPr>
              <a:t>Si potrebbe testare con condizioni meteo estreme, per vedere quando il curtailment diventa davvero necessario</a:t>
            </a:r>
            <a:endParaRPr lang="en-US" sz="1350" dirty="0"/>
          </a:p>
        </p:txBody>
      </p:sp>
      <p:sp>
        <p:nvSpPr>
          <p:cNvPr id="13" name="Text 10"/>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900" dirty="0">
                <a:solidFill>
                  <a:srgbClr val="6B7A85"/>
                </a:solidFill>
                <a:latin typeface="Calibri" pitchFamily="34" charset="0"/>
                <a:ea typeface="Calibri" pitchFamily="34" charset="-122"/>
                <a:cs typeface="Calibri" pitchFamily="34" charset="-120"/>
              </a:rPr>
              <a:t>Project 16 — Controllo MPC di un sistema energetico industriale</a:t>
            </a:r>
            <a:endParaRPr lang="en-US" sz="900" dirty="0"/>
          </a:p>
        </p:txBody>
      </p:sp>
      <p:sp>
        <p:nvSpPr>
          <p:cNvPr id="14" name="Text 11"/>
          <p:cNvSpPr/>
          <p:nvPr/>
        </p:nvSpPr>
        <p:spPr>
          <a:xfrm>
            <a:off x="11094415" y="6473952"/>
            <a:ext cx="548640" cy="274320"/>
          </a:xfrm>
          <a:prstGeom prst="rect">
            <a:avLst/>
          </a:prstGeom>
          <a:noFill/>
          <a:ln/>
        </p:spPr>
        <p:txBody>
          <a:bodyPr wrap="square" lIns="0" tIns="0" rIns="0" bIns="0" rtlCol="0" anchor="ctr"/>
          <a:lstStyle/>
          <a:p>
            <a:pPr algn="r" indent="0" marL="0">
              <a:buNone/>
            </a:pPr>
            <a:r>
              <a:rPr lang="en-US" sz="900" dirty="0">
                <a:solidFill>
                  <a:srgbClr val="6B7A85"/>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B3D59"/>
        </a:solidFill>
      </p:bgPr>
    </p:bg>
    <p:spTree>
      <p:nvGrpSpPr>
        <p:cNvPr id="1" name=""/>
        <p:cNvGrpSpPr/>
        <p:nvPr/>
      </p:nvGrpSpPr>
      <p:grpSpPr>
        <a:xfrm>
          <a:off x="0" y="0"/>
          <a:ext cx="0" cy="0"/>
          <a:chOff x="0" y="0"/>
          <a:chExt cx="0" cy="0"/>
        </a:xfrm>
      </p:grpSpPr>
      <p:sp>
        <p:nvSpPr>
          <p:cNvPr id="2" name="Shape 0"/>
          <p:cNvSpPr/>
          <p:nvPr/>
        </p:nvSpPr>
        <p:spPr>
          <a:xfrm>
            <a:off x="-1645920" y="3931920"/>
            <a:ext cx="4572000" cy="4572000"/>
          </a:xfrm>
          <a:prstGeom prst="ellipse">
            <a:avLst/>
          </a:prstGeom>
          <a:solidFill>
            <a:srgbClr val="082B40"/>
          </a:solidFill>
          <a:ln/>
        </p:spPr>
      </p:sp>
      <p:sp>
        <p:nvSpPr>
          <p:cNvPr id="3" name="Shape 1"/>
          <p:cNvSpPr/>
          <p:nvPr/>
        </p:nvSpPr>
        <p:spPr>
          <a:xfrm>
            <a:off x="10500055" y="868680"/>
            <a:ext cx="822960" cy="822960"/>
          </a:xfrm>
          <a:prstGeom prst="ellipse">
            <a:avLst/>
          </a:prstGeom>
          <a:solidFill>
            <a:srgbClr val="FFB100"/>
          </a:solidFill>
          <a:ln/>
        </p:spPr>
      </p:sp>
      <p:sp>
        <p:nvSpPr>
          <p:cNvPr id="4" name="Text 2"/>
          <p:cNvSpPr/>
          <p:nvPr/>
        </p:nvSpPr>
        <p:spPr>
          <a:xfrm>
            <a:off x="10500055" y="868680"/>
            <a:ext cx="822960" cy="822960"/>
          </a:xfrm>
          <a:prstGeom prst="rect">
            <a:avLst/>
          </a:prstGeom>
          <a:noFill/>
          <a:ln/>
        </p:spPr>
        <p:txBody>
          <a:bodyPr wrap="square" lIns="0" tIns="0" rIns="0" bIns="0" rtlCol="0" anchor="ctr"/>
          <a:lstStyle/>
          <a:p>
            <a:pPr algn="ctr" indent="0" marL="0">
              <a:buNone/>
            </a:pPr>
            <a:r>
              <a:rPr lang="en-US" sz="1700" b="1" dirty="0">
                <a:solidFill>
                  <a:srgbClr val="082B40"/>
                </a:solidFill>
                <a:latin typeface="Calibri" pitchFamily="34" charset="0"/>
                <a:ea typeface="Calibri" pitchFamily="34" charset="-122"/>
                <a:cs typeface="Calibri" pitchFamily="34" charset="-120"/>
              </a:rPr>
              <a:t>P16</a:t>
            </a:r>
            <a:endParaRPr lang="en-US" sz="1700" dirty="0"/>
          </a:p>
        </p:txBody>
      </p:sp>
      <p:sp>
        <p:nvSpPr>
          <p:cNvPr id="5" name="Text 3"/>
          <p:cNvSpPr/>
          <p:nvPr/>
        </p:nvSpPr>
        <p:spPr>
          <a:xfrm>
            <a:off x="548640" y="2743200"/>
            <a:ext cx="11094415" cy="91440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Grazie per l'attenzione</a:t>
            </a:r>
            <a:endParaRPr lang="en-US" sz="3800" dirty="0"/>
          </a:p>
        </p:txBody>
      </p:sp>
      <p:sp>
        <p:nvSpPr>
          <p:cNvPr id="6" name="Text 4"/>
          <p:cNvSpPr/>
          <p:nvPr/>
        </p:nvSpPr>
        <p:spPr>
          <a:xfrm>
            <a:off x="548640" y="3520440"/>
            <a:ext cx="11094415" cy="640080"/>
          </a:xfrm>
          <a:prstGeom prst="rect">
            <a:avLst/>
          </a:prstGeom>
          <a:noFill/>
          <a:ln/>
        </p:spPr>
        <p:txBody>
          <a:bodyPr wrap="square" lIns="0" tIns="0" rIns="0" bIns="0" rtlCol="0" anchor="ctr"/>
          <a:lstStyle/>
          <a:p>
            <a:pPr indent="0" marL="0">
              <a:buNone/>
            </a:pPr>
            <a:r>
              <a:rPr lang="en-US" sz="2000" b="1" dirty="0">
                <a:solidFill>
                  <a:srgbClr val="FFB100"/>
                </a:solidFill>
                <a:latin typeface="Calibri" pitchFamily="34" charset="0"/>
                <a:ea typeface="Calibri" pitchFamily="34" charset="-122"/>
                <a:cs typeface="Calibri" pitchFamily="34" charset="-120"/>
              </a:rPr>
              <a:t>Domande?</a:t>
            </a:r>
            <a:endParaRPr lang="en-US" sz="2000" dirty="0"/>
          </a:p>
        </p:txBody>
      </p:sp>
      <p:sp>
        <p:nvSpPr>
          <p:cNvPr id="7" name="Text 5"/>
          <p:cNvSpPr/>
          <p:nvPr/>
        </p:nvSpPr>
        <p:spPr>
          <a:xfrm>
            <a:off x="548640" y="5852160"/>
            <a:ext cx="9601200" cy="640080"/>
          </a:xfrm>
          <a:prstGeom prst="rect">
            <a:avLst/>
          </a:prstGeom>
          <a:noFill/>
          <a:ln/>
        </p:spPr>
        <p:txBody>
          <a:bodyPr wrap="square" lIns="0" tIns="0" rIns="0" bIns="0" rtlCol="0" anchor="ctr"/>
          <a:lstStyle/>
          <a:p>
            <a:pPr indent="0" marL="0">
              <a:lnSpc>
                <a:spcPct val="120000"/>
              </a:lnSpc>
              <a:buNone/>
            </a:pPr>
            <a:r>
              <a:rPr lang="en-US" sz="1200" dirty="0">
                <a:solidFill>
                  <a:srgbClr val="5FA8C7"/>
                </a:solidFill>
                <a:latin typeface="Calibri" pitchFamily="34" charset="0"/>
                <a:ea typeface="Calibri" pitchFamily="34" charset="-122"/>
                <a:cs typeface="Calibri" pitchFamily="34" charset="-120"/>
              </a:rPr>
              <a:t>Project 16 — Controllo MPC di un sistema energetico industriale</a:t>
            </a:r>
            <a:endParaRPr lang="en-US" sz="1200" dirty="0"/>
          </a:p>
          <a:p>
            <a:pPr indent="0" marL="0">
              <a:lnSpc>
                <a:spcPct val="120000"/>
              </a:lnSpc>
              <a:buNone/>
            </a:pPr>
            <a:r>
              <a:rPr lang="en-US" sz="1200" dirty="0">
                <a:solidFill>
                  <a:srgbClr val="5FA8C7"/>
                </a:solidFill>
                <a:latin typeface="Calibri" pitchFamily="34" charset="0"/>
                <a:ea typeface="Calibri" pitchFamily="34" charset="-122"/>
                <a:cs typeface="Calibri" pitchFamily="34" charset="-120"/>
              </a:rPr>
              <a:t>Corso di Innovazione e Trasformazione Digitale — Prof. Francesco Conte (UCBM)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2026-08-03T13:58:21Z</dcterms:created>
  <dcterms:modified xsi:type="dcterms:W3CDTF">2026-08-03T13:58:21Z</dcterms:modified>
</cp:coreProperties>
</file>