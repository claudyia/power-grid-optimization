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9"/>
                </a:solidFill>
                <a:latin typeface="Arial"/>
              </a:defRPr>
            </a:pPr>
            <a:r>
              <a:rPr lang="it-IT" sz="1300" b="0" i="0" u="none" strike="noStrike">
                <a:solidFill>
                  <a:srgbClr val="0B3D59"/>
                </a:solidFill>
                <a:latin typeface="Arial"/>
              </a:rPr>
              <a:t>Costo netto di mercato per scenario (milioni di EUR, anno intero)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Gurobi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03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Baseline</c:v>
                </c:pt>
                <c:pt idx="1">
                  <c:v>B · Vuoto</c:v>
                </c:pt>
                <c:pt idx="2">
                  <c:v>C · Pieno</c:v>
                </c:pt>
                <c:pt idx="3">
                  <c:v>D · Penalità bassa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9.6761400000000002</c:v>
                </c:pt>
                <c:pt idx="1">
                  <c:v>9.6799900000000001</c:v>
                </c:pt>
                <c:pt idx="2">
                  <c:v>9.6724700000000006</c:v>
                </c:pt>
                <c:pt idx="3">
                  <c:v>9.67258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96-D94F-A989-64AD61FF7F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HiGHS</c:v>
                </c:pt>
              </c:strCache>
            </c:strRef>
          </c:tx>
          <c:spPr>
            <a:solidFill>
              <a:srgbClr val="FFB10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03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Baseline</c:v>
                </c:pt>
                <c:pt idx="1">
                  <c:v>B · Vuoto</c:v>
                </c:pt>
                <c:pt idx="2">
                  <c:v>C · Pieno</c:v>
                </c:pt>
                <c:pt idx="3">
                  <c:v>D · Penalità bassa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9.6762999999999995</c:v>
                </c:pt>
                <c:pt idx="1">
                  <c:v>9.6800599999999992</c:v>
                </c:pt>
                <c:pt idx="2">
                  <c:v>9.6725300000000001</c:v>
                </c:pt>
                <c:pt idx="3">
                  <c:v>9.6725100000000008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96-D94F-A989-64AD61FF7F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0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69"/>
          <c:min val="9.66"/>
        </c:scaling>
        <c:delete val="0"/>
        <c:axPos val="l"/>
        <c:majorGridlines>
          <c:spPr>
            <a:ln w="12700" cap="flat">
              <a:solidFill>
                <a:srgbClr val="E5EB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85"/>
                    </a:solidFill>
                    <a:latin typeface="Arial"/>
                  </a:defRPr>
                </a:pPr>
                <a:r>
                  <a:rPr lang="it-IT" sz="1100" b="0" i="0" u="none" strike="noStrike">
                    <a:solidFill>
                      <a:srgbClr val="6B7A85"/>
                    </a:solidFill>
                    <a:latin typeface="Arial"/>
                  </a:rPr>
                  <a:t>Milioni di EUR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30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925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082B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271455" y="40233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16 — INNOVAZIONE E TRASFORMAZIONE DIGITALE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Controllo MPC di un sistema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energetico industriale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Rinnovabili, batteria e idrogeno gestiti ora per ora con un modello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ottimizzazione (MILP) risolto con Pyomo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Gestire un impianto energetico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senza sprecare né soldi né energia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impianto industriale produce energia da fonte rinnovabile, ha una batteria e un sistema a idrogeno, ed è collegato alla rete elettrica.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bisogna decidere: quanta energia comprare o vendere, quanto caricare la batteria, quanto produrre o consumare idrogeno.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è minimizzare il costo, senza mai lasciare l'edificio senza energia e sprecando il meno possibile la produzione rinnovabile.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233172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6352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OBIETTIVI DA RISPETTARE</a:t>
            </a:r>
            <a:endParaRPr lang="en-US" sz="1250" dirty="0"/>
          </a:p>
          <a:p>
            <a:pPr marL="0" indent="0">
              <a:buNone/>
            </a:pPr>
            <a:r>
              <a:rPr lang="en-US" sz="1250" b="1" kern="0" spc="1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08976" y="3264408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808976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6760" y="32735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il costo netto di mercato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08976" y="3886200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808976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3895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Soddisfare sempre il carico dell'edificio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08976" y="4507992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08976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45171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 sempre tra il 10% e il 90%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08976" y="5129784"/>
            <a:ext cx="384048" cy="384048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808976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51389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Minimizzare lo spreco di rinnovabile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IL SISTEMA FISICO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è fatto l'impianto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17520" y="3771900"/>
            <a:ext cx="1912468" cy="9144"/>
          </a:xfrm>
          <a:prstGeom prst="line">
            <a:avLst/>
          </a:prstGeom>
          <a:noFill/>
          <a:ln w="25400">
            <a:solidFill>
              <a:srgbClr val="AEB9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261708" y="3771900"/>
            <a:ext cx="1912468" cy="9144"/>
          </a:xfrm>
          <a:prstGeom prst="line">
            <a:avLst/>
          </a:prstGeom>
          <a:noFill/>
          <a:ln w="25400">
            <a:solidFill>
              <a:srgbClr val="AEB9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 flipV="1">
            <a:off x="6095848" y="2560320"/>
            <a:ext cx="9144" cy="685800"/>
          </a:xfrm>
          <a:prstGeom prst="line">
            <a:avLst/>
          </a:prstGeom>
          <a:noFill/>
          <a:ln w="25400">
            <a:solidFill>
              <a:srgbClr val="AEB9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 flipV="1">
            <a:off x="3261208" y="4297680"/>
            <a:ext cx="2377440" cy="685800"/>
          </a:xfrm>
          <a:prstGeom prst="line">
            <a:avLst/>
          </a:prstGeom>
          <a:noFill/>
          <a:ln w="25400">
            <a:solidFill>
              <a:srgbClr val="AEB9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 flipH="1" flipV="1">
            <a:off x="6553048" y="4297680"/>
            <a:ext cx="2377440" cy="685800"/>
          </a:xfrm>
          <a:prstGeom prst="line">
            <a:avLst/>
          </a:prstGeom>
          <a:noFill/>
          <a:ln w="25400">
            <a:solidFill>
              <a:srgbClr val="AEB9C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2F8F4E"/>
          </a:solidFill>
          <a:ln/>
          <a:effectLst>
            <a:outerShdw blurRad="63500" dist="25400" dir="5400000" algn="bl" rotWithShape="0">
              <a:srgbClr val="9AA7AF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7240" y="33741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7764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4 MW + Eolico 8 MW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29988" y="32461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0B3D59"/>
          </a:solidFill>
          <a:ln/>
          <a:effectLst>
            <a:outerShdw blurRad="63500" dist="25400" dir="5400000" algn="bl" rotWithShape="0">
              <a:srgbClr val="9AA7AF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1428" y="33741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ENERGETICO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1428" y="37764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Bilancio di potenza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74175" y="32461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9AA7AF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265615" y="33741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ELETTRICA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65615" y="37764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12 MW / Export 10 MW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95348" y="498348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8A5CBF"/>
          </a:solidFill>
          <a:ln/>
          <a:effectLst>
            <a:outerShdw blurRad="63500" dist="25400" dir="5400000" algn="bl" rotWithShape="0">
              <a:srgbClr val="9AA7AF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186788" y="51114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86788" y="5513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MW / 1 MWh, η 0.95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64628" y="498348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C0433A"/>
          </a:solidFill>
          <a:ln/>
          <a:effectLst>
            <a:outerShdw blurRad="63500" dist="25400" dir="5400000" algn="bl" rotWithShape="0">
              <a:srgbClr val="9AA7AF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856068" y="51114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 IDROGENO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56068" y="5513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MWh, elettrolizz. + fuel cell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29988" y="150876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6B7A85"/>
          </a:solidFill>
          <a:ln/>
          <a:effectLst>
            <a:outerShdw blurRad="63500" dist="25400" dir="5400000" algn="bl" rotWithShape="0">
              <a:srgbClr val="9AA7AF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021428" y="16367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EDIFICIO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1428" y="2039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non controllabile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07161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il bus energetico deve bilanciarsi: tutto ciò che entra (rinnovabile, import, scarica batteria, fuel cell) deve uguagliare tutto ciò che esce (carico, export, carica batteria, elettrolizzatore).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16 — Controllo MPC di un sistema energetico industriale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IL SISTEMA FISICO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dove vengono i dati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93338" cy="128016"/>
          </a:xfrm>
          <a:prstGeom prst="round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res_1_year_pu.mat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 fotovoltaica ed eolica, un anno intero ora per ora, in valori per unità (0-1) della potenza nominale.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99178" y="1965960"/>
            <a:ext cx="3393338" cy="128016"/>
          </a:xfrm>
          <a:prstGeom prst="roundRect">
            <a:avLst/>
          </a:prstGeom>
          <a:solidFill>
            <a:srgbClr val="6B7A8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73498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3498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buildings_load.mat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73498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 dell'edificio ora per ora, in energia oraria (kWh), convertiti in potenza media (MW).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9717" y="196596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8249717" y="1965960"/>
            <a:ext cx="3393338" cy="128016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524037" y="23317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DI VENDITA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24037" y="269748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PUN_2022.mat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24037" y="329184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unico nazionale dell'energia, un valore di mercato reale per ogni ora dell'anno.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prezzo di acquisto invece non arriva da un file: segue una regola fissa a tre fasce orarie (F1 punta, F2 intermedia, F3 fuori punta), definita nel codice.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IL CONTROLLO MPC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Decidere guardando avanti, un'ora alla volta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Predictive Control: ad ogni ora, il sistema guarda le prossime 24 ore e calcola il piano migliore per quel periodo.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usa le previsioni per le ore future, perché quelle ore non sono ancora successe e il valore vero non si conosce.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come pianificare la settimana sapendo che il meteo di domani è quasi certo, ma quello di venerdì è solo una stima.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73072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611984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050896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489808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928720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67632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806544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245456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684368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23280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562192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001104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440016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878928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317840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8756752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195664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9634576" y="3977640"/>
            <a:ext cx="384048" cy="502920"/>
          </a:xfrm>
          <a:prstGeom prst="roundRect">
            <a:avLst>
              <a:gd name="adj" fmla="val 9524"/>
            </a:avLst>
          </a:prstGeom>
          <a:solidFill>
            <a:srgbClr val="5FA8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624432" y="4544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corrente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(dato vero)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11984" y="454456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prossime 23 ore della finestra (previsione)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73072" y="3593592"/>
            <a:ext cx="7845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di 24 ore ricalcolata ad ogni passo →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IL CONTROLLO MPC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si applica solo la prima decisione?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478242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47824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calcola il piano ottimo per 24 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le previsioni disponibili in quel momento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47924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13684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343286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34328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2284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applica solo la decisione della 1ª ora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42284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quella per cui, per costruzione, si usa il dato vero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2968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78728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208330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20833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07328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aggiorna lo stato reale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7328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nuovo livello di batteria e idrogeno diventa il punto di partenza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011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43771" y="2103120"/>
            <a:ext cx="2499284" cy="3291840"/>
          </a:xfrm>
          <a:prstGeom prst="roundRect">
            <a:avLst>
              <a:gd name="adj" fmla="val 2927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0073373" y="237744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0073373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72371" y="32918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ricalcola tutto per l'ora successiva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371" y="4160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dati più aggiornati, invece di seguire un piano vecchio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Così il sistema si corregge continuamente, invece di seguire alla cieca un piano lungo basato su previsioni ormai superate.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IL MODELLO MATEMATICO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di ottimizzazione: il MILP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ogni ora, per calcolare la finestra di 24 ore, si costruisce un modello matematico con Pyomo e lo si risolve con un solver (Gurobi o HiGHS). Il modello ha tre parti: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può decidere il modello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energia importare, esportare, caricare o scaricare, produrre o consumare come idrogeno, ora per ora.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73498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73498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non può violare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73498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bilancio di potenza, i limiti di rete, batteria e idrogeno, gli stati minimi e massimi ammessi.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49717" y="274320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C0433A"/>
          </a:solidFill>
          <a:ln w="12700">
            <a:solidFill>
              <a:srgbClr val="C043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524037" y="30175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24037" y="34290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deve minimizzare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24037" y="42519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netto di mercato, più una penalità per ogni MW di rinnovabile sprecato.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IL MODELLO MATEMATICO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variabili, ora per 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28016" cy="1115568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14400" y="192938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Potenze continue [MW]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929384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P_import, P_export, P_curtailment, P_charge, P_discharge, P_electrolyzer, P_fuel_cell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28016" cy="1115568"/>
          </a:xfrm>
          <a:prstGeom prst="roundRect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320954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 degli accumuli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3209544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(batteria) e SoH (idrogeno): frazione tra 0 e 1, con i limiti minimo e massimo del progetto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94415" cy="1115568"/>
          </a:xfrm>
          <a:prstGeom prst="roundRect">
            <a:avLst>
              <a:gd name="adj" fmla="val 6557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28016" cy="1115568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14400" y="44897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Interruttori binari (0 o 1)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4489704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delta_grid, delta_battery, delta_electrolyzer, delta_fuel_cell: impediscono scelte contraddittorie nella stessa ora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interruttore binario, ad esempio, permette di comprare oppure vendere energia in un'ora, ma mai entrambe le cose insieme.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16 — Controllo MPC di un sistema energetico industriale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IL MODELLO MATEMATICO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vincolo più importante: il bilancio di potenza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ogni ora, tutta l'energia che entra nel sistema deve uguagliare esattamente tutta l'energia che esce.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EAF6EE"/>
          </a:solidFill>
          <a:ln w="12700">
            <a:solidFill>
              <a:srgbClr val="2F8F4E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NEL SISTEMA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 non sprecata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comprata dalla rete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dalla fuel cell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Scarica della batteria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52948" y="3771900"/>
            <a:ext cx="685800" cy="68580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752948" y="3771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071055" y="260604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FDEEEC"/>
          </a:solidFill>
          <a:ln w="12700">
            <a:solidFill>
              <a:srgbClr val="C0433A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345375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 DAL SISTEMA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45375" y="3291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dell'edificio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45375" y="3840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venduta alla rete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45375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Energia all'elettrolizzatore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45375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Carica della batteria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IL MODELLO MATEMATICO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Batteria e idrogeno: la stessa logica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18608" cy="128016"/>
          </a:xfrm>
          <a:prstGeom prst="roundRect">
            <a:avLst/>
          </a:prstGeom>
          <a:solidFill>
            <a:srgbClr val="8A5C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8A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12949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12949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02938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02938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769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livello di carica di ogni ora dipende da quello dell'ora prima. Caricare fa perdere un po' di energia; scaricare ne richiede un po' di più di quella che esce davvero: sono le normali perdite di ogni batteria reale.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4448" y="187452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324448" y="1874520"/>
            <a:ext cx="5318608" cy="128016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98768" y="21945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 IDROGENO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98768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MWh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98768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88757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88757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elettr. / fuel cell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78746" y="265176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 / 65%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778746" y="3136392"/>
            <a:ext cx="1498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98768" y="3703320"/>
            <a:ext cx="47699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idea della batteria: produrre idrogeno (elettrolizzatore) lo riempie, consumarlo (fuel cell) lo svuota. I due non possono funzionare nella stessa ora.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IL MODELLO MATEMATICO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funzione obiettivo: cosa vogliamo minimizzare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082B40"/>
          </a:solidFill>
          <a:ln w="12700">
            <a:solidFill>
              <a:srgbClr val="082B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totale  =  </a:t>
            </a:r>
            <a:r>
              <a:rPr lang="en-US" sz="21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spesa per comprare</a:t>
            </a:r>
            <a:r>
              <a:rPr lang="en-US" sz="210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</a:t>
            </a:r>
            <a:r>
              <a:rPr lang="en-US" sz="21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ricavo dal vendere</a:t>
            </a:r>
            <a:r>
              <a:rPr lang="en-US" sz="2100" dirty="0">
                <a:solidFill>
                  <a:srgbClr val="B9C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2100" b="1" dirty="0">
                <a:solidFill>
                  <a:srgbClr val="F08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penalità per lo spreco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penalità per lo spreco (curtailment) non è un costo di mercato reale: è un numero scelto per orientare il modello.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script principale vale 1000 EUR/MWh, molto più dei prezzi normali (circa 500 EUR/MWh): il modello preferisce quasi sempre caricare la batteria, fare idrogeno o vendere in rete piuttosto che sprecare energia.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una variante di prova (es.py) questo valore è stato abbassato a 0.01 EUR/MWh, quasi zero, per vedere cosa succede se il freno economico allo spreco viene tolto.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IL MODELLO MATEMATICO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simulazione, ora per 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228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8201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44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i dati della finestra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(previsione + valore vero dell'ora corrente)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9252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0400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1373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4116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 il modello MILP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 prossime 24 ore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2424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3572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24545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288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 solo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1ª decisione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596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6744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57717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0460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lo stato reale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(batteria e idrogeno)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87688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99168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90889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36328" y="2788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il costo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 dati veri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432408" y="4069080"/>
            <a:ext cx="9326880" cy="914"/>
          </a:xfrm>
          <a:prstGeom prst="line">
            <a:avLst/>
          </a:prstGeom>
          <a:noFill/>
          <a:ln w="28575">
            <a:solidFill>
              <a:srgbClr val="FFB100"/>
            </a:solidFill>
            <a:prstDash val="solid"/>
            <a:head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2288" y="4251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ripete per ogni ora simulata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codice questo ciclo è la funzione run_mpc_simulation, che chiama solve_mpc_step ad ogni ora.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IL CODICE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è organizzato lo 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 in fila tutti i passi: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argomenti → dati → solver →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→ CSV e grafico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1920" y="1874520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160520" y="1947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load_project_data()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1947672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 file .mat e prepara i dati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2706624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60520" y="2779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select_solver()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2779776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un solver Pyomo disponibile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3538728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160520" y="36118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run_mpc_simulation()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361188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ripete il ciclo ora per ora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4370832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160520" y="44439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solve_mpc_step()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4443984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costruisce e risolve il modello MILP di una finestra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5202936"/>
            <a:ext cx="7711135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160520" y="52760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save_results_csv() / create_plots()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5276088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salvano la tabella oraria e il grafico riassuntivo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ESPERIMENTI E RISULTATI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esperimenti condotti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capire come si comporta il sistema, la simulazione sull'intero anno (6529 ore) è stata ripetuta in 4 scenari, ognuno risolto sia con Gurobi che con HiGHS: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72527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72527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 metà (0.50 / 0.50)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2254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326141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326141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5134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Accumuli vuoti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5134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al minimo (0.10 / 0.00)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8A5CBF"/>
          </a:solidFill>
          <a:ln w="12700">
            <a:solidFill>
              <a:srgbClr val="8A5CB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179755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179755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38748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Accumuli pieni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8748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iniziali al massimo (0.90 / 1.00)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09481" y="2697480"/>
            <a:ext cx="2533574" cy="2834640"/>
          </a:xfrm>
          <a:prstGeom prst="roundRect">
            <a:avLst>
              <a:gd name="adj" fmla="val 2887"/>
            </a:avLst>
          </a:prstGeom>
          <a:solidFill>
            <a:srgbClr val="C0433A"/>
          </a:solidFill>
          <a:ln w="12700">
            <a:solidFill>
              <a:srgbClr val="C043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10033368" y="2948940"/>
            <a:ext cx="685800" cy="68580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033368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92361" y="3840480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Penalità bassa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2361" y="4343400"/>
            <a:ext cx="21678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C, ma penalità curtailment quasi nulla (0.01)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16152" y="58338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216152" y="583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Gurobi (solver commerciale)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05272" y="5833872"/>
            <a:ext cx="310896" cy="310896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605272" y="583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 (solver open-source)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ESPERIMENTI E RISULTATI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esperimento, visto ora per ora</a:t>
            </a:r>
            <a:endParaRPr lang="en-US" sz="2600" dirty="0"/>
          </a:p>
        </p:txBody>
      </p:sp>
      <p:pic>
        <p:nvPicPr>
          <p:cNvPr id="4" name="Image 0" descr="/Users/claudia/Desktop/Innovazione/power-grid-optimization/esperimenti_anno(gurobi)/expA_baseline/project16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3291840" cy="3762103"/>
          </a:xfrm>
          <a:prstGeom prst="rect">
            <a:avLst/>
          </a:prstGeom>
          <a:effectLst>
            <a:outerShdw blurRad="76200" dist="25400" dir="5400000" algn="bl" rotWithShape="0">
              <a:srgbClr val="9AA7AF">
                <a:alpha val="3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297680" y="1783080"/>
            <a:ext cx="7345375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4297680" y="1783080"/>
            <a:ext cx="109728" cy="960120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572000" y="1874520"/>
            <a:ext cx="6842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 e carico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0" y="2167128"/>
            <a:ext cx="6842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 vs. carico vs. curtailment: nel grafico il curtailment resta pressoché a zero per tutto l'anno.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2880360"/>
            <a:ext cx="7345375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297680" y="2880360"/>
            <a:ext cx="109728" cy="960120"/>
          </a:xfrm>
          <a:prstGeom prst="roundRect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572000" y="2971800"/>
            <a:ext cx="6842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 controllati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0" y="3264408"/>
            <a:ext cx="6842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dalla rete, carica/scarica batteria, idrogeno: come si copre ogni ora il fabbisogno.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3977640"/>
            <a:ext cx="7345375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297680" y="3977640"/>
            <a:ext cx="109728" cy="960120"/>
          </a:xfrm>
          <a:prstGeom prst="roundRect">
            <a:avLst/>
          </a:prstGeom>
          <a:solidFill>
            <a:srgbClr val="8A5C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572000" y="4069080"/>
            <a:ext cx="6842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degli accumuli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0" y="4361688"/>
            <a:ext cx="6842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della batteria e SoH dell'idrogeno restano sempre entro i limiti imposti.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97680" y="5074920"/>
            <a:ext cx="7345375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4297680" y="5074920"/>
            <a:ext cx="109728" cy="960120"/>
          </a:xfrm>
          <a:prstGeom prst="roundRect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4572000" y="5166360"/>
            <a:ext cx="6842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cumulativo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0" y="5458968"/>
            <a:ext cx="6842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netto di mercato cresce in modo pressoché lineare nel corso dell'anno.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5897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Esperimento A (baseline), solver Gurobi — simulazione sull'intero anno (6529 ore)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ESPERIMENTI E RISULTATI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costo cambia pochissimo tra scenari e solver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1828800"/>
            <a:ext cx="2590495" cy="4206240"/>
          </a:xfrm>
          <a:prstGeom prst="roundRect">
            <a:avLst>
              <a:gd name="adj" fmla="val 2824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9281160" y="214884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MWh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281160" y="2926080"/>
            <a:ext cx="2133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 in TUTTI e 4 gli scenari, con entrambi i solver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418320" y="3886200"/>
            <a:ext cx="1858975" cy="914"/>
          </a:xfrm>
          <a:prstGeom prst="line">
            <a:avLst/>
          </a:prstGeom>
          <a:noFill/>
          <a:ln w="12700">
            <a:solidFill>
              <a:srgbClr val="2E59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9281160" y="4069080"/>
            <a:ext cx="2133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0,01%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281160" y="4617720"/>
            <a:ext cx="2133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di costo tra Gurobi e HiGHS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ESPERIMENTI E RISULTATI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scoperta inattesa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scenario D la penalità sul curtailment è stata abbassata a quasi zero, aspettandosi più spreco di rinnovabile.</a:t>
            </a:r>
            <a:endParaRPr lang="en-US" sz="15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il curtailment resta a zero anche in questo scenario, sull'intero anno.</a:t>
            </a:r>
            <a:endParaRPr lang="en-US" sz="15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motivo: su base annuale batteria, idrogeno ed export in rete offrono sempre abbastanza spazio per assorbire la produzione rinnovabile, anche quando gli accumuli partono già pieni.</a:t>
            </a:r>
            <a:endParaRPr lang="en-US" sz="15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curtailment si osserva solo in un test sintetico dedicato (ultimo_test.py), costruito apposta con accumuli pieni e produzione rinnovabile molto più alta del carico.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366760" y="2286000"/>
            <a:ext cx="2286000" cy="3200400"/>
          </a:xfrm>
          <a:prstGeom prst="roundRect">
            <a:avLst>
              <a:gd name="adj" fmla="val 3200"/>
            </a:avLst>
          </a:prstGeom>
          <a:solidFill>
            <a:srgbClr val="FFB100"/>
          </a:solidFill>
          <a:ln w="12700">
            <a:solidFill>
              <a:srgbClr val="FFB1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36676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49640" y="3337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 atteso nel test sintetico: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rinnovabile 15 − carico 2 − export max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abbiamo imparato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8608" cy="4206240"/>
          </a:xfrm>
          <a:prstGeom prst="roundRect">
            <a:avLst>
              <a:gd name="adj" fmla="val 1739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18608" cy="128016"/>
          </a:xfrm>
          <a:prstGeom prst="round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funziona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76996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rispetta sempre bilancio di potenza e limiti di batteria/idrogeno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risultati sono praticamente identici tra Gurobi e HiGHS: non serve un solver a pagamento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riesce sempre a evitare lo spreco di rinnovabile, in ogni scenario annuale testato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4448" y="1874520"/>
            <a:ext cx="5318608" cy="4206240"/>
          </a:xfrm>
          <a:prstGeom prst="roundRect">
            <a:avLst>
              <a:gd name="adj" fmla="val 1739"/>
            </a:avLst>
          </a:prstGeom>
          <a:solidFill>
            <a:srgbClr val="F1F5F8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7AF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318608" cy="128016"/>
          </a:xfrm>
          <a:prstGeom prst="roundRect">
            <a:avLst/>
          </a:prstGeom>
          <a:solidFill>
            <a:srgbClr val="C04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598768" y="219456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e sviluppi futuri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98768" y="2743200"/>
            <a:ext cx="476996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penalità di curtailment e gli stati iniziali sono scelte di modellazione, non dati nella consegna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 di spreco reale è stato osservato solo in un test sintetico, non nei dati veri di un anno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potrebbe testare con condizioni meteo estreme, per vedere quando il curtailment diventa davvero necessario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572000" cy="4572000"/>
          </a:xfrm>
          <a:prstGeom prst="ellipse">
            <a:avLst/>
          </a:prstGeom>
          <a:solidFill>
            <a:srgbClr val="082B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500055" y="868680"/>
            <a:ext cx="822960" cy="822960"/>
          </a:xfrm>
          <a:prstGeom prst="ellipse">
            <a:avLst/>
          </a:prstGeom>
          <a:solidFill>
            <a:srgbClr val="FFB1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500055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1901</Words>
  <Application>Microsoft Macintosh PowerPoint</Application>
  <PresentationFormat>Widescreen</PresentationFormat>
  <Paragraphs>270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Claudia Lara Cordova</cp:lastModifiedBy>
  <cp:revision>2</cp:revision>
  <dcterms:created xsi:type="dcterms:W3CDTF">2026-08-03T13:40:22Z</dcterms:created>
  <dcterms:modified xsi:type="dcterms:W3CDTF">2026-08-03T17:53:32Z</dcterms:modified>
</cp:coreProperties>
</file>