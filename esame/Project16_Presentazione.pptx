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76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7" r:id="rId16"/>
    <p:sldId id="281" r:id="rId17"/>
    <p:sldId id="282" r:id="rId18"/>
    <p:sldId id="272" r:id="rId19"/>
    <p:sldId id="273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676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208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Gurobi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9.6761400000000002</c:v>
                </c:pt>
                <c:pt idx="1">
                  <c:v>9.6799900000000001</c:v>
                </c:pt>
                <c:pt idx="2">
                  <c:v>9.6724700000000006</c:v>
                </c:pt>
                <c:pt idx="3">
                  <c:v>9.67258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96-D94F-A989-64AD61FF7F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HiGHS</c:v>
                </c:pt>
              </c:strCache>
            </c:strRef>
          </c:tx>
          <c:spPr>
            <a:solidFill>
              <a:srgbClr val="FFB100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9.6762999999999995</c:v>
                </c:pt>
                <c:pt idx="1">
                  <c:v>9.6800599999999992</c:v>
                </c:pt>
                <c:pt idx="2">
                  <c:v>9.6725300000000001</c:v>
                </c:pt>
                <c:pt idx="3">
                  <c:v>9.6725100000000008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96-D94F-A989-64AD61FF7F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030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.69"/>
          <c:min val="9.66"/>
        </c:scaling>
        <c:delete val="0"/>
        <c:axPos val="l"/>
        <c:majorGridlines>
          <c:spPr>
            <a:ln w="12700" cap="flat">
              <a:solidFill>
                <a:srgbClr val="E5EB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A85"/>
                    </a:solidFill>
                    <a:latin typeface="Arial"/>
                  </a:defRPr>
                </a:pPr>
                <a:r>
                  <a:rPr lang="it-IT" sz="1100" b="0" i="0" u="none" strike="noStrike" dirty="0">
                    <a:solidFill>
                      <a:srgbClr val="6B7A85"/>
                    </a:solidFill>
                    <a:latin typeface="Arial"/>
                  </a:rPr>
                  <a:t>EUR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4925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9A865-DDAE-98C3-96B5-825CD684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8D066-0C0D-3875-47AB-BF1AF0225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87FED-566D-6CC5-C88D-7E74FE39B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28D7E-BB76-8109-A373-2C103641BD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174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16731-0F31-8E17-7250-80C27AF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E20F5-DE36-00EC-1CA2-F80DB5CCD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034BB-7536-D56B-54D5-A11BD0D0E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3BE16-192A-867B-5163-E382D1B50C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3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8E446-711F-7057-9421-564AFDAD8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129E3-F142-D9EB-6D4E-80C9552EF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66A29-A9B0-AE6D-AB03-06620B022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67621-CCBA-F5F0-1CCB-785F75A8B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2528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7DB7-5F52-6A48-A956-448A729E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312F8-A68E-F47F-D2E0-914A84FBB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0A9EB-D7D9-BD7E-7581-193FA88F0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5FA77-4186-3162-2E36-2B5AE60F9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187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0271455" y="4023360"/>
            <a:ext cx="2926080" cy="2926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48640" y="2095928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 MPC di un sistema</a:t>
            </a:r>
            <a:endParaRPr lang="en-US" sz="4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energetico industriale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38332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Rinnovabili, batteria e idrogeno gestiti ora per ora con un modello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ottimizzazione</a:t>
            </a: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(MILP)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risolto</a:t>
            </a: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60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Pyomo</a:t>
            </a:r>
            <a:endParaRPr lang="en-US" sz="160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0783428A-3434-CE03-9015-45915F6A153B}"/>
              </a:ext>
            </a:extLst>
          </p:cNvPr>
          <p:cNvSpPr/>
          <p:nvPr/>
        </p:nvSpPr>
        <p:spPr>
          <a:xfrm>
            <a:off x="548640" y="52048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--Claudia Lara Cordova 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 impianto energetico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senza sprecare né soldi né energia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impianto industriale produce energia da fonte rinnovabile, ha una batteria e un sistema a idrogeno, ed è collegato alla rete elettrica.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bisogna decidere: quanta energia comprare o vendere, quanto caricare la batteria, quanto produrre o consumare idrogeno.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 è minimizzare il costo, senza mai lasciare l'edificio senza energia e sprecando il meno possibile la produzione rinnovabile.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97680" cy="3566160"/>
          </a:xfrm>
          <a:prstGeom prst="roundRect">
            <a:avLst>
              <a:gd name="adj" fmla="val 205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763524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OBIETTIVI DA RISPETTARE</a:t>
            </a:r>
            <a:endParaRPr lang="en-US" sz="1250" dirty="0"/>
          </a:p>
          <a:p>
            <a:pPr marL="0" indent="0">
              <a:buNone/>
            </a:pPr>
            <a:r>
              <a:rPr lang="en-US" sz="1250" b="1" kern="0" spc="1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808976" y="3264408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808976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66760" y="327355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il costo netto di mercato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08976" y="3886200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7808976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366760" y="38953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Soddisfare sempre il carico dell'edificio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08976" y="4507992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80897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45171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 sempre tra il 10% e il 90%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808976" y="5129784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808976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66760" y="51389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lo spreco di rinnovabile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49607-9D17-631A-235C-7562297B8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FA0E81-DEB6-DB3E-4ACF-7EEBA10A5089}"/>
              </a:ext>
            </a:extLst>
          </p:cNvPr>
          <p:cNvSpPr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Come è fatto l'impianto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37D950C-32CA-4ED0-A163-236405435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06" y="1297690"/>
            <a:ext cx="10149184" cy="583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18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dove vengono i dati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93338" cy="128016"/>
          </a:xfrm>
          <a:prstGeom prst="roundRect">
            <a:avLst/>
          </a:prstGeom>
          <a:solidFill>
            <a:srgbClr val="2F8F4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res_1_year_pu.mat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 fotovoltaica ed eolica, un anno intero ora per ora, in valori per unità (0-1) della potenza nominale.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9178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399178" y="1965960"/>
            <a:ext cx="3393338" cy="128016"/>
          </a:xfrm>
          <a:prstGeom prst="roundRect">
            <a:avLst/>
          </a:prstGeom>
          <a:solidFill>
            <a:srgbClr val="6B7A8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673498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73498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buildings_load.mat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73498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 dell'edificio ora per ora, in energia oraria (kWh), convertiti in potenza media (MW).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49717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8249717" y="1965960"/>
            <a:ext cx="3393338" cy="128016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8524037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DI VENDITA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24037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PUN_2022.mat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24037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unico nazionale dell'energia, un valore di mercato reale per ogni ora dell'anno.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Decidere guardando avanti, un'ora alla volta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80836" y="1682496"/>
            <a:ext cx="10862219" cy="2162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  <a:spcAft>
                <a:spcPts val="1200"/>
              </a:spcAft>
              <a:buSzPct val="100000"/>
            </a:pPr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L'MPC è un algoritmo intelligente che usa un modello matematico per prevedere il comportamento futuro di un sistema lungo un certo arco di tempo.</a:t>
            </a:r>
          </a:p>
          <a:p>
            <a:pPr lvl="0"/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A ogni passo, calcola la sequenza di azioni ottimale per raggiungere l'obiettivo, scartando le opzioni che violano i limiti fisici e di sicurezza del sistema (vincoli).</a:t>
            </a:r>
          </a:p>
          <a:p>
            <a:pPr lvl="0"/>
            <a:endParaRPr lang="it-IT" sz="1600" dirty="0">
              <a:solidFill>
                <a:srgbClr val="20303D"/>
              </a:solidFill>
              <a:latin typeface="Calibri" pitchFamily="34" charset="0"/>
              <a:cs typeface="Calibri" pitchFamily="34" charset="-120"/>
            </a:endParaRPr>
          </a:p>
          <a:p>
            <a:pPr lvl="0"/>
            <a:r>
              <a:rPr lang="it-IT" sz="16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Di questa sequenza applica solo la prima mossa, dopodiché acquisisce i nuovi dati reali e ripete da capo l'intero calcolo per l'istante successivo (orizzonte recedente).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7307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261198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05089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348980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392872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436763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80654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524545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568436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12328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656219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00110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44001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787892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831784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875675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919566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963457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624432" y="530341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corrente</a:t>
            </a:r>
            <a:endParaRPr lang="en-US" sz="10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 vero)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75792" y="4224425"/>
            <a:ext cx="7845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finestra di 24 ore ricalcolata ad ogni passo →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48640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1478242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147824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calcola il piano ottimo per 24 ore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le previsioni disponibili in quel momento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47924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413684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343286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34328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2284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applica solo la decisione della 1ª ora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42284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quella per cui, per costruzione, si usa il dato vero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12968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78728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7208330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20833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07328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aggiorna lo stato reale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07328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nuovo livello di batteria e idrogeno diventa il punto di partenza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011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43771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10073373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10073373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372371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ricalcola tutto per l'ora successiva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72371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dati più aggiornati, invece di seguire un piano vecchio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di </a:t>
            </a:r>
            <a:r>
              <a:rPr lang="en-US" sz="3000" b="1" dirty="0" err="1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ottimizzazione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ogni ora, per calcolare la finestra di 24 ore, si costruisce un modello matematico con Pyomo e lo si risolve con un solver (Gurobi o HiGHS). Il modello ha tre parti: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può decidere il modello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energia importare, esportare, caricare o scaricare, produrre o consumare come idrogeno, ora per ora.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9178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673498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73498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può violare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73498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bilancio di potenza, i limiti di rete, batteria e idrogeno, gli stati minimi e massimi ammessi.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49717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524037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24037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deve minimizzare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24037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netto di mercato, più una penalità per ogni MW di rinnovabile sprecato.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variabili, ora per 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28016" cy="1115568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14400" y="19293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Potenze continue [MW]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192938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P_import, P_export, P_curtailment, P_charge, P_discharge, P_electrolyzer, P_fuel_cell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28016" cy="1115568"/>
          </a:xfrm>
          <a:prstGeom prst="roundRect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14400" y="320954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 degli accumuli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320954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 (batteria) e SoH (idrogeno): frazione tra 0 e 1, con i limiti minimo e massimo del progetto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28016" cy="1115568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914400" y="448970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Interruttori binari (0 o 1)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89120" y="4489704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delta_grid, delta_battery, delta_electrolyzer, delta_fuel_cell: impediscono scelte contraddittorie nella stessa ora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vincolo più importante: il bilancio di potenza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ogni ora, tutta l'energia che entra nel sistema deve uguagliare esattamente tutta l'energia che esce.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EAF6EE"/>
          </a:solidFill>
          <a:ln w="12700">
            <a:solidFill>
              <a:srgbClr val="2F8F4E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NEL SISTEMA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 non sprecata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comprata dalla rete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dalla fuel cell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Scarica della batteria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752948" y="3771900"/>
            <a:ext cx="685800" cy="68580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752948" y="3771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071055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FDEEEC"/>
          </a:solidFill>
          <a:ln w="12700">
            <a:solidFill>
              <a:srgbClr val="C0433A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7345375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 DAL SISTEMA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45375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 dell'edificio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45375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venduta alla rete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345375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all'elettrolizzatore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345375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Carica della batteria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Batteria e idrogeno: la stessa logica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18608" cy="128016"/>
          </a:xfrm>
          <a:prstGeom prst="roundRect">
            <a:avLst/>
          </a:prstGeom>
          <a:solidFill>
            <a:srgbClr val="8A5CB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8A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12949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412949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00293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00293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70332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livello di carica di ogni ora dipende da quello dell'ora prima. Caricare fa perdere un po' di energia; scaricare ne richiede un po' di più di quella che esce davvero: sono le normali perdite di ogni batteria reale.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24448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18608" cy="128016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6598768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A IDROGENO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9876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MWh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9876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188757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MW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88757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elettr. / fuel cell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778746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 / 65%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778746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98768" y="370332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idea della batteria: produrre idrogeno (elettrolizzatore) lo riempie, consumarlo (fuel cell) lo svuota. I due non possono funzionare nella stessa ora.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funzione obiettivo: cosa vogliamo minimizzare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totale  =  </a:t>
            </a:r>
            <a:r>
              <a:rPr lang="en-US" sz="21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spesa per comprare</a:t>
            </a: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−  </a:t>
            </a:r>
            <a:r>
              <a:rPr lang="en-US" sz="21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ricavo dal vendere</a:t>
            </a:r>
            <a:r>
              <a:rPr lang="en-US" sz="210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r>
              <a:rPr lang="en-US" sz="2100" b="1" dirty="0">
                <a:solidFill>
                  <a:srgbClr val="F08A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penalità per lo spreco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109441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penalità per lo spreco (curtailment) non è un costo di mercato reale: è un numero scelto per orientare il modello.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script principale vale 1000 EUR/MWh, molto più dei prezzi normali (circa 500 EUR/MWh): il modello preferisce quasi sempre caricare la batteria, fare idrogeno o vendere in rete piuttosto che sprecare energia.</a:t>
            </a:r>
            <a:endParaRPr lang="en-US" sz="15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variante di prova (es.py) questo valore è stato abbassato a 0.01 EUR/MWh, quasi zero, per vedere cosa succede se il freno economico allo spreco viene tolto.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simulazione, ora per ora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7228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8201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0944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i dati della finestra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(previsione + valore vero dell'ora corrente)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39252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0400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91373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4116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Risolve il modello MILP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sulle prossime 24 ore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2424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13572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524545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288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 solo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1ª decisione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5596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6744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57717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0460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 lo stato reale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(batteria e idrogeno)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8768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79916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990889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3632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il costo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 dati veri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432408" y="4069080"/>
            <a:ext cx="9326880" cy="914"/>
          </a:xfrm>
          <a:prstGeom prst="line">
            <a:avLst/>
          </a:prstGeom>
          <a:noFill/>
          <a:ln w="28575">
            <a:solidFill>
              <a:srgbClr val="FFB100"/>
            </a:solidFill>
            <a:prstDash val="solid"/>
            <a:headEnd type="triangle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472288" y="4251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ripete per ogni ora simulata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72288" y="528523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questo ciclo è la funzione run_mpc_simulation, che chiama solve_mpc_step ad ogni ora.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è organizzato lo script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4023360"/>
          </a:xfrm>
          <a:prstGeom prst="roundRect">
            <a:avLst>
              <a:gd name="adj" fmla="val 266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Mette in fila tutti i passi: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→ dati → solver →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 → CSV e grafico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931920" y="1874520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160520" y="19476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load_project_data()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0" y="1947672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file .mat e prepara i dati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31920" y="2706624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4160520" y="27797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select_solver()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955280" y="2779776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 un solver Pyomo disponibile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31920" y="3538728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4160520" y="3611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run_mpc_simulation()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955280" y="3611880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ripete il ciclo ora per ora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4370832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160520" y="444398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solve_mpc_step()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955280" y="4443984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e risolve il modello MILP di una finestra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31920" y="5202936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4160520" y="52760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save_results_csv() / create_plots()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55280" y="5276088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salvano la tabella oraria e il grafico riassuntivo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esperimenti condotti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capire come si comporta il sistema, la simulazione sull'intero anno (6529 ore) è stata ripetuta in 4 scenari, ognuno risolto sia con Gurobi che con HiGHS: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1472527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72527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 metà (0.50 / 0.50)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2254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>
            <a:off x="4326141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326141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85134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vuoti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585134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minimo (0.10 / 0.00)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55868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8A5CBF"/>
          </a:solidFill>
          <a:ln w="12700">
            <a:solidFill>
              <a:srgbClr val="8A5CB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179755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7179755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38748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pieni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38748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massimo (0.90 / 1.00)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09481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Shape 19"/>
          <p:cNvSpPr/>
          <p:nvPr/>
        </p:nvSpPr>
        <p:spPr>
          <a:xfrm>
            <a:off x="10033368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10033368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92361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Penalità bassa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292361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C, ma penalità curtailment quasi nulla (0.01)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216152" y="58338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21615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9164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 (solver commerciale)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05272" y="5833872"/>
            <a:ext cx="310896" cy="310896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560527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 (solver open-source)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E5A7C-2CD5-E406-0CEA-F62D6F894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DBF3E3D-3553-55FF-F6E0-577EF8C0CB01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Produzione rinnovabile e carico</a:t>
            </a:r>
          </a:p>
          <a:p>
            <a:pPr marL="0" indent="0">
              <a:buNone/>
            </a:pPr>
            <a:endParaRPr lang="en-US" sz="3000" dirty="0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2CD08551-3A64-B948-9987-7887FCC65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852"/>
            <a:ext cx="11461345" cy="4525191"/>
          </a:xfrm>
          <a:prstGeom prst="rect">
            <a:avLst/>
          </a:prstGeom>
        </p:spPr>
      </p:pic>
      <p:graphicFrame>
        <p:nvGraphicFramePr>
          <p:cNvPr id="38" name="Tabella 37">
            <a:extLst>
              <a:ext uri="{FF2B5EF4-FFF2-40B4-BE49-F238E27FC236}">
                <a16:creationId xmlns:a16="http://schemas.microsoft.com/office/drawing/2014/main" id="{F2954521-BB21-89D1-F83F-F11FEB003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470627"/>
              </p:ext>
            </p:extLst>
          </p:nvPr>
        </p:nvGraphicFramePr>
        <p:xfrm>
          <a:off x="599912" y="5521833"/>
          <a:ext cx="5130760" cy="1158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5380">
                  <a:extLst>
                    <a:ext uri="{9D8B030D-6E8A-4147-A177-3AD203B41FA5}">
                      <a16:colId xmlns:a16="http://schemas.microsoft.com/office/drawing/2014/main" val="89691916"/>
                    </a:ext>
                  </a:extLst>
                </a:gridCol>
                <a:gridCol w="2565380">
                  <a:extLst>
                    <a:ext uri="{9D8B030D-6E8A-4147-A177-3AD203B41FA5}">
                      <a16:colId xmlns:a16="http://schemas.microsoft.com/office/drawing/2014/main" val="1428581068"/>
                    </a:ext>
                  </a:extLst>
                </a:gridCol>
              </a:tblGrid>
              <a:tr h="37725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Nera – Carico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dirty="0" err="1">
                          <a:effectLst/>
                        </a:rPr>
                        <a:t>P_ul</a:t>
                      </a:r>
                      <a:r>
                        <a:rPr lang="it-IT" sz="975" dirty="0">
                          <a:effectLst/>
                        </a:rPr>
                        <a:t>, la domanda dell'edificio, non controllabile: va sempre soddisfatta (obiettivo b).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1911797583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Verde – Rinnovabili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dirty="0" err="1">
                          <a:effectLst/>
                        </a:rPr>
                        <a:t>P_pv</a:t>
                      </a:r>
                      <a:r>
                        <a:rPr lang="it-IT" sz="900" dirty="0">
                          <a:effectLst/>
                        </a:rPr>
                        <a:t> + </a:t>
                      </a:r>
                      <a:r>
                        <a:rPr lang="it-IT" sz="900" dirty="0" err="1">
                          <a:effectLst/>
                        </a:rPr>
                        <a:t>P_w</a:t>
                      </a:r>
                      <a:r>
                        <a:rPr lang="it-IT" sz="975" dirty="0">
                          <a:effectLst/>
                        </a:rPr>
                        <a:t> effettivamente usata (PV 4 MW + eolico 8 MW). Molto variabile, spesso sotto il carico.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217594940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>
                          <a:effectLst/>
                        </a:rPr>
                        <a:t>Arancione – Curtailment</a:t>
                      </a:r>
                      <a:endParaRPr lang="it-IT" sz="975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dirty="0">
                          <a:effectLst/>
                        </a:rPr>
                        <a:t>Energia rinnovabile sprecata </a:t>
                      </a:r>
                      <a:r>
                        <a:rPr lang="it-IT" sz="900" dirty="0" err="1">
                          <a:effectLst/>
                        </a:rPr>
                        <a:t>P_c</a:t>
                      </a:r>
                      <a:r>
                        <a:rPr lang="it-IT" sz="975" dirty="0">
                          <a:effectLst/>
                        </a:rPr>
                        <a:t>. Resta a zero: il sistema non butta mai via rinnovabile.</a:t>
                      </a:r>
                      <a:endParaRPr lang="it-IT" sz="975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33690890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5657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36D8E-5284-8BCF-08BC-7EDEC8898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0DC74F9-DA00-539A-83DC-F6E637C964F3}"/>
              </a:ext>
            </a:extLst>
          </p:cNvPr>
          <p:cNvSpPr txBox="1"/>
          <p:nvPr/>
        </p:nvSpPr>
        <p:spPr>
          <a:xfrm>
            <a:off x="6186619" y="547815"/>
            <a:ext cx="5178960" cy="1680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0">
              <a:lnSpc>
                <a:spcPct val="90000"/>
              </a:lnSpc>
              <a:spcAft>
                <a:spcPts val="600"/>
              </a:spcAft>
            </a:pPr>
            <a:endParaRPr lang="en-US" sz="1100" dirty="0">
              <a:effectLst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972465A-90A0-01F6-5FC7-5C912410B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1420586"/>
            <a:ext cx="9816281" cy="3877429"/>
          </a:xfrm>
          <a:prstGeom prst="rect">
            <a:avLst/>
          </a:prstGeom>
        </p:spPr>
      </p:pic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0EEEDF22-33D0-FDBC-F18B-5E621DBC3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166893"/>
              </p:ext>
            </p:extLst>
          </p:nvPr>
        </p:nvGraphicFramePr>
        <p:xfrm>
          <a:off x="6590280" y="4902633"/>
          <a:ext cx="5167187" cy="1878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391">
                  <a:extLst>
                    <a:ext uri="{9D8B030D-6E8A-4147-A177-3AD203B41FA5}">
                      <a16:colId xmlns:a16="http://schemas.microsoft.com/office/drawing/2014/main" val="3968080165"/>
                    </a:ext>
                  </a:extLst>
                </a:gridCol>
                <a:gridCol w="1806411">
                  <a:extLst>
                    <a:ext uri="{9D8B030D-6E8A-4147-A177-3AD203B41FA5}">
                      <a16:colId xmlns:a16="http://schemas.microsoft.com/office/drawing/2014/main" val="1014864147"/>
                    </a:ext>
                  </a:extLst>
                </a:gridCol>
                <a:gridCol w="2213385">
                  <a:extLst>
                    <a:ext uri="{9D8B030D-6E8A-4147-A177-3AD203B41FA5}">
                      <a16:colId xmlns:a16="http://schemas.microsoft.com/office/drawing/2014/main" val="2412458428"/>
                    </a:ext>
                  </a:extLst>
                </a:gridCol>
              </a:tblGrid>
              <a:tr h="30301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Linea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Sopra lo zero (+)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>
                          <a:effectLst/>
                        </a:rPr>
                        <a:t>Sotto lo zero (−)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1525570769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Blu – Rete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importazione (max 12 MW)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esportazione (max 10 MW)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79039364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Verde – Batteria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scarica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carica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429045635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Rossa – Idrogeno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>
                          <a:effectLst/>
                        </a:rPr>
                        <a:t>fuel cell (H₂ → energia)</a:t>
                      </a:r>
                      <a:endParaRPr lang="it-IT" sz="15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dirty="0">
                          <a:effectLst/>
                        </a:rPr>
                        <a:t>elettrolizzatore (energia → H₂)</a:t>
                      </a:r>
                      <a:endParaRPr lang="it-IT" sz="15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814135183"/>
                  </a:ext>
                </a:extLst>
              </a:tr>
            </a:tbl>
          </a:graphicData>
        </a:graphic>
      </p:graphicFrame>
      <p:sp>
        <p:nvSpPr>
          <p:cNvPr id="8" name="Text 1">
            <a:extLst>
              <a:ext uri="{FF2B5EF4-FFF2-40B4-BE49-F238E27FC236}">
                <a16:creationId xmlns:a16="http://schemas.microsoft.com/office/drawing/2014/main" id="{45B559B5-235F-0F6D-6869-FFF4667BA05F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Scambi controllati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1338140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72C9C3-B768-E584-0C9A-CBD053CE8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2D55D-857F-F874-7C99-9C8345B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21" y="1186673"/>
            <a:ext cx="9465131" cy="3738725"/>
          </a:xfrm>
          <a:prstGeom prst="rect">
            <a:avLst/>
          </a:prstGeom>
        </p:spPr>
      </p:pic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BB57905C-BD8D-3431-BA17-E7E559FFFE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1448551"/>
              </p:ext>
            </p:extLst>
          </p:nvPr>
        </p:nvGraphicFramePr>
        <p:xfrm>
          <a:off x="7024814" y="4539343"/>
          <a:ext cx="5167186" cy="21969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813">
                  <a:extLst>
                    <a:ext uri="{9D8B030D-6E8A-4147-A177-3AD203B41FA5}">
                      <a16:colId xmlns:a16="http://schemas.microsoft.com/office/drawing/2014/main" val="4019561045"/>
                    </a:ext>
                  </a:extLst>
                </a:gridCol>
                <a:gridCol w="2515373">
                  <a:extLst>
                    <a:ext uri="{9D8B030D-6E8A-4147-A177-3AD203B41FA5}">
                      <a16:colId xmlns:a16="http://schemas.microsoft.com/office/drawing/2014/main" val="2982526595"/>
                    </a:ext>
                  </a:extLst>
                </a:gridCol>
              </a:tblGrid>
              <a:tr h="310374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>
                          <a:effectLst/>
                        </a:rPr>
                        <a:t>Linea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>
                          <a:effectLst/>
                        </a:rPr>
                        <a:t>Significato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1856801958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Blu – SoC batteria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stato di carica della batteria (1 MWh).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911515982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Arancione – SoH idrogeno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livello del serbatoio H₂ (20 MWh).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453264343"/>
                  </a:ext>
                </a:extLst>
              </a:tr>
              <a:tr h="78571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>
                          <a:effectLst/>
                        </a:rPr>
                        <a:t>Linee tratteggiate/punteggiate</a:t>
                      </a:r>
                      <a:endParaRPr lang="it-IT" sz="170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dirty="0">
                          <a:effectLst/>
                        </a:rPr>
                        <a:t>limiti 10% e 90% imposti alla batteria (obiettivo c).</a:t>
                      </a:r>
                      <a:endParaRPr lang="it-IT" sz="170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989072711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F049BE2A-C897-A78B-9ED5-AFAF53B5B956}"/>
              </a:ext>
            </a:extLst>
          </p:cNvPr>
          <p:cNvSpPr txBox="1"/>
          <p:nvPr/>
        </p:nvSpPr>
        <p:spPr>
          <a:xfrm>
            <a:off x="434621" y="316338"/>
            <a:ext cx="61150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000" b="1" dirty="0">
                <a:solidFill>
                  <a:srgbClr val="0B3D59"/>
                </a:solidFill>
                <a:latin typeface="Cambria" pitchFamily="34" charset="0"/>
              </a:rPr>
              <a:t>Livello degli accumuli</a:t>
            </a:r>
          </a:p>
        </p:txBody>
      </p:sp>
    </p:spTree>
    <p:extLst>
      <p:ext uri="{BB962C8B-B14F-4D97-AF65-F5344CB8AC3E}">
        <p14:creationId xmlns:p14="http://schemas.microsoft.com/office/powerpoint/2010/main" val="2253709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costo cambia pochissimo tra scenari e solver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768641308"/>
              </p:ext>
            </p:extLst>
          </p:nvPr>
        </p:nvGraphicFramePr>
        <p:xfrm>
          <a:off x="548640" y="1828800"/>
          <a:ext cx="7863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052560" y="1828800"/>
            <a:ext cx="2590495" cy="4206240"/>
          </a:xfrm>
          <a:prstGeom prst="roundRect">
            <a:avLst>
              <a:gd name="adj" fmla="val 2824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9281160" y="21488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MWh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9281160" y="2926080"/>
            <a:ext cx="2133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 in TUTTI e 4 gli scenari, con entrambi i solver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418320" y="3886200"/>
            <a:ext cx="1858975" cy="914"/>
          </a:xfrm>
          <a:prstGeom prst="line">
            <a:avLst/>
          </a:prstGeom>
          <a:noFill/>
          <a:ln w="12700">
            <a:solidFill>
              <a:srgbClr val="2E597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281160" y="406908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0,01%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281160" y="4617720"/>
            <a:ext cx="2133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di costo tra Gurobi e HiGHS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scoperta inattesa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766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scenario D la penalità sul curtailment è stata abbassata a quasi zero, aspettandosi più spreco di rinnovabile.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Invece il curtailment resta a zero anche in questo scenario, sull'intero anno.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motivo: su base annuale batteria, idrogeno ed export in rete offrono sempre abbastanza spazio per assorbire la produzione rinnovabile, anche quando gli accumuli partono già pieni.</a:t>
            </a:r>
            <a:endParaRPr lang="en-US" sz="155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en-US" sz="15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curtailment si osserva solo in un test sintetico dedicato (ultimo_test.py), costruito apposta con accumuli pieni e produzione rinnovabile molto più alta del carico.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 per l'attenzione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</TotalTime>
  <Words>1545</Words>
  <Application>Microsoft Macintosh PowerPoint</Application>
  <PresentationFormat>Widescreen</PresentationFormat>
  <Paragraphs>225</Paragraphs>
  <Slides>20</Slides>
  <Notes>20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</vt:lpstr>
      <vt:lpstr>Courier New</vt:lpstr>
      <vt:lpstr>Helvetica Neue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claudia lara cordova</cp:lastModifiedBy>
  <cp:revision>11</cp:revision>
  <dcterms:created xsi:type="dcterms:W3CDTF">2026-08-03T13:40:22Z</dcterms:created>
  <dcterms:modified xsi:type="dcterms:W3CDTF">2026-09-07T16:39:20Z</dcterms:modified>
</cp:coreProperties>
</file>