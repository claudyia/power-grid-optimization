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76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92"/>
    <p:restoredTop sz="94610"/>
  </p:normalViewPr>
  <p:slideViewPr>
    <p:cSldViewPr snapToGrid="0" snapToObjects="1">
      <p:cViewPr>
        <p:scale>
          <a:sx n="44" d="100"/>
          <a:sy n="44" d="100"/>
        </p:scale>
        <p:origin x="64" y="1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oglio_di_lavoro_di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Gurobi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0303D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 · Baseline</c:v>
                </c:pt>
                <c:pt idx="1">
                  <c:v>B · Vuoto</c:v>
                </c:pt>
                <c:pt idx="2">
                  <c:v>C · Pieno</c:v>
                </c:pt>
                <c:pt idx="3">
                  <c:v>D · Penalità bassa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9.6761400000000002</c:v>
                </c:pt>
                <c:pt idx="1">
                  <c:v>9.6799900000000001</c:v>
                </c:pt>
                <c:pt idx="2">
                  <c:v>9.6724700000000006</c:v>
                </c:pt>
                <c:pt idx="3">
                  <c:v>9.67258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96-D94F-A989-64AD61FF7F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HiGHS</c:v>
                </c:pt>
              </c:strCache>
            </c:strRef>
          </c:tx>
          <c:spPr>
            <a:solidFill>
              <a:srgbClr val="FFB100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0303D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 · Baseline</c:v>
                </c:pt>
                <c:pt idx="1">
                  <c:v>B · Vuoto</c:v>
                </c:pt>
                <c:pt idx="2">
                  <c:v>C · Pieno</c:v>
                </c:pt>
                <c:pt idx="3">
                  <c:v>D · Penalità bassa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9.6762999999999995</c:v>
                </c:pt>
                <c:pt idx="1">
                  <c:v>9.6800599999999992</c:v>
                </c:pt>
                <c:pt idx="2">
                  <c:v>9.6725300000000001</c:v>
                </c:pt>
                <c:pt idx="3">
                  <c:v>9.6725100000000008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96-D94F-A989-64AD61FF7F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30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.69"/>
          <c:min val="9.66"/>
        </c:scaling>
        <c:delete val="0"/>
        <c:axPos val="l"/>
        <c:majorGridlines>
          <c:spPr>
            <a:ln w="12700" cap="flat">
              <a:solidFill>
                <a:srgbClr val="E5EB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A85"/>
                    </a:solidFill>
                    <a:latin typeface="Arial"/>
                  </a:defRPr>
                </a:pPr>
                <a:r>
                  <a:rPr lang="it-IT" sz="1100" b="0" i="0" u="none" strike="noStrike" dirty="0">
                    <a:solidFill>
                      <a:srgbClr val="6B7A85"/>
                    </a:solidFill>
                    <a:latin typeface="Arial"/>
                  </a:rPr>
                  <a:t>EUR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0303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925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9A865-DDAE-98C3-96B5-825CD684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8D066-0C0D-3875-47AB-BF1AF0225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87FED-566D-6CC5-C88D-7E74FE39B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28D7E-BB76-8109-A373-2C103641BD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74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082B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271455" y="402336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2095928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Controllo MPC di un sistema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energetico industriale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383328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Rinnovabili, batteria e idrogeno gestiti ora per ora con un modello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ottimizzazione (MILP) risolto con Pyomo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Gestire un impianto energetico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senza sprecare né soldi né energia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impianto industriale produce energia da fonte rinnovabile, ha una batteria e un sistema a idrogeno, ed è collegato alla rete elettrica.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ora bisogna decidere: quanta energia comprare o vendere, quanto caricare la batteria, quanto produrre o consumare idrogeno.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L'obiettivo è minimizzare il costo, senza mai lasciare l'edificio senza energia e sprecando il meno possibile la produzione rinnovabile.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233172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63524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OBIETTIVI DA RISPETTARE</a:t>
            </a:r>
            <a:endParaRPr lang="en-US" sz="1250" dirty="0"/>
          </a:p>
          <a:p>
            <a:pPr marL="0" indent="0">
              <a:buNone/>
            </a:pPr>
            <a:r>
              <a:rPr lang="en-US" sz="1250" b="1" kern="0" spc="1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ORA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808976" y="3264408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808976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66760" y="32735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Minimizzare il costo netto di mercato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08976" y="3886200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808976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38953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Soddisfare sempre il carico dell'edificio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08976" y="4507992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808976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451713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Batteria sempre tra il 10% e il 90%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08976" y="5129784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808976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51389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Minimizzare lo spreco di rinnovabile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C49607-9D17-631A-235C-7562297B8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FA0E81-DEB6-DB3E-4ACF-7EEBA10A5089}"/>
              </a:ext>
            </a:extLst>
          </p:cNvPr>
          <p:cNvSpPr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Come è fatto l'impianto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0F5F45B-94F1-3535-4057-822AA4C5D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406" y="1297690"/>
            <a:ext cx="10149184" cy="583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181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dove vengono i dati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93338" cy="3566160"/>
          </a:xfrm>
          <a:prstGeom prst="roundRect">
            <a:avLst>
              <a:gd name="adj" fmla="val 21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93338" cy="128016"/>
          </a:xfrm>
          <a:prstGeom prst="round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RINNOVABILE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res_1_year_pu.mat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8446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Produzione fotovoltaica ed eolica, un anno intero ora per ora, in valori per unità (0-1) della potenza nominale.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9178" y="1965960"/>
            <a:ext cx="3393338" cy="3566160"/>
          </a:xfrm>
          <a:prstGeom prst="roundRect">
            <a:avLst>
              <a:gd name="adj" fmla="val 21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399178" y="1965960"/>
            <a:ext cx="3393338" cy="128016"/>
          </a:xfrm>
          <a:prstGeom prst="roundRect">
            <a:avLst/>
          </a:prstGeom>
          <a:solidFill>
            <a:srgbClr val="6B7A8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673498" y="23317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73498" y="269748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buildings_load.mat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73498" y="3291840"/>
            <a:ext cx="28446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 dell'edificio ora per ora, in energia oraria (kWh), convertiti in potenza media (MW).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49717" y="1965960"/>
            <a:ext cx="3393338" cy="3566160"/>
          </a:xfrm>
          <a:prstGeom prst="roundRect">
            <a:avLst>
              <a:gd name="adj" fmla="val 21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8249717" y="1965960"/>
            <a:ext cx="3393338" cy="128016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524037" y="23317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DI VENDITA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24037" y="269748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PUN_2022.mat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24037" y="3291840"/>
            <a:ext cx="28446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unico nazionale dell'energia, un valore di mercato reale per ogni ora dell'anno.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Decidere guardando avanti, un'ora alla volta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0836" y="1682496"/>
            <a:ext cx="10862219" cy="21624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r>
              <a:rPr lang="it-IT" sz="1600" dirty="0">
                <a:solidFill>
                  <a:srgbClr val="20303D"/>
                </a:solidFill>
                <a:latin typeface="Calibri" pitchFamily="34" charset="0"/>
                <a:cs typeface="Calibri" pitchFamily="34" charset="-120"/>
              </a:rPr>
              <a:t>L'MPC è un algoritmo intelligente che usa un modello matematico per prevedere il comportamento futuro di un sistema lungo un certo arco di tempo.</a:t>
            </a:r>
          </a:p>
          <a:p>
            <a:pPr lvl="0"/>
            <a:r>
              <a:rPr lang="it-IT" sz="1600" dirty="0">
                <a:solidFill>
                  <a:srgbClr val="20303D"/>
                </a:solidFill>
                <a:latin typeface="Calibri" pitchFamily="34" charset="0"/>
                <a:cs typeface="Calibri" pitchFamily="34" charset="-120"/>
              </a:rPr>
              <a:t>A ogni passo, calcola la sequenza di azioni ottimale per raggiungere l'obiettivo, scartando le opzioni che violano i limiti fisici e di sicurezza del sistema (vincoli).</a:t>
            </a:r>
          </a:p>
          <a:p>
            <a:pPr lvl="0"/>
            <a:endParaRPr lang="it-IT" sz="1600" dirty="0">
              <a:solidFill>
                <a:srgbClr val="20303D"/>
              </a:solidFill>
              <a:latin typeface="Calibri" pitchFamily="34" charset="0"/>
              <a:cs typeface="Calibri" pitchFamily="34" charset="-120"/>
            </a:endParaRPr>
          </a:p>
          <a:p>
            <a:pPr lvl="0"/>
            <a:r>
              <a:rPr lang="it-IT" sz="1600" dirty="0">
                <a:solidFill>
                  <a:srgbClr val="20303D"/>
                </a:solidFill>
                <a:latin typeface="Calibri" pitchFamily="34" charset="0"/>
                <a:cs typeface="Calibri" pitchFamily="34" charset="-120"/>
              </a:rPr>
              <a:t>Di questa sequenza applica solo la prima mossa, dopodiché acquisisce i nuovi dati reali e ripete da capo l'intero calcolo per l'istante successivo (orizzonte recedente).</a:t>
            </a:r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73072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611984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050896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489808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928720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367632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806544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5245456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684368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6123280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562192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7001104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7440016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7878928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8317840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8756752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9195664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9634576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624432" y="5303417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 corrente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(dato vero)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75792" y="4224425"/>
            <a:ext cx="7845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finestra di 24 ore ricalcolata ad ogni passo →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2103120"/>
            <a:ext cx="2499284" cy="3291840"/>
          </a:xfrm>
          <a:prstGeom prst="roundRect">
            <a:avLst>
              <a:gd name="adj" fmla="val 2927"/>
            </a:avLst>
          </a:prstGeom>
          <a:solidFill>
            <a:srgbClr val="082B40"/>
          </a:solidFill>
          <a:ln w="12700">
            <a:solidFill>
              <a:srgbClr val="082B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478242" y="2377440"/>
            <a:ext cx="640080" cy="64008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478242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calcola il piano ottimo per 24 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le previsioni disponibili in quel momento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47924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13684" y="2103120"/>
            <a:ext cx="2499284" cy="3291840"/>
          </a:xfrm>
          <a:prstGeom prst="roundRect">
            <a:avLst>
              <a:gd name="adj" fmla="val 2927"/>
            </a:avLst>
          </a:prstGeom>
          <a:solidFill>
            <a:srgbClr val="082B40"/>
          </a:solidFill>
          <a:ln w="12700">
            <a:solidFill>
              <a:srgbClr val="082B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343286" y="2377440"/>
            <a:ext cx="640080" cy="64008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34328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42284" y="32918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applica solo la decisione della 1ª ora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42284" y="4160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quella per cui, per costruzione, si usa il dato vero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12968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78728" y="2103120"/>
            <a:ext cx="2499284" cy="3291840"/>
          </a:xfrm>
          <a:prstGeom prst="roundRect">
            <a:avLst>
              <a:gd name="adj" fmla="val 2927"/>
            </a:avLst>
          </a:prstGeom>
          <a:solidFill>
            <a:srgbClr val="082B40"/>
          </a:solidFill>
          <a:ln w="12700">
            <a:solidFill>
              <a:srgbClr val="082B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7208330" y="2377440"/>
            <a:ext cx="640080" cy="64008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20833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07328" y="32918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aggiorna lo stato reale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07328" y="4160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nuovo livello di batteria e idrogeno diventa il punto di partenza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78011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43771" y="2103120"/>
            <a:ext cx="2499284" cy="3291840"/>
          </a:xfrm>
          <a:prstGeom prst="roundRect">
            <a:avLst>
              <a:gd name="adj" fmla="val 2927"/>
            </a:avLst>
          </a:prstGeom>
          <a:solidFill>
            <a:srgbClr val="082B40"/>
          </a:solidFill>
          <a:ln w="12700">
            <a:solidFill>
              <a:srgbClr val="082B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10073373" y="2377440"/>
            <a:ext cx="640080" cy="64008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0073373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72371" y="32918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ricalcola tutto per l'ora successiva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72371" y="4160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dati più aggiornati, invece di seguire un piano vecchio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problema di </a:t>
            </a:r>
            <a:r>
              <a:rPr lang="en-US" sz="3000" b="1" dirty="0" err="1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ottimizzazione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ogni ora, per calcolare la finestra di 24 ore, si costruisce un modello matematico con Pyomo e lo si risolve con un solver (Gurobi o HiGHS). Il modello ha tre parti: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può decidere il modello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28446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 energia importare, esportare, caricare o scaricare, produrre o consumare come idrogeno, ora per ora.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9178" y="274320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673498" y="30175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73498" y="342900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non può violare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73498" y="4251960"/>
            <a:ext cx="28446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bilancio di potenza, i limiti di rete, batteria e idrogeno, gli stati minimi e massimi ammessi.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49717" y="274320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C0433A"/>
          </a:solidFill>
          <a:ln w="12700">
            <a:solidFill>
              <a:srgbClr val="C043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524037" y="30175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24037" y="342900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deve minimizzare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24037" y="4251960"/>
            <a:ext cx="28446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costo netto di mercato, più una penalità per ogni MW di rinnovabile sprecato.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variabili, ora per 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1115568"/>
          </a:xfrm>
          <a:prstGeom prst="roundRect">
            <a:avLst>
              <a:gd name="adj" fmla="val 6557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28016" cy="1115568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14400" y="192938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Potenze continue [MW]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0" y="1929384"/>
            <a:ext cx="6979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P_import, P_export, P_curtailment, P_charge, P_discharge, P_electrolyzer, P_fuel_cell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94415" cy="1115568"/>
          </a:xfrm>
          <a:prstGeom prst="roundRect">
            <a:avLst>
              <a:gd name="adj" fmla="val 6557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28016" cy="1115568"/>
          </a:xfrm>
          <a:prstGeom prst="roundRect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14400" y="320954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 degli accumuli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0" y="3209544"/>
            <a:ext cx="6979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(batteria) e SoH (idrogeno): frazione tra 0 e 1, con i limiti minimo e massimo del progetto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94415" cy="1115568"/>
          </a:xfrm>
          <a:prstGeom prst="roundRect">
            <a:avLst>
              <a:gd name="adj" fmla="val 6557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28016" cy="1115568"/>
          </a:xfrm>
          <a:prstGeom prst="roundRect">
            <a:avLst/>
          </a:prstGeom>
          <a:solidFill>
            <a:srgbClr val="C043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14400" y="448970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Interruttori binari (0 o 1)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0" y="4489704"/>
            <a:ext cx="6979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delta_grid, delta_battery, delta_electrolyzer, delta_fuel_cell: impediscono scelte contraddittorie nella stessa ora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vincolo più importante: il bilancio di potenza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ogni ora, tutta l'energia che entra nel sistema deve uguagliare esattamente tutta l'energia che esce.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4572000" cy="3017520"/>
          </a:xfrm>
          <a:prstGeom prst="roundRect">
            <a:avLst>
              <a:gd name="adj" fmla="val 2424"/>
            </a:avLst>
          </a:prstGeom>
          <a:solidFill>
            <a:srgbClr val="EAF6EE"/>
          </a:solidFill>
          <a:ln w="12700">
            <a:solidFill>
              <a:srgbClr val="2F8F4E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NEL SISTEMA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Rinnovabile non sprecata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Energia comprata dalla rete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Energia dalla fuel cell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Scarica della batteria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752948" y="3771900"/>
            <a:ext cx="685800" cy="685800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752948" y="37719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071055" y="2606040"/>
            <a:ext cx="4572000" cy="3017520"/>
          </a:xfrm>
          <a:prstGeom prst="roundRect">
            <a:avLst>
              <a:gd name="adj" fmla="val 2424"/>
            </a:avLst>
          </a:prstGeom>
          <a:solidFill>
            <a:srgbClr val="FDEEEC"/>
          </a:solidFill>
          <a:ln w="12700">
            <a:solidFill>
              <a:srgbClr val="C0433A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345375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0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 DAL SISTEMA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45375" y="3291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Carico dell'edificio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45375" y="3840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Energia venduta alla rete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45375" y="4389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Energia all'elettrolizzatore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45375" y="4937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Carica della batteria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Batteria e idrogeno: la stessa logica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18608" cy="4160520"/>
          </a:xfrm>
          <a:prstGeom prst="roundRect">
            <a:avLst>
              <a:gd name="adj" fmla="val 1758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18608" cy="128016"/>
          </a:xfrm>
          <a:prstGeom prst="roundRect">
            <a:avLst/>
          </a:prstGeom>
          <a:solidFill>
            <a:srgbClr val="8A5CB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8A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12949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MWh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12949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02938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002938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47699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livello di carica di ogni ora dipende da quello dell'ora prima. Caricare fa perdere un po' di energia; scaricare ne richiede un po' di più di quella che esce davvero: sono le normali perdite di ogni batteria reale.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4448" y="1874520"/>
            <a:ext cx="5318608" cy="4160520"/>
          </a:xfrm>
          <a:prstGeom prst="roundRect">
            <a:avLst>
              <a:gd name="adj" fmla="val 1758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324448" y="1874520"/>
            <a:ext cx="5318608" cy="128016"/>
          </a:xfrm>
          <a:prstGeom prst="roundRect">
            <a:avLst/>
          </a:prstGeom>
          <a:solidFill>
            <a:srgbClr val="C043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598768" y="219456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C0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 IDROGENO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98768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MWh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98768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capacità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88757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MW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88757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elettr. / fuel cell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78746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 / 65%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778746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98768" y="3703320"/>
            <a:ext cx="47699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idea della batteria: produrre idrogeno (elettrolizzatore) lo riempie, consumarlo (fuel cell) lo svuota. I due non possono funzionare nella stessa ora.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funzione obiettivo: cosa vogliamo minimizzare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082B40"/>
          </a:solidFill>
          <a:ln w="12700">
            <a:solidFill>
              <a:srgbClr val="082B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B9C9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totale  =  </a:t>
            </a:r>
            <a:r>
              <a:rPr lang="en-US" sz="21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spesa per comprare</a:t>
            </a:r>
            <a:r>
              <a:rPr lang="en-US" sz="2100" dirty="0">
                <a:solidFill>
                  <a:srgbClr val="B9C9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−  </a:t>
            </a:r>
            <a:r>
              <a:rPr lang="en-US" sz="21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ricavo dal vendere</a:t>
            </a:r>
            <a:r>
              <a:rPr lang="en-US" sz="2100" dirty="0">
                <a:solidFill>
                  <a:srgbClr val="B9C9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r>
              <a:rPr lang="en-US" sz="2100" b="1" dirty="0">
                <a:solidFill>
                  <a:srgbClr val="F08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penalità per lo spreco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1109441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penalità per lo spreco (curtailment) non è un costo di mercato reale: è un numero scelto per orientare il modello.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 script principale vale 1000 EUR/MWh, molto più dei prezzi normali (circa 500 EUR/MWh): il modello preferisce quasi sempre caricare la batteria, fare idrogeno o vendere in rete piuttosto che sprecare energia.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una variante di prova (es.py) questo valore è stato abbassato a 0.01 EUR/MWh, quasi zero, per vedere cosa succede se il freno economico allo spreco viene tolto.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ciclo di simulazione, ora per 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2288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8201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448" y="2788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i dati della finestra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(previsione + valore vero dell'ora corrente)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92528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04008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91373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41168" y="2788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Risolve il modello MILP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sulle prossime 24 ore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24248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35728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24545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72888" y="2788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 solo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1ª decisione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5968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67448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57717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04608" y="2788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 lo stato reale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(batteria e idrogeno)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87688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799168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990889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36328" y="2788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 il costo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 dati veri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432408" y="4069080"/>
            <a:ext cx="9326880" cy="914"/>
          </a:xfrm>
          <a:prstGeom prst="line">
            <a:avLst/>
          </a:prstGeom>
          <a:noFill/>
          <a:ln w="28575">
            <a:solidFill>
              <a:srgbClr val="FFB100"/>
            </a:solidFill>
            <a:prstDash val="solid"/>
            <a:head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72288" y="4251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ripete per ogni ora simulata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codice questo ciclo è la funzione run_mpc_simulation, che chiama solve_mpc_step ad ogni ora.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è organizzato lo 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4023360"/>
          </a:xfrm>
          <a:prstGeom prst="roundRect">
            <a:avLst>
              <a:gd name="adj" fmla="val 2667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 in fila tutti i passi: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argomenti → dati → solver →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→ CSV e grafico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31920" y="1874520"/>
            <a:ext cx="7711135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160520" y="19476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load_project_data()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0" y="1947672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i file .mat e prepara i dati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2706624"/>
            <a:ext cx="7711135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160520" y="2779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select_solver()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2779776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un solver Pyomo disponibile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3538728"/>
            <a:ext cx="7711135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160520" y="36118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run_mpc_simulation()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0" y="3611880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ripete il ciclo ora per ora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4370832"/>
            <a:ext cx="7711135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160520" y="44439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solve_mpc_step()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0" y="4443984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costruisce e risolve il modello MILP di una finestra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5202936"/>
            <a:ext cx="7711135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160520" y="52760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save_results_csv() / create_plots()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0" y="5276088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salvano la tabella oraria e il grafico riassuntivo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 esperimenti condotti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capire come si comporta il sistema, la simulazione sull'intero anno (6529 ore) è stata ripetuta in 4 scenari, ognuno risolto sia con Gurobi che con HiGHS: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533574" cy="2834640"/>
          </a:xfrm>
          <a:prstGeom prst="roundRect">
            <a:avLst>
              <a:gd name="adj" fmla="val 288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472527" y="2948940"/>
            <a:ext cx="685800" cy="68580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472527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21678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SoH iniziali a metà (0.50 / 0.50)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2254" y="2697480"/>
            <a:ext cx="2533574" cy="2834640"/>
          </a:xfrm>
          <a:prstGeom prst="roundRect">
            <a:avLst>
              <a:gd name="adj" fmla="val 2887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326141" y="2948940"/>
            <a:ext cx="685800" cy="68580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326141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85134" y="3840480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Accumuli vuoti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85134" y="4343400"/>
            <a:ext cx="21678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SoH iniziali al minimo (0.10 / 0.00)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5868" y="2697480"/>
            <a:ext cx="2533574" cy="2834640"/>
          </a:xfrm>
          <a:prstGeom prst="roundRect">
            <a:avLst>
              <a:gd name="adj" fmla="val 2887"/>
            </a:avLst>
          </a:prstGeom>
          <a:solidFill>
            <a:srgbClr val="8A5CBF"/>
          </a:solidFill>
          <a:ln w="12700">
            <a:solidFill>
              <a:srgbClr val="8A5CB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7179755" y="2948940"/>
            <a:ext cx="685800" cy="68580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179755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38748" y="3840480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Accumuli pieni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38748" y="4343400"/>
            <a:ext cx="21678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SoH iniziali al massimo (0.90 / 1.00)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09481" y="2697480"/>
            <a:ext cx="2533574" cy="2834640"/>
          </a:xfrm>
          <a:prstGeom prst="roundRect">
            <a:avLst>
              <a:gd name="adj" fmla="val 2887"/>
            </a:avLst>
          </a:prstGeom>
          <a:solidFill>
            <a:srgbClr val="C0433A"/>
          </a:solidFill>
          <a:ln w="12700">
            <a:solidFill>
              <a:srgbClr val="C043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10033368" y="2948940"/>
            <a:ext cx="685800" cy="68580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0033368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92361" y="3840480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Penalità bassa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292361" y="4343400"/>
            <a:ext cx="21678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C, ma penalità curtailment quasi nulla (0.01)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216152" y="583387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216152" y="5833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91640" y="5806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 (solver commerciale)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05272" y="5833872"/>
            <a:ext cx="310896" cy="310896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605272" y="5833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80760" y="5806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HiGHS (solver open-source)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costo cambia pochissimo tra scenari e solver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768641308"/>
              </p:ext>
            </p:extLst>
          </p:nvPr>
        </p:nvGraphicFramePr>
        <p:xfrm>
          <a:off x="548640" y="1828800"/>
          <a:ext cx="7863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9052560" y="1828800"/>
            <a:ext cx="2590495" cy="4206240"/>
          </a:xfrm>
          <a:prstGeom prst="roundRect">
            <a:avLst>
              <a:gd name="adj" fmla="val 2824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9281160" y="2148840"/>
            <a:ext cx="2133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MWh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281160" y="2926080"/>
            <a:ext cx="2133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curtailment in TUTTI e 4 gli scenari, con entrambi i solver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418320" y="3886200"/>
            <a:ext cx="1858975" cy="914"/>
          </a:xfrm>
          <a:prstGeom prst="line">
            <a:avLst/>
          </a:prstGeom>
          <a:noFill/>
          <a:ln w="12700">
            <a:solidFill>
              <a:srgbClr val="2E597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9281160" y="4069080"/>
            <a:ext cx="2133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0,01%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281160" y="4617720"/>
            <a:ext cx="2133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differenza di costo tra Gurobi e HiGHS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scoperta inattesa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67665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 scenario D la penalità sul curtailment è stata abbassata a quasi zero, aspettandosi più spreco di rinnovabile.</a:t>
            </a:r>
            <a:endParaRPr lang="en-US" sz="1550" dirty="0"/>
          </a:p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Invece il curtailment resta a zero anche in questo scenario, sull'intero anno.</a:t>
            </a:r>
            <a:endParaRPr lang="en-US" sz="1550" dirty="0"/>
          </a:p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motivo: su base annuale batteria, idrogeno ed export in rete offrono sempre abbastanza spazio per assorbire la produzione rinnovabile, anche quando gli accumuli partono già pieni.</a:t>
            </a:r>
            <a:endParaRPr lang="en-US" sz="1550" dirty="0"/>
          </a:p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curtailment si osserva solo in un test sintetico dedicato (ultimo_test.py), costruito apposta con accumuli pieni e produzione rinnovabile molto più alta del carico.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4572000" cy="4572000"/>
          </a:xfrm>
          <a:prstGeom prst="ellipse">
            <a:avLst/>
          </a:prstGeom>
          <a:solidFill>
            <a:srgbClr val="082B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 per l'attenzione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1370</Words>
  <Application>Microsoft Macintosh PowerPoint</Application>
  <PresentationFormat>Widescreen</PresentationFormat>
  <Paragraphs>199</Paragraphs>
  <Slides>17</Slides>
  <Notes>17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claudia lara cordova</cp:lastModifiedBy>
  <cp:revision>6</cp:revision>
  <dcterms:created xsi:type="dcterms:W3CDTF">2026-08-03T13:40:22Z</dcterms:created>
  <dcterms:modified xsi:type="dcterms:W3CDTF">2026-09-07T14:29:39Z</dcterms:modified>
</cp:coreProperties>
</file>