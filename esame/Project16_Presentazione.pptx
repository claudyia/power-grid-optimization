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rts/chart1.xml" ContentType="application/vnd.openxmlformats-officedocument.drawingml.chart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8" r:id="rId3"/>
    <p:sldId id="276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7" r:id="rId16"/>
    <p:sldId id="281" r:id="rId17"/>
    <p:sldId id="282" r:id="rId18"/>
    <p:sldId id="272" r:id="rId19"/>
    <p:sldId id="273" r:id="rId20"/>
    <p:sldId id="275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404"/>
    <p:restoredTop sz="94610"/>
  </p:normalViewPr>
  <p:slideViewPr>
    <p:cSldViewPr snapToGrid="0" snapToObjects="1">
      <p:cViewPr>
        <p:scale>
          <a:sx n="109" d="100"/>
          <a:sy n="109" d="100"/>
        </p:scale>
        <p:origin x="432" y="5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Foglio_di_lavoro_di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Gurobi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20303D"/>
                    </a:solidFill>
                    <a:latin typeface="Arial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 · Baseline</c:v>
                </c:pt>
                <c:pt idx="1">
                  <c:v>B · Vuoto</c:v>
                </c:pt>
                <c:pt idx="2">
                  <c:v>C · Pieno</c:v>
                </c:pt>
                <c:pt idx="3">
                  <c:v>D · Penalità bassa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9.6761400000000002</c:v>
                </c:pt>
                <c:pt idx="1">
                  <c:v>9.6799900000000001</c:v>
                </c:pt>
                <c:pt idx="2">
                  <c:v>9.6724700000000006</c:v>
                </c:pt>
                <c:pt idx="3">
                  <c:v>9.67258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A96-D94F-A989-64AD61FF7FE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HiGHS</c:v>
                </c:pt>
              </c:strCache>
            </c:strRef>
          </c:tx>
          <c:spPr>
            <a:solidFill>
              <a:srgbClr val="FFB100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20303D"/>
                    </a:solidFill>
                    <a:latin typeface="Arial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 · Baseline</c:v>
                </c:pt>
                <c:pt idx="1">
                  <c:v>B · Vuoto</c:v>
                </c:pt>
                <c:pt idx="2">
                  <c:v>C · Pieno</c:v>
                </c:pt>
                <c:pt idx="3">
                  <c:v>D · Penalità bassa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9.6762999999999995</c:v>
                </c:pt>
                <c:pt idx="1">
                  <c:v>9.6800599999999992</c:v>
                </c:pt>
                <c:pt idx="2">
                  <c:v>9.6725300000000001</c:v>
                </c:pt>
                <c:pt idx="3">
                  <c:v>9.6725100000000008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A96-D94F-A989-64AD61FF7FE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0303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.69"/>
          <c:min val="9.66"/>
        </c:scaling>
        <c:delete val="0"/>
        <c:axPos val="l"/>
        <c:majorGridlines>
          <c:spPr>
            <a:ln w="12700" cap="flat">
              <a:solidFill>
                <a:srgbClr val="E5EB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6B7A85"/>
                    </a:solidFill>
                    <a:latin typeface="Arial"/>
                  </a:defRPr>
                </a:pPr>
                <a:r>
                  <a:rPr lang="it-IT" sz="1100" b="0" i="0" u="none" strike="noStrike" dirty="0">
                    <a:solidFill>
                      <a:srgbClr val="6B7A85"/>
                    </a:solidFill>
                    <a:latin typeface="Arial"/>
                  </a:rPr>
                  <a:t>EUR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A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0303D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4925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9A865-DDAE-98C3-96B5-825CD6843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28D066-0C0D-3875-47AB-BF1AF02257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487FED-566D-6CC5-C88D-7E74FE39B2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228D7E-BB76-8109-A373-2C103641BD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1743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16731-0F31-8E17-7250-80C27AF71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1E20F5-DE36-00EC-1CA2-F80DB5CCD6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5034BB-7536-D56B-54D5-A11BD0D0E5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63BE16-192A-867B-5163-E382D1B50C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632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8E446-711F-7057-9421-564AFDAD8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129E3-F142-D9EB-6D4E-80C9552EF1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266A29-A9B0-AE6D-AB03-06620B0224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D67621-CCBA-F5F0-1CCB-785F75A8BE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2528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07DB7-5F52-6A48-A956-448A729E8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9312F8-A68E-F47F-D2E0-914A84FBB8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A0A9EB-D7D9-BD7E-7581-193FA88F08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F5FA77-4186-3162-2E36-2B5AE60F92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41871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463040"/>
            <a:ext cx="4754880" cy="4754880"/>
          </a:xfrm>
          <a:prstGeom prst="ellipse">
            <a:avLst/>
          </a:prstGeom>
          <a:solidFill>
            <a:srgbClr val="082B4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10271455" y="4023360"/>
            <a:ext cx="2926080" cy="292608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548640" y="2095928"/>
            <a:ext cx="9692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Controllo MPC di un sistema</a:t>
            </a:r>
            <a:endParaRPr lang="en-US" sz="4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energetico industriale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548640" y="3833288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Rinnovabili, batteria e idrogeno gestiti ora per ora con un modello</a:t>
            </a:r>
            <a:endParaRPr lang="en-US" sz="16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</a:t>
            </a:r>
            <a:r>
              <a:rPr lang="en-US" sz="1600" dirty="0" err="1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ottimizzazione</a:t>
            </a:r>
            <a:r>
              <a:rPr lang="en-US" sz="16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(MILP) </a:t>
            </a:r>
            <a:r>
              <a:rPr lang="en-US" sz="1600" dirty="0" err="1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risolto</a:t>
            </a:r>
            <a:r>
              <a:rPr lang="en-US" sz="16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</a:t>
            </a:r>
            <a:r>
              <a:rPr lang="en-US" sz="1600" dirty="0" err="1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Pyomo</a:t>
            </a:r>
            <a:endParaRPr lang="en-US" sz="1600" dirty="0"/>
          </a:p>
        </p:txBody>
      </p:sp>
      <p:sp>
        <p:nvSpPr>
          <p:cNvPr id="4" name="Text 6">
            <a:extLst>
              <a:ext uri="{FF2B5EF4-FFF2-40B4-BE49-F238E27FC236}">
                <a16:creationId xmlns:a16="http://schemas.microsoft.com/office/drawing/2014/main" id="{0783428A-3434-CE03-9015-45915F6A153B}"/>
              </a:ext>
            </a:extLst>
          </p:cNvPr>
          <p:cNvSpPr/>
          <p:nvPr/>
        </p:nvSpPr>
        <p:spPr>
          <a:xfrm>
            <a:off x="548640" y="5204888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--Claudia Lara Cordova 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Gestire un impianto energetico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senza sprecare né soldi né energia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60350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impianto industriale produce energia da fonte rinnovabile, ha una batteria e un sistema a idrogeno, ed è collegato alla rete elettrica.</a:t>
            </a:r>
            <a:endParaRPr lang="en-US" sz="16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ora bisogna decidere: quanta energia comprare o vendere, quanto caricare la batteria, quanto produrre o consumare idrogeno.</a:t>
            </a:r>
            <a:endParaRPr lang="en-US" sz="16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L'obiettivo è minimizzare il costo, senza mai lasciare l'edificio senza energia e sprecando il meno possibile la produzione rinnovabile.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0" y="2331720"/>
            <a:ext cx="4297680" cy="3566160"/>
          </a:xfrm>
          <a:prstGeom prst="roundRect">
            <a:avLst>
              <a:gd name="adj" fmla="val 2051"/>
            </a:avLst>
          </a:prstGeom>
          <a:solidFill>
            <a:srgbClr val="0B3D59"/>
          </a:solidFill>
          <a:ln w="12700">
            <a:solidFill>
              <a:srgbClr val="0B3D5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7635240" y="26060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FFB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OBIETTIVI DA RISPETTARE</a:t>
            </a:r>
            <a:endParaRPr lang="en-US" sz="1250" dirty="0"/>
          </a:p>
          <a:p>
            <a:pPr marL="0" indent="0">
              <a:buNone/>
            </a:pPr>
            <a:r>
              <a:rPr lang="en-US" sz="1250" b="1" kern="0" spc="100" dirty="0">
                <a:solidFill>
                  <a:srgbClr val="FFB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ORA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808976" y="3264408"/>
            <a:ext cx="384048" cy="384048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7808976" y="3264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366760" y="327355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Minimizzare il costo netto di mercato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808976" y="3886200"/>
            <a:ext cx="384048" cy="384048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7808976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366760" y="3895344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Soddisfare sempre il carico dell'edificio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808976" y="4507992"/>
            <a:ext cx="384048" cy="384048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7808976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66760" y="4517136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Batteria sempre tra il 10% e il 90%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808976" y="5129784"/>
            <a:ext cx="384048" cy="384048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7808976" y="5129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66760" y="5138928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Minimizzare lo spreco di rinnovabile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C49607-9D17-631A-235C-7562297B8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CFA0E81-DEB6-DB3E-4ACF-7EEBA10A5089}"/>
              </a:ext>
            </a:extLst>
          </p:cNvPr>
          <p:cNvSpPr/>
          <p:nvPr/>
        </p:nvSpPr>
        <p:spPr>
          <a:xfrm>
            <a:off x="699713" y="248038"/>
            <a:ext cx="7063721" cy="1159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Come è fatto l'impianto</a:t>
            </a:r>
            <a:endParaRPr lang="en-US" sz="40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70F5F45B-94F1-3535-4057-822AA4C5DF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406" y="1297690"/>
            <a:ext cx="10149184" cy="5835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1816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dove vengono i dati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393338" cy="3566160"/>
          </a:xfrm>
          <a:prstGeom prst="roundRect">
            <a:avLst>
              <a:gd name="adj" fmla="val 2156"/>
            </a:avLst>
          </a:prstGeom>
          <a:solidFill>
            <a:srgbClr val="F1F5F8"/>
          </a:solidFill>
          <a:ln w="12700">
            <a:solidFill>
              <a:srgbClr val="DCE6EC"/>
            </a:solidFill>
            <a:prstDash val="solid"/>
          </a:ln>
          <a:effectLst>
            <a:outerShdw blurRad="76200" dist="25400" dir="5400000" algn="bl" rotWithShape="0">
              <a:srgbClr val="9AA7AF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393338" cy="128016"/>
          </a:xfrm>
          <a:prstGeom prst="roundRect">
            <a:avLst/>
          </a:prstGeom>
          <a:solidFill>
            <a:srgbClr val="2F8F4E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22960" y="233172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RINNOVABILE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D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res_1_year_pu.mat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3291840"/>
            <a:ext cx="284469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Produzione fotovoltaica ed eolica, un anno intero ora per ora, in valori per unità (0-1) della potenza nominale.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99178" y="1965960"/>
            <a:ext cx="3393338" cy="3566160"/>
          </a:xfrm>
          <a:prstGeom prst="roundRect">
            <a:avLst>
              <a:gd name="adj" fmla="val 2156"/>
            </a:avLst>
          </a:prstGeom>
          <a:solidFill>
            <a:srgbClr val="F1F5F8"/>
          </a:solidFill>
          <a:ln w="12700">
            <a:solidFill>
              <a:srgbClr val="DCE6EC"/>
            </a:solidFill>
            <a:prstDash val="solid"/>
          </a:ln>
          <a:effectLst>
            <a:outerShdw blurRad="76200" dist="25400" dir="5400000" algn="bl" rotWithShape="0">
              <a:srgbClr val="9AA7AF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4399178" y="1965960"/>
            <a:ext cx="3393338" cy="128016"/>
          </a:xfrm>
          <a:prstGeom prst="roundRect">
            <a:avLst/>
          </a:prstGeom>
          <a:solidFill>
            <a:srgbClr val="6B7A8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4673498" y="233172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CARICO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73498" y="269748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D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buildings_load.mat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73498" y="3291840"/>
            <a:ext cx="284469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 dell'edificio ora per ora, in energia oraria (kWh), convertiti in potenza media (MW).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49717" y="1965960"/>
            <a:ext cx="3393338" cy="3566160"/>
          </a:xfrm>
          <a:prstGeom prst="roundRect">
            <a:avLst>
              <a:gd name="adj" fmla="val 2156"/>
            </a:avLst>
          </a:prstGeom>
          <a:solidFill>
            <a:srgbClr val="F1F5F8"/>
          </a:solidFill>
          <a:ln w="12700">
            <a:solidFill>
              <a:srgbClr val="DCE6EC"/>
            </a:solidFill>
            <a:prstDash val="solid"/>
          </a:ln>
          <a:effectLst>
            <a:outerShdw blurRad="76200" dist="25400" dir="5400000" algn="bl" rotWithShape="0">
              <a:srgbClr val="9AA7AF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5" name="Shape 13"/>
          <p:cNvSpPr/>
          <p:nvPr/>
        </p:nvSpPr>
        <p:spPr>
          <a:xfrm>
            <a:off x="8249717" y="1965960"/>
            <a:ext cx="3393338" cy="128016"/>
          </a:xfrm>
          <a:prstGeom prst="round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8524037" y="233172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PREZZO DI VENDITA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24037" y="269748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D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PUN_2022.mat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24037" y="3291840"/>
            <a:ext cx="284469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Prezzo unico nazionale dell'energia, un valore di mercato reale per ogni ora dell'anno.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Decidere guardando avanti, un'ora alla volta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80836" y="1682496"/>
            <a:ext cx="10862219" cy="21624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5000"/>
              </a:lnSpc>
              <a:spcAft>
                <a:spcPts val="1200"/>
              </a:spcAft>
              <a:buSzPct val="100000"/>
            </a:pPr>
            <a:r>
              <a:rPr lang="it-IT" sz="1600" dirty="0">
                <a:solidFill>
                  <a:srgbClr val="20303D"/>
                </a:solidFill>
                <a:latin typeface="Calibri" pitchFamily="34" charset="0"/>
                <a:cs typeface="Calibri" pitchFamily="34" charset="-120"/>
              </a:rPr>
              <a:t>L'MPC è un algoritmo intelligente che usa un modello matematico per prevedere il comportamento futuro di un sistema lungo un certo arco di tempo.</a:t>
            </a:r>
          </a:p>
          <a:p>
            <a:pPr lvl="0"/>
            <a:r>
              <a:rPr lang="it-IT" sz="1600" dirty="0">
                <a:solidFill>
                  <a:srgbClr val="20303D"/>
                </a:solidFill>
                <a:latin typeface="Calibri" pitchFamily="34" charset="0"/>
                <a:cs typeface="Calibri" pitchFamily="34" charset="-120"/>
              </a:rPr>
              <a:t>A ogni passo, calcola la sequenza di azioni ottimale per raggiungere l'obiettivo, scartando le opzioni che violano i limiti fisici e di sicurezza del sistema (vincoli).</a:t>
            </a:r>
          </a:p>
          <a:p>
            <a:pPr lvl="0"/>
            <a:endParaRPr lang="it-IT" sz="1600" dirty="0">
              <a:solidFill>
                <a:srgbClr val="20303D"/>
              </a:solidFill>
              <a:latin typeface="Calibri" pitchFamily="34" charset="0"/>
              <a:cs typeface="Calibri" pitchFamily="34" charset="-120"/>
            </a:endParaRPr>
          </a:p>
          <a:p>
            <a:pPr lvl="0"/>
            <a:r>
              <a:rPr lang="it-IT" sz="1600" dirty="0">
                <a:solidFill>
                  <a:srgbClr val="20303D"/>
                </a:solidFill>
                <a:latin typeface="Calibri" pitchFamily="34" charset="0"/>
                <a:cs typeface="Calibri" pitchFamily="34" charset="-120"/>
              </a:rPr>
              <a:t>Di questa sequenza applica solo la prima mossa, dopodiché acquisisce i nuovi dati reali e ripete da capo l'intero calcolo per l'istante successivo (orizzonte recedente).</a:t>
            </a:r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173072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FFB10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Shape 4"/>
          <p:cNvSpPr/>
          <p:nvPr/>
        </p:nvSpPr>
        <p:spPr>
          <a:xfrm>
            <a:off x="2611984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3050896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Shape 6"/>
          <p:cNvSpPr/>
          <p:nvPr/>
        </p:nvSpPr>
        <p:spPr>
          <a:xfrm>
            <a:off x="3489808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Shape 7"/>
          <p:cNvSpPr/>
          <p:nvPr/>
        </p:nvSpPr>
        <p:spPr>
          <a:xfrm>
            <a:off x="3928720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4367632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Shape 9"/>
          <p:cNvSpPr/>
          <p:nvPr/>
        </p:nvSpPr>
        <p:spPr>
          <a:xfrm>
            <a:off x="4806544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5245456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Shape 11"/>
          <p:cNvSpPr/>
          <p:nvPr/>
        </p:nvSpPr>
        <p:spPr>
          <a:xfrm>
            <a:off x="5684368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Shape 12"/>
          <p:cNvSpPr/>
          <p:nvPr/>
        </p:nvSpPr>
        <p:spPr>
          <a:xfrm>
            <a:off x="6123280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5" name="Shape 13"/>
          <p:cNvSpPr/>
          <p:nvPr/>
        </p:nvSpPr>
        <p:spPr>
          <a:xfrm>
            <a:off x="6562192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7001104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7440016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8" name="Shape 16"/>
          <p:cNvSpPr/>
          <p:nvPr/>
        </p:nvSpPr>
        <p:spPr>
          <a:xfrm>
            <a:off x="7878928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9" name="Shape 17"/>
          <p:cNvSpPr/>
          <p:nvPr/>
        </p:nvSpPr>
        <p:spPr>
          <a:xfrm>
            <a:off x="8317840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0" name="Shape 18"/>
          <p:cNvSpPr/>
          <p:nvPr/>
        </p:nvSpPr>
        <p:spPr>
          <a:xfrm>
            <a:off x="8756752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1" name="Shape 19"/>
          <p:cNvSpPr/>
          <p:nvPr/>
        </p:nvSpPr>
        <p:spPr>
          <a:xfrm>
            <a:off x="9195664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2" name="Shape 20"/>
          <p:cNvSpPr/>
          <p:nvPr/>
        </p:nvSpPr>
        <p:spPr>
          <a:xfrm>
            <a:off x="9634576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1624432" y="5303417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 corrente</a:t>
            </a:r>
            <a:endParaRPr lang="en-US" sz="10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(dato vero)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075792" y="4224425"/>
            <a:ext cx="7845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finestra di 24 ore ricalcolata ad ogni passo →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3D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548640" y="2103120"/>
            <a:ext cx="2499284" cy="3291840"/>
          </a:xfrm>
          <a:prstGeom prst="roundRect">
            <a:avLst>
              <a:gd name="adj" fmla="val 2927"/>
            </a:avLst>
          </a:prstGeom>
          <a:solidFill>
            <a:srgbClr val="082B40"/>
          </a:solidFill>
          <a:ln w="12700">
            <a:solidFill>
              <a:srgbClr val="082B4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1478242" y="2377440"/>
            <a:ext cx="640080" cy="640080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1478242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3291840"/>
            <a:ext cx="20420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calcola il piano ottimo per 24 ore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4160520"/>
            <a:ext cx="20420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B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usando le previsioni disponibili in quel momento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47924" y="33832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B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413684" y="2103120"/>
            <a:ext cx="2499284" cy="3291840"/>
          </a:xfrm>
          <a:prstGeom prst="roundRect">
            <a:avLst>
              <a:gd name="adj" fmla="val 2927"/>
            </a:avLst>
          </a:prstGeom>
          <a:solidFill>
            <a:srgbClr val="082B40"/>
          </a:solidFill>
          <a:ln w="12700">
            <a:solidFill>
              <a:srgbClr val="082B4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Shape 9"/>
          <p:cNvSpPr/>
          <p:nvPr/>
        </p:nvSpPr>
        <p:spPr>
          <a:xfrm>
            <a:off x="4343286" y="2377440"/>
            <a:ext cx="640080" cy="640080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4343286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642284" y="3291840"/>
            <a:ext cx="20420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applica solo la decisione della 1ª ora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42284" y="4160520"/>
            <a:ext cx="20420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B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quella per cui, per costruzione, si usa il dato vero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12968" y="33832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B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78728" y="2103120"/>
            <a:ext cx="2499284" cy="3291840"/>
          </a:xfrm>
          <a:prstGeom prst="roundRect">
            <a:avLst>
              <a:gd name="adj" fmla="val 2927"/>
            </a:avLst>
          </a:prstGeom>
          <a:solidFill>
            <a:srgbClr val="082B40"/>
          </a:solidFill>
          <a:ln w="12700">
            <a:solidFill>
              <a:srgbClr val="082B4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7208330" y="2377440"/>
            <a:ext cx="640080" cy="640080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7208330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507328" y="3291840"/>
            <a:ext cx="20420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aggiorna lo stato reale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507328" y="4160520"/>
            <a:ext cx="20420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B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nuovo livello di batteria e idrogeno diventa il punto di partenza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778011" y="33832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B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9143771" y="2103120"/>
            <a:ext cx="2499284" cy="3291840"/>
          </a:xfrm>
          <a:prstGeom prst="roundRect">
            <a:avLst>
              <a:gd name="adj" fmla="val 2927"/>
            </a:avLst>
          </a:prstGeom>
          <a:solidFill>
            <a:srgbClr val="082B40"/>
          </a:solidFill>
          <a:ln w="12700">
            <a:solidFill>
              <a:srgbClr val="082B4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Shape 21"/>
          <p:cNvSpPr/>
          <p:nvPr/>
        </p:nvSpPr>
        <p:spPr>
          <a:xfrm>
            <a:off x="10073373" y="2377440"/>
            <a:ext cx="640080" cy="640080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10073373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372371" y="3291840"/>
            <a:ext cx="20420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ricalcola tutto per l'ora successiva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372371" y="4160520"/>
            <a:ext cx="20420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B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dati più aggiornati, invece di seguire un piano vecchio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problema di </a:t>
            </a:r>
            <a:r>
              <a:rPr lang="en-US" sz="3000" b="1" dirty="0" err="1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ottimizzazione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ogni ora, per calcolare la finestra di 24 ore, si costruisce un modello matematico con Pyomo e lo si risolve con un solver (Gurobi o HiGHS). Il modello ha tre parti: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22960" y="301752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FFB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VARIABILI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429000"/>
            <a:ext cx="28446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può decidere il modello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4251960"/>
            <a:ext cx="284469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Quanta energia importare, esportare, caricare o scaricare, produrre o consumare come idrogeno, ora per ora.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99178" y="274320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0B3D59"/>
          </a:solidFill>
          <a:ln w="12700">
            <a:solidFill>
              <a:srgbClr val="0B3D5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4673498" y="301752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FFB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VINCOLI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673498" y="3429000"/>
            <a:ext cx="28446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non può violare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73498" y="4251960"/>
            <a:ext cx="284469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bilancio di potenza, i limiti di rete, batteria e idrogeno, gli stati minimi e massimi ammessi.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49717" y="274320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C0433A"/>
          </a:solidFill>
          <a:ln w="12700">
            <a:solidFill>
              <a:srgbClr val="C0433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8524037" y="301752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FFB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OBIETTIVO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524037" y="3429000"/>
            <a:ext cx="28446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deve minimizzare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524037" y="4251960"/>
            <a:ext cx="284469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costo netto di mercato, più una penalità per ogni MW di rinnovabile sprecato.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variabili, ora per ora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94415" cy="1115568"/>
          </a:xfrm>
          <a:prstGeom prst="roundRect">
            <a:avLst>
              <a:gd name="adj" fmla="val 6557"/>
            </a:avLst>
          </a:prstGeom>
          <a:solidFill>
            <a:srgbClr val="F1F5F8"/>
          </a:solidFill>
          <a:ln w="12700">
            <a:solidFill>
              <a:srgbClr val="DCE6EC"/>
            </a:solidFill>
            <a:prstDash val="solid"/>
          </a:ln>
          <a:effectLst>
            <a:outerShdw blurRad="76200" dist="25400" dir="5400000" algn="bl" rotWithShape="0">
              <a:srgbClr val="9AA7AF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28016" cy="1115568"/>
          </a:xfrm>
          <a:prstGeom prst="round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914400" y="1929384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Potenze continue [MW]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389120" y="1929384"/>
            <a:ext cx="6979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03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P_import, P_export, P_curtailment, P_charge, P_discharge, P_electrolyzer, P_fuel_cell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063240"/>
            <a:ext cx="11094415" cy="1115568"/>
          </a:xfrm>
          <a:prstGeom prst="roundRect">
            <a:avLst>
              <a:gd name="adj" fmla="val 6557"/>
            </a:avLst>
          </a:prstGeom>
          <a:solidFill>
            <a:srgbClr val="F1F5F8"/>
          </a:solidFill>
          <a:ln w="12700">
            <a:solidFill>
              <a:srgbClr val="DCE6EC"/>
            </a:solidFill>
            <a:prstDash val="solid"/>
          </a:ln>
          <a:effectLst>
            <a:outerShdw blurRad="76200" dist="25400" dir="5400000" algn="bl" rotWithShape="0">
              <a:srgbClr val="9AA7AF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" name="Shape 7"/>
          <p:cNvSpPr/>
          <p:nvPr/>
        </p:nvSpPr>
        <p:spPr>
          <a:xfrm>
            <a:off x="548640" y="3063240"/>
            <a:ext cx="128016" cy="1115568"/>
          </a:xfrm>
          <a:prstGeom prst="roundRect">
            <a:avLst/>
          </a:prstGeom>
          <a:solidFill>
            <a:srgbClr val="0B3D5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914400" y="3209544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 degli accumuli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389120" y="3209544"/>
            <a:ext cx="6979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03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 (batteria) e SoH (idrogeno): frazione tra 0 e 1, con i limiti minimo e massimo del progetto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343400"/>
            <a:ext cx="11094415" cy="1115568"/>
          </a:xfrm>
          <a:prstGeom prst="roundRect">
            <a:avLst>
              <a:gd name="adj" fmla="val 6557"/>
            </a:avLst>
          </a:prstGeom>
          <a:solidFill>
            <a:srgbClr val="F1F5F8"/>
          </a:solidFill>
          <a:ln w="12700">
            <a:solidFill>
              <a:srgbClr val="DCE6EC"/>
            </a:solidFill>
            <a:prstDash val="solid"/>
          </a:ln>
          <a:effectLst>
            <a:outerShdw blurRad="76200" dist="25400" dir="5400000" algn="bl" rotWithShape="0">
              <a:srgbClr val="9AA7AF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128016" cy="1115568"/>
          </a:xfrm>
          <a:prstGeom prst="roundRect">
            <a:avLst/>
          </a:prstGeom>
          <a:solidFill>
            <a:srgbClr val="C0433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914400" y="4489704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Interruttori binari (0 o 1)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389120" y="4489704"/>
            <a:ext cx="6979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03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delta_grid, delta_battery, delta_electrolyzer, delta_fuel_cell: impediscono scelte contraddittorie nella stessa ora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vincolo più importante: il bilancio di potenza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ogni ora, tutta l'energia che entra nel sistema deve uguagliare esattamente tutta l'energia che esce.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4572000" cy="3017520"/>
          </a:xfrm>
          <a:prstGeom prst="roundRect">
            <a:avLst>
              <a:gd name="adj" fmla="val 2424"/>
            </a:avLst>
          </a:prstGeom>
          <a:solidFill>
            <a:srgbClr val="EAF6EE"/>
          </a:solidFill>
          <a:ln w="12700">
            <a:solidFill>
              <a:srgbClr val="2F8F4E"/>
            </a:solidFill>
            <a:prstDash val="solid"/>
          </a:ln>
          <a:effectLst>
            <a:outerShdw blurRad="76200" dist="25400" dir="5400000" algn="bl" rotWithShape="0">
              <a:srgbClr val="9AA7AF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22960" y="28346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NEL SISTEMA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29184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Rinnovabile non sprecata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384048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Energia comprata dalla rete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22960" y="43891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Energia dalla fuel cell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493776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Scarica della batteria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752948" y="3771900"/>
            <a:ext cx="685800" cy="685800"/>
          </a:xfrm>
          <a:prstGeom prst="ellipse">
            <a:avLst/>
          </a:prstGeom>
          <a:solidFill>
            <a:srgbClr val="0B3D5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5752948" y="37719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7071055" y="2606040"/>
            <a:ext cx="4572000" cy="3017520"/>
          </a:xfrm>
          <a:prstGeom prst="roundRect">
            <a:avLst>
              <a:gd name="adj" fmla="val 2424"/>
            </a:avLst>
          </a:prstGeom>
          <a:solidFill>
            <a:srgbClr val="FDEEEC"/>
          </a:solidFill>
          <a:ln w="12700">
            <a:solidFill>
              <a:srgbClr val="C0433A"/>
            </a:solidFill>
            <a:prstDash val="solid"/>
          </a:ln>
          <a:effectLst>
            <a:outerShdw blurRad="76200" dist="25400" dir="5400000" algn="bl" rotWithShape="0">
              <a:srgbClr val="9AA7AF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7345375" y="28346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C04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 DAL SISTEMA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345375" y="329184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Carico dell'edificio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345375" y="384048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Energia venduta alla rete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345375" y="43891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Energia all'elettrolizzatore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345375" y="493776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Carica della batteria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Batteria e idrogeno: la stessa logica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318608" cy="4160520"/>
          </a:xfrm>
          <a:prstGeom prst="roundRect">
            <a:avLst>
              <a:gd name="adj" fmla="val 1758"/>
            </a:avLst>
          </a:prstGeom>
          <a:solidFill>
            <a:srgbClr val="F1F5F8"/>
          </a:solidFill>
          <a:ln w="12700">
            <a:solidFill>
              <a:srgbClr val="DCE6EC"/>
            </a:solidFill>
            <a:prstDash val="solid"/>
          </a:ln>
          <a:effectLst>
            <a:outerShdw blurRad="76200" dist="25400" dir="5400000" algn="bl" rotWithShape="0">
              <a:srgbClr val="9AA7AF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5318608" cy="128016"/>
          </a:xfrm>
          <a:prstGeom prst="roundRect">
            <a:avLst/>
          </a:prstGeom>
          <a:solidFill>
            <a:srgbClr val="8A5CB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00" dirty="0">
                <a:solidFill>
                  <a:srgbClr val="8A5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BATTERIA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651760"/>
            <a:ext cx="14985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MW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3136392"/>
            <a:ext cx="14985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potenza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412949" y="2651760"/>
            <a:ext cx="14985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MWh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412949" y="3136392"/>
            <a:ext cx="14985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capacità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002938" y="2651760"/>
            <a:ext cx="14985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002938" y="3136392"/>
            <a:ext cx="14985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rendimento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3703320"/>
            <a:ext cx="476996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livello di carica di ogni ora dipende da quello dell'ora prima. Caricare fa perdere un po' di energia; scaricare ne richiede un po' di più di quella che esce davvero: sono le normali perdite di ogni batteria reale.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24448" y="1874520"/>
            <a:ext cx="5318608" cy="4160520"/>
          </a:xfrm>
          <a:prstGeom prst="roundRect">
            <a:avLst>
              <a:gd name="adj" fmla="val 1758"/>
            </a:avLst>
          </a:prstGeom>
          <a:solidFill>
            <a:srgbClr val="F1F5F8"/>
          </a:solidFill>
          <a:ln w="12700">
            <a:solidFill>
              <a:srgbClr val="DCE6EC"/>
            </a:solidFill>
            <a:prstDash val="solid"/>
          </a:ln>
          <a:effectLst>
            <a:outerShdw blurRad="76200" dist="25400" dir="5400000" algn="bl" rotWithShape="0">
              <a:srgbClr val="9AA7AF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5" name="Shape 13"/>
          <p:cNvSpPr/>
          <p:nvPr/>
        </p:nvSpPr>
        <p:spPr>
          <a:xfrm>
            <a:off x="6324448" y="1874520"/>
            <a:ext cx="5318608" cy="128016"/>
          </a:xfrm>
          <a:prstGeom prst="roundRect">
            <a:avLst/>
          </a:prstGeom>
          <a:solidFill>
            <a:srgbClr val="C0433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6598768" y="219456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00" dirty="0">
                <a:solidFill>
                  <a:srgbClr val="C04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A IDROGENO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598768" y="2651760"/>
            <a:ext cx="14985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MWh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598768" y="3136392"/>
            <a:ext cx="14985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capacità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188757" y="2651760"/>
            <a:ext cx="14985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MW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188757" y="3136392"/>
            <a:ext cx="14985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elettr. / fuel cell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778746" y="2651760"/>
            <a:ext cx="14985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73% / 65%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778746" y="3136392"/>
            <a:ext cx="14985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rendimento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598768" y="3703320"/>
            <a:ext cx="476996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Stessa idea della batteria: produrre idrogeno (elettrolizzatore) lo riempie, consumarlo (fuel cell) lo svuota. I due non possono funzionare nella stessa ora.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D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funzione obiettivo: cosa vogliamo minimizzare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082B40"/>
          </a:solidFill>
          <a:ln w="12700">
            <a:solidFill>
              <a:srgbClr val="082B4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B9C9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Costo totale  =  </a:t>
            </a:r>
            <a:r>
              <a:rPr lang="en-US" sz="2100" b="1" dirty="0">
                <a:solidFill>
                  <a:srgbClr val="FFB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spesa per comprare</a:t>
            </a:r>
            <a:r>
              <a:rPr lang="en-US" sz="2100" dirty="0">
                <a:solidFill>
                  <a:srgbClr val="B9C9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−  </a:t>
            </a:r>
            <a:r>
              <a:rPr lang="en-US" sz="21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ricavo dal vendere</a:t>
            </a:r>
            <a:r>
              <a:rPr lang="en-US" sz="2100" dirty="0">
                <a:solidFill>
                  <a:srgbClr val="B9C9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+  </a:t>
            </a:r>
            <a:r>
              <a:rPr lang="en-US" sz="2100" b="1" dirty="0">
                <a:solidFill>
                  <a:srgbClr val="F08A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penalità per lo spreco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3931920"/>
            <a:ext cx="11094415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2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penalità per lo spreco (curtailment) non è un costo di mercato reale: è un numero scelto per orientare il modello.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2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Nello script principale vale 1000 EUR/MWh, molto più dei prezzi normali (circa 500 EUR/MWh): il modello preferisce quasi sempre caricare la batteria, fare idrogeno o vendere in rete piuttosto che sprecare energia.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2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una variante di prova (es.py) questo valore è stato abbassato a 0.01 EUR/MWh, quasi zero, per vedere cosa succede se il freno economico allo spreco viene tolto.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ciclo di simulazione, ora per ora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72288" y="237744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582016" y="24505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B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09448" y="278892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 i dati della finestra</a:t>
            </a:r>
            <a:endParaRPr lang="en-US" sz="11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(previsione + valore vero dell'ora corrente)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392528" y="28346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804008" y="237744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0B3D59"/>
          </a:solidFill>
          <a:ln w="12700">
            <a:solidFill>
              <a:srgbClr val="0B3D5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2913736" y="24505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B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941168" y="278892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Risolve il modello MILP</a:t>
            </a:r>
            <a:endParaRPr lang="en-US" sz="11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sulle prossime 24 ore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724248" y="28346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135728" y="237744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5245456" y="24505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B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72888" y="278892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 solo</a:t>
            </a:r>
            <a:endParaRPr lang="en-US" sz="11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1ª decisione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055968" y="28346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467448" y="237744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0B3D59"/>
          </a:solidFill>
          <a:ln w="12700">
            <a:solidFill>
              <a:srgbClr val="0B3D5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7577176" y="24505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B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604608" y="278892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Aggiorna lo stato reale</a:t>
            </a:r>
            <a:endParaRPr lang="en-US" sz="11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(batteria e idrogeno)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387688" y="28346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9799168" y="237744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9908896" y="24505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B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936328" y="278892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Calcola il costo</a:t>
            </a:r>
            <a:endParaRPr lang="en-US" sz="11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i dati veri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432408" y="4069080"/>
            <a:ext cx="9326880" cy="914"/>
          </a:xfrm>
          <a:prstGeom prst="line">
            <a:avLst/>
          </a:prstGeom>
          <a:noFill/>
          <a:ln w="28575">
            <a:solidFill>
              <a:srgbClr val="FFB100"/>
            </a:solidFill>
            <a:prstDash val="solid"/>
            <a:headEnd type="triangle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472288" y="42519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ripete per ogni ora simulata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72288" y="528523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codice questo ciclo è la funzione run_mpc_simulation, che chiama solve_mpc_step ad ogni ora.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è organizzato lo script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743200" cy="4023360"/>
          </a:xfrm>
          <a:prstGeom prst="roundRect">
            <a:avLst>
              <a:gd name="adj" fmla="val 2667"/>
            </a:avLst>
          </a:prstGeom>
          <a:solidFill>
            <a:srgbClr val="0B3D59"/>
          </a:solidFill>
          <a:ln w="12700">
            <a:solidFill>
              <a:srgbClr val="0B3D5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777240" y="20574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B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main()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514600"/>
            <a:ext cx="2286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2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Mette in fila tutti i passi: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2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argomenti → dati → solver →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2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simulazione → CSV e grafico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931920" y="1874520"/>
            <a:ext cx="7711135" cy="713232"/>
          </a:xfrm>
          <a:prstGeom prst="roundRect">
            <a:avLst>
              <a:gd name="adj" fmla="val 10256"/>
            </a:avLst>
          </a:prstGeom>
          <a:solidFill>
            <a:srgbClr val="F1F5F8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4160520" y="1947672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D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load_project_data()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955280" y="1947672"/>
            <a:ext cx="34591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legge i file .mat e prepara i dati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931920" y="2706624"/>
            <a:ext cx="7711135" cy="713232"/>
          </a:xfrm>
          <a:prstGeom prst="roundRect">
            <a:avLst>
              <a:gd name="adj" fmla="val 10256"/>
            </a:avLst>
          </a:prstGeom>
          <a:solidFill>
            <a:srgbClr val="F1F5F8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4160520" y="2779776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D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select_solver()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955280" y="2779776"/>
            <a:ext cx="34591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trova un solver Pyomo disponibile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931920" y="3538728"/>
            <a:ext cx="7711135" cy="713232"/>
          </a:xfrm>
          <a:prstGeom prst="roundRect">
            <a:avLst>
              <a:gd name="adj" fmla="val 10256"/>
            </a:avLst>
          </a:prstGeom>
          <a:solidFill>
            <a:srgbClr val="F1F5F8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4160520" y="361188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D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run_mpc_simulation()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955280" y="3611880"/>
            <a:ext cx="34591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ripete il ciclo ora per ora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931920" y="4370832"/>
            <a:ext cx="7711135" cy="713232"/>
          </a:xfrm>
          <a:prstGeom prst="roundRect">
            <a:avLst>
              <a:gd name="adj" fmla="val 10256"/>
            </a:avLst>
          </a:prstGeom>
          <a:solidFill>
            <a:srgbClr val="F1F5F8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4160520" y="444398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D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solve_mpc_step()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955280" y="4443984"/>
            <a:ext cx="34591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costruisce e risolve il modello MILP di una finestra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931920" y="5202936"/>
            <a:ext cx="7711135" cy="713232"/>
          </a:xfrm>
          <a:prstGeom prst="roundRect">
            <a:avLst>
              <a:gd name="adj" fmla="val 10256"/>
            </a:avLst>
          </a:prstGeom>
          <a:solidFill>
            <a:srgbClr val="F1F5F8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4160520" y="527608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D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save_results_csv() / create_plots()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955280" y="5276088"/>
            <a:ext cx="34591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salvano la tabella oraria e il grafico riassuntivo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Gli esperimenti condotti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capire come si comporta il sistema, la simulazione sull'intero anno (6529 ore) è stata ripetuta in 4 scenari, ognuno risolto sia con Gurobi che con HiGHS: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2533574" cy="2834640"/>
          </a:xfrm>
          <a:prstGeom prst="roundRect">
            <a:avLst>
              <a:gd name="adj" fmla="val 2887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Shape 4"/>
          <p:cNvSpPr/>
          <p:nvPr/>
        </p:nvSpPr>
        <p:spPr>
          <a:xfrm>
            <a:off x="1472527" y="2948940"/>
            <a:ext cx="685800" cy="685800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1472527" y="29489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3840480"/>
            <a:ext cx="2167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31520" y="4343400"/>
            <a:ext cx="21678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/ SoH iniziali a metà (0.50 / 0.50)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02254" y="2697480"/>
            <a:ext cx="2533574" cy="2834640"/>
          </a:xfrm>
          <a:prstGeom prst="roundRect">
            <a:avLst>
              <a:gd name="adj" fmla="val 2887"/>
            </a:avLst>
          </a:prstGeom>
          <a:solidFill>
            <a:srgbClr val="0B3D59"/>
          </a:solidFill>
          <a:ln w="12700">
            <a:solidFill>
              <a:srgbClr val="0B3D5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Shape 9"/>
          <p:cNvSpPr/>
          <p:nvPr/>
        </p:nvSpPr>
        <p:spPr>
          <a:xfrm>
            <a:off x="4326141" y="2948940"/>
            <a:ext cx="685800" cy="685800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4326141" y="29489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585134" y="3840480"/>
            <a:ext cx="2167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Accumuli vuoti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585134" y="4343400"/>
            <a:ext cx="21678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/ SoH iniziali al minimo (0.10 / 0.00)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55868" y="2697480"/>
            <a:ext cx="2533574" cy="2834640"/>
          </a:xfrm>
          <a:prstGeom prst="roundRect">
            <a:avLst>
              <a:gd name="adj" fmla="val 2887"/>
            </a:avLst>
          </a:prstGeom>
          <a:solidFill>
            <a:srgbClr val="8A5CBF"/>
          </a:solidFill>
          <a:ln w="12700">
            <a:solidFill>
              <a:srgbClr val="8A5CB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7179755" y="2948940"/>
            <a:ext cx="685800" cy="685800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7179755" y="29489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438748" y="3840480"/>
            <a:ext cx="2167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Accumuli pieni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438748" y="4343400"/>
            <a:ext cx="21678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/ SoH iniziali al massimo (0.90 / 1.00)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109481" y="2697480"/>
            <a:ext cx="2533574" cy="2834640"/>
          </a:xfrm>
          <a:prstGeom prst="roundRect">
            <a:avLst>
              <a:gd name="adj" fmla="val 2887"/>
            </a:avLst>
          </a:prstGeom>
          <a:solidFill>
            <a:srgbClr val="C0433A"/>
          </a:solidFill>
          <a:ln w="12700">
            <a:solidFill>
              <a:srgbClr val="C0433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Shape 19"/>
          <p:cNvSpPr/>
          <p:nvPr/>
        </p:nvSpPr>
        <p:spPr>
          <a:xfrm>
            <a:off x="10033368" y="2948940"/>
            <a:ext cx="685800" cy="685800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10033368" y="29489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292361" y="3840480"/>
            <a:ext cx="2167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Penalità bassa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9292361" y="4343400"/>
            <a:ext cx="21678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C, ma penalità curtailment quasi nulla (0.01)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216152" y="5833872"/>
            <a:ext cx="310896" cy="31089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1216152" y="5833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691640" y="5806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Gurobi (solver commerciale)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05272" y="5833872"/>
            <a:ext cx="310896" cy="310896"/>
          </a:xfrm>
          <a:prstGeom prst="ellipse">
            <a:avLst/>
          </a:prstGeom>
          <a:solidFill>
            <a:srgbClr val="0B3D5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9" name="Text 27"/>
          <p:cNvSpPr/>
          <p:nvPr/>
        </p:nvSpPr>
        <p:spPr>
          <a:xfrm>
            <a:off x="5605272" y="5833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080760" y="5806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HiGHS (solver open-source)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BE5A7C-2CD5-E406-0CEA-F62D6F894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DBF3E3D-3553-55FF-F6E0-577EF8C0CB01}"/>
              </a:ext>
            </a:extLst>
          </p:cNvPr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3000" b="1" dirty="0">
                <a:solidFill>
                  <a:srgbClr val="0B3D59"/>
                </a:solidFill>
                <a:latin typeface="Cambria" pitchFamily="34" charset="0"/>
              </a:rPr>
              <a:t>Produzione rinnovabile e carico</a:t>
            </a:r>
          </a:p>
          <a:p>
            <a:pPr marL="0" indent="0">
              <a:buNone/>
            </a:pPr>
            <a:endParaRPr lang="en-US" sz="3000" dirty="0"/>
          </a:p>
        </p:txBody>
      </p:sp>
      <p:pic>
        <p:nvPicPr>
          <p:cNvPr id="34" name="Immagine 33">
            <a:extLst>
              <a:ext uri="{FF2B5EF4-FFF2-40B4-BE49-F238E27FC236}">
                <a16:creationId xmlns:a16="http://schemas.microsoft.com/office/drawing/2014/main" id="{2CD08551-3A64-B948-9987-7887FCC655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01852"/>
            <a:ext cx="11461345" cy="4525191"/>
          </a:xfrm>
          <a:prstGeom prst="rect">
            <a:avLst/>
          </a:prstGeom>
        </p:spPr>
      </p:pic>
      <p:graphicFrame>
        <p:nvGraphicFramePr>
          <p:cNvPr id="38" name="Tabella 37">
            <a:extLst>
              <a:ext uri="{FF2B5EF4-FFF2-40B4-BE49-F238E27FC236}">
                <a16:creationId xmlns:a16="http://schemas.microsoft.com/office/drawing/2014/main" id="{F2954521-BB21-89D1-F83F-F11FEB003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2470627"/>
              </p:ext>
            </p:extLst>
          </p:nvPr>
        </p:nvGraphicFramePr>
        <p:xfrm>
          <a:off x="599912" y="5521833"/>
          <a:ext cx="5130760" cy="115830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5380">
                  <a:extLst>
                    <a:ext uri="{9D8B030D-6E8A-4147-A177-3AD203B41FA5}">
                      <a16:colId xmlns:a16="http://schemas.microsoft.com/office/drawing/2014/main" val="89691916"/>
                    </a:ext>
                  </a:extLst>
                </a:gridCol>
                <a:gridCol w="2565380">
                  <a:extLst>
                    <a:ext uri="{9D8B030D-6E8A-4147-A177-3AD203B41FA5}">
                      <a16:colId xmlns:a16="http://schemas.microsoft.com/office/drawing/2014/main" val="1428581068"/>
                    </a:ext>
                  </a:extLst>
                </a:gridCol>
              </a:tblGrid>
              <a:tr h="377257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975">
                          <a:effectLst/>
                        </a:rPr>
                        <a:t>Nera – Carico</a:t>
                      </a:r>
                      <a:endParaRPr lang="it-IT" sz="975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47625" marR="47625" marT="9525" marB="9525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900" dirty="0" err="1">
                          <a:effectLst/>
                        </a:rPr>
                        <a:t>P_ul</a:t>
                      </a:r>
                      <a:r>
                        <a:rPr lang="it-IT" sz="975" dirty="0">
                          <a:effectLst/>
                        </a:rPr>
                        <a:t>, la domanda dell'edificio, non controllabile: va sempre soddisfatta (obiettivo b).</a:t>
                      </a:r>
                      <a:endParaRPr lang="it-IT" sz="975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47625" marR="47625" marT="9525" marB="9525"/>
                </a:tc>
                <a:extLst>
                  <a:ext uri="{0D108BD9-81ED-4DB2-BD59-A6C34878D82A}">
                    <a16:rowId xmlns:a16="http://schemas.microsoft.com/office/drawing/2014/main" val="1911797583"/>
                  </a:ext>
                </a:extLst>
              </a:tr>
              <a:tr h="199992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975">
                          <a:effectLst/>
                        </a:rPr>
                        <a:t>Verde – Rinnovabili</a:t>
                      </a:r>
                      <a:endParaRPr lang="it-IT" sz="975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47625" marR="47625" marT="9525" marB="9525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900" dirty="0" err="1">
                          <a:effectLst/>
                        </a:rPr>
                        <a:t>P_pv</a:t>
                      </a:r>
                      <a:r>
                        <a:rPr lang="it-IT" sz="900" dirty="0">
                          <a:effectLst/>
                        </a:rPr>
                        <a:t> + </a:t>
                      </a:r>
                      <a:r>
                        <a:rPr lang="it-IT" sz="900" dirty="0" err="1">
                          <a:effectLst/>
                        </a:rPr>
                        <a:t>P_w</a:t>
                      </a:r>
                      <a:r>
                        <a:rPr lang="it-IT" sz="975" dirty="0">
                          <a:effectLst/>
                        </a:rPr>
                        <a:t> effettivamente usata (PV 4 MW + eolico 8 MW). Molto variabile, spesso sotto il carico.</a:t>
                      </a:r>
                      <a:endParaRPr lang="it-IT" sz="975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47625" marR="47625" marT="9525" marB="9525"/>
                </a:tc>
                <a:extLst>
                  <a:ext uri="{0D108BD9-81ED-4DB2-BD59-A6C34878D82A}">
                    <a16:rowId xmlns:a16="http://schemas.microsoft.com/office/drawing/2014/main" val="217594940"/>
                  </a:ext>
                </a:extLst>
              </a:tr>
              <a:tr h="199992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975">
                          <a:effectLst/>
                        </a:rPr>
                        <a:t>Arancione – Curtailment</a:t>
                      </a:r>
                      <a:endParaRPr lang="it-IT" sz="975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47625" marR="47625" marT="9525" marB="9525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975" dirty="0">
                          <a:effectLst/>
                        </a:rPr>
                        <a:t>Energia rinnovabile sprecata </a:t>
                      </a:r>
                      <a:r>
                        <a:rPr lang="it-IT" sz="900" dirty="0" err="1">
                          <a:effectLst/>
                        </a:rPr>
                        <a:t>P_c</a:t>
                      </a:r>
                      <a:r>
                        <a:rPr lang="it-IT" sz="975" dirty="0">
                          <a:effectLst/>
                        </a:rPr>
                        <a:t>. Resta a zero: il sistema non butta mai via rinnovabile.</a:t>
                      </a:r>
                      <a:endParaRPr lang="it-IT" sz="975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47625" marR="47625" marT="9525" marB="9525"/>
                </a:tc>
                <a:extLst>
                  <a:ext uri="{0D108BD9-81ED-4DB2-BD59-A6C34878D82A}">
                    <a16:rowId xmlns:a16="http://schemas.microsoft.com/office/drawing/2014/main" val="33690890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556577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936D8E-5284-8BCF-08BC-7EDEC8898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761DDFE-071F-4200-B0AA-394476C2D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10DC74F9-DA00-539A-83DC-F6E637C964F3}"/>
              </a:ext>
            </a:extLst>
          </p:cNvPr>
          <p:cNvSpPr txBox="1"/>
          <p:nvPr/>
        </p:nvSpPr>
        <p:spPr>
          <a:xfrm>
            <a:off x="6186619" y="547815"/>
            <a:ext cx="5178960" cy="16805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R="0">
              <a:lnSpc>
                <a:spcPct val="90000"/>
              </a:lnSpc>
              <a:spcAft>
                <a:spcPts val="600"/>
              </a:spcAft>
            </a:pPr>
            <a:endParaRPr lang="en-US" sz="1100" dirty="0">
              <a:effectLst/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C972465A-90A0-01F6-5FC7-5C912410B8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8" y="1420586"/>
            <a:ext cx="9816281" cy="3877429"/>
          </a:xfrm>
          <a:prstGeom prst="rect">
            <a:avLst/>
          </a:prstGeom>
        </p:spPr>
      </p:pic>
      <p:graphicFrame>
        <p:nvGraphicFramePr>
          <p:cNvPr id="5" name="Tabella 4">
            <a:extLst>
              <a:ext uri="{FF2B5EF4-FFF2-40B4-BE49-F238E27FC236}">
                <a16:creationId xmlns:a16="http://schemas.microsoft.com/office/drawing/2014/main" id="{0EEEDF22-33D0-FDBC-F18B-5E621DBC35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6166893"/>
              </p:ext>
            </p:extLst>
          </p:nvPr>
        </p:nvGraphicFramePr>
        <p:xfrm>
          <a:off x="6590280" y="4902633"/>
          <a:ext cx="5167187" cy="18780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7391">
                  <a:extLst>
                    <a:ext uri="{9D8B030D-6E8A-4147-A177-3AD203B41FA5}">
                      <a16:colId xmlns:a16="http://schemas.microsoft.com/office/drawing/2014/main" val="3968080165"/>
                    </a:ext>
                  </a:extLst>
                </a:gridCol>
                <a:gridCol w="1806411">
                  <a:extLst>
                    <a:ext uri="{9D8B030D-6E8A-4147-A177-3AD203B41FA5}">
                      <a16:colId xmlns:a16="http://schemas.microsoft.com/office/drawing/2014/main" val="1014864147"/>
                    </a:ext>
                  </a:extLst>
                </a:gridCol>
                <a:gridCol w="2213385">
                  <a:extLst>
                    <a:ext uri="{9D8B030D-6E8A-4147-A177-3AD203B41FA5}">
                      <a16:colId xmlns:a16="http://schemas.microsoft.com/office/drawing/2014/main" val="2412458428"/>
                    </a:ext>
                  </a:extLst>
                </a:gridCol>
              </a:tblGrid>
              <a:tr h="303011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t-IT" sz="1500">
                          <a:effectLst/>
                        </a:rPr>
                        <a:t>Linea</a:t>
                      </a:r>
                      <a:endParaRPr lang="it-IT" sz="150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69371" marR="69371" marT="13874" marB="13874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t-IT" sz="1500">
                          <a:effectLst/>
                        </a:rPr>
                        <a:t>Sopra lo zero (+)</a:t>
                      </a:r>
                      <a:endParaRPr lang="it-IT" sz="150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69371" marR="69371" marT="13874" marB="13874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t-IT" sz="1500">
                          <a:effectLst/>
                        </a:rPr>
                        <a:t>Sotto lo zero (−)</a:t>
                      </a:r>
                      <a:endParaRPr lang="it-IT" sz="150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69371" marR="69371" marT="13874" marB="13874"/>
                </a:tc>
                <a:extLst>
                  <a:ext uri="{0D108BD9-81ED-4DB2-BD59-A6C34878D82A}">
                    <a16:rowId xmlns:a16="http://schemas.microsoft.com/office/drawing/2014/main" val="1525570769"/>
                  </a:ext>
                </a:extLst>
              </a:tr>
              <a:tr h="524997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500">
                          <a:effectLst/>
                        </a:rPr>
                        <a:t>Blu – Rete</a:t>
                      </a:r>
                      <a:endParaRPr lang="it-IT" sz="150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69371" marR="69371" marT="13874" marB="13874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500">
                          <a:effectLst/>
                        </a:rPr>
                        <a:t>importazione (max 12 MW)</a:t>
                      </a:r>
                      <a:endParaRPr lang="it-IT" sz="150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69371" marR="69371" marT="13874" marB="13874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500">
                          <a:effectLst/>
                        </a:rPr>
                        <a:t>esportazione (max 10 MW)</a:t>
                      </a:r>
                      <a:endParaRPr lang="it-IT" sz="150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69371" marR="69371" marT="13874" marB="13874"/>
                </a:tc>
                <a:extLst>
                  <a:ext uri="{0D108BD9-81ED-4DB2-BD59-A6C34878D82A}">
                    <a16:rowId xmlns:a16="http://schemas.microsoft.com/office/drawing/2014/main" val="2790393642"/>
                  </a:ext>
                </a:extLst>
              </a:tr>
              <a:tr h="524997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500">
                          <a:effectLst/>
                        </a:rPr>
                        <a:t>Verde – Batteria</a:t>
                      </a:r>
                      <a:endParaRPr lang="it-IT" sz="150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69371" marR="69371" marT="13874" marB="13874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500">
                          <a:effectLst/>
                        </a:rPr>
                        <a:t>scarica</a:t>
                      </a:r>
                      <a:endParaRPr lang="it-IT" sz="150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69371" marR="69371" marT="13874" marB="13874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500">
                          <a:effectLst/>
                        </a:rPr>
                        <a:t>carica</a:t>
                      </a:r>
                      <a:endParaRPr lang="it-IT" sz="150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69371" marR="69371" marT="13874" marB="13874"/>
                </a:tc>
                <a:extLst>
                  <a:ext uri="{0D108BD9-81ED-4DB2-BD59-A6C34878D82A}">
                    <a16:rowId xmlns:a16="http://schemas.microsoft.com/office/drawing/2014/main" val="4290456352"/>
                  </a:ext>
                </a:extLst>
              </a:tr>
              <a:tr h="524997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500">
                          <a:effectLst/>
                        </a:rPr>
                        <a:t>Rossa – Idrogeno</a:t>
                      </a:r>
                      <a:endParaRPr lang="it-IT" sz="150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69371" marR="69371" marT="13874" marB="13874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500">
                          <a:effectLst/>
                        </a:rPr>
                        <a:t>fuel cell (H₂ → energia)</a:t>
                      </a:r>
                      <a:endParaRPr lang="it-IT" sz="150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69371" marR="69371" marT="13874" marB="13874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500" dirty="0">
                          <a:effectLst/>
                        </a:rPr>
                        <a:t>elettrolizzatore (energia → H₂)</a:t>
                      </a:r>
                      <a:endParaRPr lang="it-IT" sz="1500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69371" marR="69371" marT="13874" marB="13874"/>
                </a:tc>
                <a:extLst>
                  <a:ext uri="{0D108BD9-81ED-4DB2-BD59-A6C34878D82A}">
                    <a16:rowId xmlns:a16="http://schemas.microsoft.com/office/drawing/2014/main" val="2814135183"/>
                  </a:ext>
                </a:extLst>
              </a:tr>
            </a:tbl>
          </a:graphicData>
        </a:graphic>
      </p:graphicFrame>
      <p:sp>
        <p:nvSpPr>
          <p:cNvPr id="8" name="Text 1">
            <a:extLst>
              <a:ext uri="{FF2B5EF4-FFF2-40B4-BE49-F238E27FC236}">
                <a16:creationId xmlns:a16="http://schemas.microsoft.com/office/drawing/2014/main" id="{45B559B5-235F-0F6D-6869-FFF4667BA05F}"/>
              </a:ext>
            </a:extLst>
          </p:cNvPr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3000" b="1" dirty="0">
                <a:solidFill>
                  <a:srgbClr val="0B3D59"/>
                </a:solidFill>
                <a:latin typeface="Cambria" pitchFamily="34" charset="0"/>
              </a:rPr>
              <a:t>Scambi controllati</a:t>
            </a: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13381407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72C9C3-B768-E584-0C9A-CBD053CE8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8761DDFE-071F-4200-B0AA-394476C2D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DD2D55D-857F-F874-7C99-9C8345BBEA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621" y="1186673"/>
            <a:ext cx="9465131" cy="3738725"/>
          </a:xfrm>
          <a:prstGeom prst="rect">
            <a:avLst/>
          </a:prstGeom>
        </p:spPr>
      </p:pic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BB57905C-BD8D-3431-BA17-E7E559FFFE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1448551"/>
              </p:ext>
            </p:extLst>
          </p:nvPr>
        </p:nvGraphicFramePr>
        <p:xfrm>
          <a:off x="7024814" y="4539343"/>
          <a:ext cx="5167186" cy="21969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813">
                  <a:extLst>
                    <a:ext uri="{9D8B030D-6E8A-4147-A177-3AD203B41FA5}">
                      <a16:colId xmlns:a16="http://schemas.microsoft.com/office/drawing/2014/main" val="4019561045"/>
                    </a:ext>
                  </a:extLst>
                </a:gridCol>
                <a:gridCol w="2515373">
                  <a:extLst>
                    <a:ext uri="{9D8B030D-6E8A-4147-A177-3AD203B41FA5}">
                      <a16:colId xmlns:a16="http://schemas.microsoft.com/office/drawing/2014/main" val="2982526595"/>
                    </a:ext>
                  </a:extLst>
                </a:gridCol>
              </a:tblGrid>
              <a:tr h="310374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t-IT" sz="1700">
                          <a:effectLst/>
                        </a:rPr>
                        <a:t>Linea</a:t>
                      </a:r>
                      <a:endParaRPr lang="it-IT" sz="170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80677" marR="80677" marT="16135" marB="16135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t-IT" sz="1700">
                          <a:effectLst/>
                        </a:rPr>
                        <a:t>Significato</a:t>
                      </a:r>
                      <a:endParaRPr lang="it-IT" sz="170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80677" marR="80677" marT="16135" marB="16135"/>
                </a:tc>
                <a:extLst>
                  <a:ext uri="{0D108BD9-81ED-4DB2-BD59-A6C34878D82A}">
                    <a16:rowId xmlns:a16="http://schemas.microsoft.com/office/drawing/2014/main" val="1856801958"/>
                  </a:ext>
                </a:extLst>
              </a:tr>
              <a:tr h="548045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700">
                          <a:effectLst/>
                        </a:rPr>
                        <a:t>Blu – SoC batteria</a:t>
                      </a:r>
                      <a:endParaRPr lang="it-IT" sz="170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80677" marR="80677" marT="16135" marB="16135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700" dirty="0">
                          <a:effectLst/>
                        </a:rPr>
                        <a:t>stato di carica della batteria (1 MWh).</a:t>
                      </a:r>
                      <a:endParaRPr lang="it-IT" sz="1700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80677" marR="80677" marT="16135" marB="16135"/>
                </a:tc>
                <a:extLst>
                  <a:ext uri="{0D108BD9-81ED-4DB2-BD59-A6C34878D82A}">
                    <a16:rowId xmlns:a16="http://schemas.microsoft.com/office/drawing/2014/main" val="3911515982"/>
                  </a:ext>
                </a:extLst>
              </a:tr>
              <a:tr h="548045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700">
                          <a:effectLst/>
                        </a:rPr>
                        <a:t>Arancione – SoH idrogeno</a:t>
                      </a:r>
                      <a:endParaRPr lang="it-IT" sz="170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80677" marR="80677" marT="16135" marB="16135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700" dirty="0">
                          <a:effectLst/>
                        </a:rPr>
                        <a:t>livello del serbatoio H₂ (20 MWh).</a:t>
                      </a:r>
                      <a:endParaRPr lang="it-IT" sz="1700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80677" marR="80677" marT="16135" marB="16135"/>
                </a:tc>
                <a:extLst>
                  <a:ext uri="{0D108BD9-81ED-4DB2-BD59-A6C34878D82A}">
                    <a16:rowId xmlns:a16="http://schemas.microsoft.com/office/drawing/2014/main" val="3453264343"/>
                  </a:ext>
                </a:extLst>
              </a:tr>
              <a:tr h="785714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700">
                          <a:effectLst/>
                        </a:rPr>
                        <a:t>Linee tratteggiate/punteggiate</a:t>
                      </a:r>
                      <a:endParaRPr lang="it-IT" sz="170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80677" marR="80677" marT="16135" marB="16135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700" dirty="0">
                          <a:effectLst/>
                        </a:rPr>
                        <a:t>limiti 10% e 90% imposti alla batteria (obiettivo c).</a:t>
                      </a:r>
                      <a:endParaRPr lang="it-IT" sz="1700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80677" marR="80677" marT="16135" marB="16135"/>
                </a:tc>
                <a:extLst>
                  <a:ext uri="{0D108BD9-81ED-4DB2-BD59-A6C34878D82A}">
                    <a16:rowId xmlns:a16="http://schemas.microsoft.com/office/drawing/2014/main" val="989072711"/>
                  </a:ext>
                </a:extLst>
              </a:tr>
            </a:tbl>
          </a:graphicData>
        </a:graphic>
      </p:graphicFrame>
      <p:sp>
        <p:nvSpPr>
          <p:cNvPr id="4" name="CasellaDiTesto 3">
            <a:extLst>
              <a:ext uri="{FF2B5EF4-FFF2-40B4-BE49-F238E27FC236}">
                <a16:creationId xmlns:a16="http://schemas.microsoft.com/office/drawing/2014/main" id="{F049BE2A-C897-A78B-9ED5-AFAF53B5B956}"/>
              </a:ext>
            </a:extLst>
          </p:cNvPr>
          <p:cNvSpPr txBox="1"/>
          <p:nvPr/>
        </p:nvSpPr>
        <p:spPr>
          <a:xfrm>
            <a:off x="434621" y="316338"/>
            <a:ext cx="611505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3000" b="1" dirty="0">
                <a:solidFill>
                  <a:srgbClr val="0B3D59"/>
                </a:solidFill>
                <a:latin typeface="Cambria" pitchFamily="34" charset="0"/>
              </a:rPr>
              <a:t>Livello degli accumuli</a:t>
            </a:r>
          </a:p>
        </p:txBody>
      </p:sp>
    </p:spTree>
    <p:extLst>
      <p:ext uri="{BB962C8B-B14F-4D97-AF65-F5344CB8AC3E}">
        <p14:creationId xmlns:p14="http://schemas.microsoft.com/office/powerpoint/2010/main" val="22537093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costo cambia pochissimo tra scenari e solver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1768641308"/>
              </p:ext>
            </p:extLst>
          </p:nvPr>
        </p:nvGraphicFramePr>
        <p:xfrm>
          <a:off x="548640" y="1828800"/>
          <a:ext cx="786384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9052560" y="1828800"/>
            <a:ext cx="2590495" cy="4206240"/>
          </a:xfrm>
          <a:prstGeom prst="roundRect">
            <a:avLst>
              <a:gd name="adj" fmla="val 2824"/>
            </a:avLst>
          </a:prstGeom>
          <a:solidFill>
            <a:srgbClr val="0B3D59"/>
          </a:solidFill>
          <a:ln w="12700">
            <a:solidFill>
              <a:srgbClr val="0B3D5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9281160" y="2148840"/>
            <a:ext cx="2133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B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MWh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9281160" y="2926080"/>
            <a:ext cx="2133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curtailment in TUTTI e 4 gli scenari, con entrambi i solver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9418320" y="3886200"/>
            <a:ext cx="1858975" cy="914"/>
          </a:xfrm>
          <a:prstGeom prst="line">
            <a:avLst/>
          </a:prstGeom>
          <a:noFill/>
          <a:ln w="12700">
            <a:solidFill>
              <a:srgbClr val="2E597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6"/>
          <p:cNvSpPr/>
          <p:nvPr/>
        </p:nvSpPr>
        <p:spPr>
          <a:xfrm>
            <a:off x="9281160" y="4069080"/>
            <a:ext cx="2133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0,01%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9281160" y="4617720"/>
            <a:ext cx="2133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differenza di costo tra Gurobi e HiGHS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scoperta inattesa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676656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8000"/>
              </a:lnSpc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Nello scenario D la penalità sul curtailment è stata abbassata a quasi zero, aspettandosi più spreco di rinnovabile.</a:t>
            </a:r>
            <a:endParaRPr lang="en-US" sz="1550" dirty="0"/>
          </a:p>
          <a:p>
            <a:pPr marL="342900" indent="-342900">
              <a:lnSpc>
                <a:spcPct val="128000"/>
              </a:lnSpc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Invece il curtailment resta a zero anche in questo scenario, sull'intero anno.</a:t>
            </a:r>
            <a:endParaRPr lang="en-US" sz="1550" dirty="0"/>
          </a:p>
          <a:p>
            <a:pPr marL="342900" indent="-342900">
              <a:lnSpc>
                <a:spcPct val="128000"/>
              </a:lnSpc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motivo: su base annuale batteria, idrogeno ed export in rete offrono sempre abbastanza spazio per assorbire la produzione rinnovabile, anche quando gli accumuli partono già pieni.</a:t>
            </a:r>
            <a:endParaRPr lang="en-US" sz="1550" dirty="0"/>
          </a:p>
          <a:p>
            <a:pPr marL="342900" indent="-342900">
              <a:lnSpc>
                <a:spcPct val="128000"/>
              </a:lnSpc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curtailment si osserva solo in un test sintetico dedicato (ultimo_test.py), costruito apposta con accumuli pieni e produzione rinnovabile molto più alta del carico.</a:t>
            </a:r>
            <a:endParaRPr lang="en-US" sz="15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3D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931920"/>
            <a:ext cx="4572000" cy="4572000"/>
          </a:xfrm>
          <a:prstGeom prst="ellipse">
            <a:avLst/>
          </a:prstGeom>
          <a:solidFill>
            <a:srgbClr val="082B4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548640" y="274320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Grazie per l'attenzione</a:t>
            </a:r>
            <a:endParaRPr lang="en-US" sz="3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827</TotalTime>
  <Words>1545</Words>
  <Application>Microsoft Macintosh PowerPoint</Application>
  <PresentationFormat>Widescreen</PresentationFormat>
  <Paragraphs>225</Paragraphs>
  <Slides>20</Slides>
  <Notes>20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20</vt:i4>
      </vt:variant>
    </vt:vector>
  </HeadingPairs>
  <TitlesOfParts>
    <vt:vector size="27" baseType="lpstr">
      <vt:lpstr>Arial</vt:lpstr>
      <vt:lpstr>Calibri</vt:lpstr>
      <vt:lpstr>Calibri Light</vt:lpstr>
      <vt:lpstr>Cambria</vt:lpstr>
      <vt:lpstr>Courier New</vt:lpstr>
      <vt:lpstr>Helvetica Neue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claudia lara cordova</cp:lastModifiedBy>
  <cp:revision>10</cp:revision>
  <dcterms:created xsi:type="dcterms:W3CDTF">2026-08-03T13:40:22Z</dcterms:created>
  <dcterms:modified xsi:type="dcterms:W3CDTF">2026-09-07T16:34:09Z</dcterms:modified>
</cp:coreProperties>
</file>